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8"/>
  </p:notesMasterIdLst>
  <p:sldIdLst>
    <p:sldId id="256" r:id="rId2"/>
    <p:sldId id="267" r:id="rId3"/>
    <p:sldId id="268" r:id="rId4"/>
    <p:sldId id="269" r:id="rId5"/>
    <p:sldId id="270" r:id="rId6"/>
    <p:sldId id="271" r:id="rId7"/>
    <p:sldId id="272" r:id="rId8"/>
    <p:sldId id="257" r:id="rId9"/>
    <p:sldId id="370" r:id="rId10"/>
    <p:sldId id="371" r:id="rId11"/>
    <p:sldId id="372" r:id="rId12"/>
    <p:sldId id="373" r:id="rId13"/>
    <p:sldId id="374" r:id="rId14"/>
    <p:sldId id="375" r:id="rId15"/>
    <p:sldId id="376" r:id="rId16"/>
    <p:sldId id="377" r:id="rId17"/>
    <p:sldId id="378" r:id="rId18"/>
    <p:sldId id="379" r:id="rId19"/>
    <p:sldId id="380" r:id="rId20"/>
    <p:sldId id="381" r:id="rId21"/>
    <p:sldId id="382" r:id="rId22"/>
    <p:sldId id="383" r:id="rId23"/>
    <p:sldId id="384" r:id="rId24"/>
    <p:sldId id="385" r:id="rId25"/>
    <p:sldId id="387" r:id="rId26"/>
    <p:sldId id="392" r:id="rId27"/>
    <p:sldId id="395" r:id="rId28"/>
    <p:sldId id="396" r:id="rId29"/>
    <p:sldId id="397" r:id="rId30"/>
    <p:sldId id="398" r:id="rId31"/>
    <p:sldId id="399" r:id="rId32"/>
    <p:sldId id="400" r:id="rId33"/>
    <p:sldId id="401" r:id="rId34"/>
    <p:sldId id="388" r:id="rId35"/>
    <p:sldId id="389" r:id="rId36"/>
    <p:sldId id="394" r:id="rId37"/>
    <p:sldId id="393" r:id="rId38"/>
    <p:sldId id="402" r:id="rId39"/>
    <p:sldId id="390" r:id="rId40"/>
    <p:sldId id="391" r:id="rId41"/>
    <p:sldId id="403" r:id="rId42"/>
    <p:sldId id="404" r:id="rId43"/>
    <p:sldId id="405" r:id="rId44"/>
    <p:sldId id="406" r:id="rId45"/>
    <p:sldId id="407" r:id="rId46"/>
    <p:sldId id="408" r:id="rId47"/>
    <p:sldId id="409" r:id="rId48"/>
    <p:sldId id="411" r:id="rId49"/>
    <p:sldId id="410" r:id="rId50"/>
    <p:sldId id="412" r:id="rId51"/>
    <p:sldId id="413" r:id="rId52"/>
    <p:sldId id="414" r:id="rId53"/>
    <p:sldId id="435" r:id="rId54"/>
    <p:sldId id="436" r:id="rId55"/>
    <p:sldId id="437" r:id="rId56"/>
    <p:sldId id="438" r:id="rId57"/>
    <p:sldId id="439" r:id="rId58"/>
    <p:sldId id="440" r:id="rId59"/>
    <p:sldId id="441" r:id="rId60"/>
    <p:sldId id="442" r:id="rId61"/>
    <p:sldId id="443" r:id="rId62"/>
    <p:sldId id="444" r:id="rId63"/>
    <p:sldId id="445" r:id="rId64"/>
    <p:sldId id="446" r:id="rId65"/>
    <p:sldId id="447" r:id="rId66"/>
    <p:sldId id="448" r:id="rId67"/>
    <p:sldId id="449" r:id="rId68"/>
    <p:sldId id="450" r:id="rId69"/>
    <p:sldId id="451" r:id="rId70"/>
    <p:sldId id="452" r:id="rId71"/>
    <p:sldId id="453" r:id="rId72"/>
    <p:sldId id="415" r:id="rId73"/>
    <p:sldId id="416" r:id="rId74"/>
    <p:sldId id="417" r:id="rId75"/>
    <p:sldId id="419" r:id="rId76"/>
    <p:sldId id="418" r:id="rId77"/>
    <p:sldId id="420" r:id="rId78"/>
    <p:sldId id="421" r:id="rId79"/>
    <p:sldId id="422" r:id="rId80"/>
    <p:sldId id="423" r:id="rId81"/>
    <p:sldId id="424" r:id="rId82"/>
    <p:sldId id="425" r:id="rId83"/>
    <p:sldId id="426" r:id="rId84"/>
    <p:sldId id="427" r:id="rId85"/>
    <p:sldId id="428" r:id="rId86"/>
    <p:sldId id="430" r:id="rId87"/>
    <p:sldId id="429" r:id="rId88"/>
    <p:sldId id="431" r:id="rId89"/>
    <p:sldId id="433" r:id="rId90"/>
    <p:sldId id="432" r:id="rId91"/>
    <p:sldId id="434" r:id="rId92"/>
    <p:sldId id="454" r:id="rId93"/>
    <p:sldId id="455" r:id="rId94"/>
    <p:sldId id="456" r:id="rId95"/>
    <p:sldId id="457" r:id="rId96"/>
    <p:sldId id="369" r:id="rId9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54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28BAF7-B2A2-42C9-A348-E7CE96100864}" type="datetimeFigureOut">
              <a:rPr lang="en-IN" smtClean="0"/>
              <a:t>14-12-2022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BCB11D-0C1C-4E38-9F94-B35AF658567A}" type="slidenum">
              <a:rPr lang="en-IN" smtClean="0"/>
              <a:t>‹#›</a:t>
            </a:fld>
            <a:endParaRPr lang="en-IN"/>
          </a:p>
        </p:txBody>
      </p:sp>
    </p:spTree>
    <p:extLst>
      <p:ext uri="{BB962C8B-B14F-4D97-AF65-F5344CB8AC3E}">
        <p14:creationId xmlns:p14="http://schemas.microsoft.com/office/powerpoint/2010/main" val="1227199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09A772-BAD7-40B0-834D-266FB0FC126A}" type="datetime1">
              <a:rPr lang="en-IN" smtClean="0"/>
              <a:t>14-12-2022</a:t>
            </a:fld>
            <a:endParaRPr lang="en-IN"/>
          </a:p>
        </p:txBody>
      </p:sp>
      <p:sp>
        <p:nvSpPr>
          <p:cNvPr id="5" name="Footer Placeholder 4"/>
          <p:cNvSpPr>
            <a:spLocks noGrp="1"/>
          </p:cNvSpPr>
          <p:nvPr>
            <p:ph type="ftr" sz="quarter" idx="11"/>
          </p:nvPr>
        </p:nvSpPr>
        <p:spPr/>
        <p:txBody>
          <a:bodyPr/>
          <a:lstStyle/>
          <a:p>
            <a:r>
              <a:rPr lang="en-IN"/>
              <a:t>DEPARTMENT OF CSE SNGCE</a:t>
            </a:r>
          </a:p>
        </p:txBody>
      </p:sp>
      <p:sp>
        <p:nvSpPr>
          <p:cNvPr id="6" name="Slide Number Placeholder 5"/>
          <p:cNvSpPr>
            <a:spLocks noGrp="1"/>
          </p:cNvSpPr>
          <p:nvPr>
            <p:ph type="sldNum" sz="quarter" idx="12"/>
          </p:nvPr>
        </p:nvSpPr>
        <p:spPr/>
        <p:txBody>
          <a:bodyPr/>
          <a:lstStyle/>
          <a:p>
            <a:fld id="{1E81A027-E3F7-4FC9-A752-E855AD4A687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2128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323467-0647-4C7A-AB1F-F6B6700FD3BC}" type="datetime1">
              <a:rPr lang="en-IN" smtClean="0"/>
              <a:t>14-12-2022</a:t>
            </a:fld>
            <a:endParaRPr lang="en-IN"/>
          </a:p>
        </p:txBody>
      </p:sp>
      <p:sp>
        <p:nvSpPr>
          <p:cNvPr id="5" name="Footer Placeholder 4"/>
          <p:cNvSpPr>
            <a:spLocks noGrp="1"/>
          </p:cNvSpPr>
          <p:nvPr>
            <p:ph type="ftr" sz="quarter" idx="11"/>
          </p:nvPr>
        </p:nvSpPr>
        <p:spPr/>
        <p:txBody>
          <a:bodyPr/>
          <a:lstStyle/>
          <a:p>
            <a:r>
              <a:rPr lang="en-IN"/>
              <a:t>DEPARTMENT OF CSE SNGCE</a:t>
            </a:r>
          </a:p>
        </p:txBody>
      </p:sp>
      <p:sp>
        <p:nvSpPr>
          <p:cNvPr id="6" name="Slide Number Placeholder 5"/>
          <p:cNvSpPr>
            <a:spLocks noGrp="1"/>
          </p:cNvSpPr>
          <p:nvPr>
            <p:ph type="sldNum" sz="quarter" idx="12"/>
          </p:nvPr>
        </p:nvSpPr>
        <p:spPr/>
        <p:txBody>
          <a:bodyPr/>
          <a:lstStyle/>
          <a:p>
            <a:fld id="{1E81A027-E3F7-4FC9-A752-E855AD4A687D}" type="slidenum">
              <a:rPr lang="en-IN" smtClean="0"/>
              <a:t>‹#›</a:t>
            </a:fld>
            <a:endParaRPr lang="en-IN"/>
          </a:p>
        </p:txBody>
      </p:sp>
    </p:spTree>
    <p:extLst>
      <p:ext uri="{BB962C8B-B14F-4D97-AF65-F5344CB8AC3E}">
        <p14:creationId xmlns:p14="http://schemas.microsoft.com/office/powerpoint/2010/main" val="1465622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491666-EA01-4A8A-A3CB-FE7930B40454}" type="datetime1">
              <a:rPr lang="en-IN" smtClean="0"/>
              <a:t>14-12-2022</a:t>
            </a:fld>
            <a:endParaRPr lang="en-IN"/>
          </a:p>
        </p:txBody>
      </p:sp>
      <p:sp>
        <p:nvSpPr>
          <p:cNvPr id="5" name="Footer Placeholder 4"/>
          <p:cNvSpPr>
            <a:spLocks noGrp="1"/>
          </p:cNvSpPr>
          <p:nvPr>
            <p:ph type="ftr" sz="quarter" idx="11"/>
          </p:nvPr>
        </p:nvSpPr>
        <p:spPr/>
        <p:txBody>
          <a:bodyPr/>
          <a:lstStyle/>
          <a:p>
            <a:r>
              <a:rPr lang="en-IN"/>
              <a:t>DEPARTMENT OF CSE SNGCE</a:t>
            </a:r>
          </a:p>
        </p:txBody>
      </p:sp>
      <p:sp>
        <p:nvSpPr>
          <p:cNvPr id="6" name="Slide Number Placeholder 5"/>
          <p:cNvSpPr>
            <a:spLocks noGrp="1"/>
          </p:cNvSpPr>
          <p:nvPr>
            <p:ph type="sldNum" sz="quarter" idx="12"/>
          </p:nvPr>
        </p:nvSpPr>
        <p:spPr/>
        <p:txBody>
          <a:bodyPr/>
          <a:lstStyle/>
          <a:p>
            <a:fld id="{1E81A027-E3F7-4FC9-A752-E855AD4A687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6293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331B79-014E-4965-A0E2-465A3CD30AA2}" type="datetime1">
              <a:rPr lang="en-IN" smtClean="0"/>
              <a:t>14-12-2022</a:t>
            </a:fld>
            <a:endParaRPr lang="en-IN"/>
          </a:p>
        </p:txBody>
      </p:sp>
      <p:sp>
        <p:nvSpPr>
          <p:cNvPr id="6" name="Footer Placeholder 5"/>
          <p:cNvSpPr>
            <a:spLocks noGrp="1"/>
          </p:cNvSpPr>
          <p:nvPr>
            <p:ph type="ftr" sz="quarter" idx="11"/>
          </p:nvPr>
        </p:nvSpPr>
        <p:spPr/>
        <p:txBody>
          <a:bodyPr/>
          <a:lstStyle/>
          <a:p>
            <a:r>
              <a:rPr lang="en-IN"/>
              <a:t>DEPARTMENT OF CSE SNGCE</a:t>
            </a:r>
          </a:p>
        </p:txBody>
      </p:sp>
      <p:sp>
        <p:nvSpPr>
          <p:cNvPr id="7" name="Slide Number Placeholder 6"/>
          <p:cNvSpPr>
            <a:spLocks noGrp="1"/>
          </p:cNvSpPr>
          <p:nvPr>
            <p:ph type="sldNum" sz="quarter" idx="12"/>
          </p:nvPr>
        </p:nvSpPr>
        <p:spPr/>
        <p:txBody>
          <a:bodyPr/>
          <a:lstStyle/>
          <a:p>
            <a:fld id="{1E81A027-E3F7-4FC9-A752-E855AD4A687D}" type="slidenum">
              <a:rPr lang="en-IN" smtClean="0"/>
              <a:t>‹#›</a:t>
            </a:fld>
            <a:endParaRPr lang="en-IN"/>
          </a:p>
        </p:txBody>
      </p:sp>
    </p:spTree>
    <p:extLst>
      <p:ext uri="{BB962C8B-B14F-4D97-AF65-F5344CB8AC3E}">
        <p14:creationId xmlns:p14="http://schemas.microsoft.com/office/powerpoint/2010/main" val="3065170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C21D1F-152A-40B7-8272-78F72F086997}" type="datetime1">
              <a:rPr lang="en-IN" smtClean="0"/>
              <a:t>14-12-2022</a:t>
            </a:fld>
            <a:endParaRPr lang="en-IN"/>
          </a:p>
        </p:txBody>
      </p:sp>
      <p:sp>
        <p:nvSpPr>
          <p:cNvPr id="8" name="Footer Placeholder 7"/>
          <p:cNvSpPr>
            <a:spLocks noGrp="1"/>
          </p:cNvSpPr>
          <p:nvPr>
            <p:ph type="ftr" sz="quarter" idx="11"/>
          </p:nvPr>
        </p:nvSpPr>
        <p:spPr/>
        <p:txBody>
          <a:bodyPr/>
          <a:lstStyle/>
          <a:p>
            <a:r>
              <a:rPr lang="en-IN"/>
              <a:t>DEPARTMENT OF CSE SNGCE</a:t>
            </a:r>
          </a:p>
        </p:txBody>
      </p:sp>
      <p:sp>
        <p:nvSpPr>
          <p:cNvPr id="9" name="Slide Number Placeholder 8"/>
          <p:cNvSpPr>
            <a:spLocks noGrp="1"/>
          </p:cNvSpPr>
          <p:nvPr>
            <p:ph type="sldNum" sz="quarter" idx="12"/>
          </p:nvPr>
        </p:nvSpPr>
        <p:spPr/>
        <p:txBody>
          <a:bodyPr/>
          <a:lstStyle/>
          <a:p>
            <a:fld id="{1E81A027-E3F7-4FC9-A752-E855AD4A687D}" type="slidenum">
              <a:rPr lang="en-IN" smtClean="0"/>
              <a:t>‹#›</a:t>
            </a:fld>
            <a:endParaRPr lang="en-IN"/>
          </a:p>
        </p:txBody>
      </p:sp>
    </p:spTree>
    <p:extLst>
      <p:ext uri="{BB962C8B-B14F-4D97-AF65-F5344CB8AC3E}">
        <p14:creationId xmlns:p14="http://schemas.microsoft.com/office/powerpoint/2010/main" val="2284185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135C144-C99B-4654-BC08-1F588F8C3757}" type="datetime1">
              <a:rPr lang="en-IN" smtClean="0"/>
              <a:t>14-12-2022</a:t>
            </a:fld>
            <a:endParaRPr lang="en-IN"/>
          </a:p>
        </p:txBody>
      </p:sp>
      <p:sp>
        <p:nvSpPr>
          <p:cNvPr id="4" name="Footer Placeholder 3"/>
          <p:cNvSpPr>
            <a:spLocks noGrp="1"/>
          </p:cNvSpPr>
          <p:nvPr>
            <p:ph type="ftr" sz="quarter" idx="11"/>
          </p:nvPr>
        </p:nvSpPr>
        <p:spPr/>
        <p:txBody>
          <a:bodyPr/>
          <a:lstStyle/>
          <a:p>
            <a:r>
              <a:rPr lang="en-IN"/>
              <a:t>DEPARTMENT OF CSE SNGCE</a:t>
            </a:r>
          </a:p>
        </p:txBody>
      </p:sp>
      <p:sp>
        <p:nvSpPr>
          <p:cNvPr id="5" name="Slide Number Placeholder 4"/>
          <p:cNvSpPr>
            <a:spLocks noGrp="1"/>
          </p:cNvSpPr>
          <p:nvPr>
            <p:ph type="sldNum" sz="quarter" idx="12"/>
          </p:nvPr>
        </p:nvSpPr>
        <p:spPr/>
        <p:txBody>
          <a:bodyPr/>
          <a:lstStyle/>
          <a:p>
            <a:fld id="{1E81A027-E3F7-4FC9-A752-E855AD4A687D}" type="slidenum">
              <a:rPr lang="en-IN" smtClean="0"/>
              <a:t>‹#›</a:t>
            </a:fld>
            <a:endParaRPr lang="en-IN"/>
          </a:p>
        </p:txBody>
      </p:sp>
    </p:spTree>
    <p:extLst>
      <p:ext uri="{BB962C8B-B14F-4D97-AF65-F5344CB8AC3E}">
        <p14:creationId xmlns:p14="http://schemas.microsoft.com/office/powerpoint/2010/main" val="3684374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AC80FF6-47E4-4E63-B328-5031042AB1B2}" type="datetime1">
              <a:rPr lang="en-IN" smtClean="0"/>
              <a:t>14-12-2022</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IN"/>
              <a:t>DEPARTMENT OF CSE SNGCE</a:t>
            </a:r>
          </a:p>
        </p:txBody>
      </p:sp>
      <p:sp>
        <p:nvSpPr>
          <p:cNvPr id="9" name="Slide Number Placeholder 8"/>
          <p:cNvSpPr>
            <a:spLocks noGrp="1"/>
          </p:cNvSpPr>
          <p:nvPr>
            <p:ph type="sldNum" sz="quarter" idx="12"/>
          </p:nvPr>
        </p:nvSpPr>
        <p:spPr/>
        <p:txBody>
          <a:bodyPr/>
          <a:lstStyle/>
          <a:p>
            <a:fld id="{1E81A027-E3F7-4FC9-A752-E855AD4A687D}" type="slidenum">
              <a:rPr lang="en-IN" smtClean="0"/>
              <a:t>‹#›</a:t>
            </a:fld>
            <a:endParaRPr lang="en-IN"/>
          </a:p>
        </p:txBody>
      </p:sp>
    </p:spTree>
    <p:extLst>
      <p:ext uri="{BB962C8B-B14F-4D97-AF65-F5344CB8AC3E}">
        <p14:creationId xmlns:p14="http://schemas.microsoft.com/office/powerpoint/2010/main" val="652492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5FEB108-9D8F-4138-BC94-0BF5485C7979}" type="datetime1">
              <a:rPr lang="en-IN" smtClean="0"/>
              <a:t>14-12-2022</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IN"/>
              <a:t>DEPARTMENT OF CSE SNGCE</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E81A027-E3F7-4FC9-A752-E855AD4A687D}" type="slidenum">
              <a:rPr lang="en-IN" smtClean="0"/>
              <a:t>‹#›</a:t>
            </a:fld>
            <a:endParaRPr lang="en-IN"/>
          </a:p>
        </p:txBody>
      </p:sp>
    </p:spTree>
    <p:extLst>
      <p:ext uri="{BB962C8B-B14F-4D97-AF65-F5344CB8AC3E}">
        <p14:creationId xmlns:p14="http://schemas.microsoft.com/office/powerpoint/2010/main" val="3154212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F3667D-5F0C-4B99-AE30-A7E08855E003}" type="datetime1">
              <a:rPr lang="en-IN" smtClean="0"/>
              <a:t>14-12-2022</a:t>
            </a:fld>
            <a:endParaRPr lang="en-IN"/>
          </a:p>
        </p:txBody>
      </p:sp>
      <p:sp>
        <p:nvSpPr>
          <p:cNvPr id="6" name="Footer Placeholder 5"/>
          <p:cNvSpPr>
            <a:spLocks noGrp="1"/>
          </p:cNvSpPr>
          <p:nvPr>
            <p:ph type="ftr" sz="quarter" idx="11"/>
          </p:nvPr>
        </p:nvSpPr>
        <p:spPr/>
        <p:txBody>
          <a:bodyPr/>
          <a:lstStyle/>
          <a:p>
            <a:r>
              <a:rPr lang="en-IN"/>
              <a:t>DEPARTMENT OF CSE SNGCE</a:t>
            </a:r>
          </a:p>
        </p:txBody>
      </p:sp>
      <p:sp>
        <p:nvSpPr>
          <p:cNvPr id="7" name="Slide Number Placeholder 6"/>
          <p:cNvSpPr>
            <a:spLocks noGrp="1"/>
          </p:cNvSpPr>
          <p:nvPr>
            <p:ph type="sldNum" sz="quarter" idx="12"/>
          </p:nvPr>
        </p:nvSpPr>
        <p:spPr/>
        <p:txBody>
          <a:bodyPr/>
          <a:lstStyle/>
          <a:p>
            <a:fld id="{1E81A027-E3F7-4FC9-A752-E855AD4A687D}" type="slidenum">
              <a:rPr lang="en-IN" smtClean="0"/>
              <a:t>‹#›</a:t>
            </a:fld>
            <a:endParaRPr lang="en-IN"/>
          </a:p>
        </p:txBody>
      </p:sp>
    </p:spTree>
    <p:extLst>
      <p:ext uri="{BB962C8B-B14F-4D97-AF65-F5344CB8AC3E}">
        <p14:creationId xmlns:p14="http://schemas.microsoft.com/office/powerpoint/2010/main" val="4139899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1EDE8B-A7B0-46EA-99FD-5C6EEF050401}" type="datetime1">
              <a:rPr lang="en-IN" smtClean="0"/>
              <a:t>14-12-2022</a:t>
            </a:fld>
            <a:endParaRPr lang="en-IN"/>
          </a:p>
        </p:txBody>
      </p:sp>
      <p:sp>
        <p:nvSpPr>
          <p:cNvPr id="5" name="Footer Placeholder 4"/>
          <p:cNvSpPr>
            <a:spLocks noGrp="1"/>
          </p:cNvSpPr>
          <p:nvPr>
            <p:ph type="ftr" sz="quarter" idx="11"/>
          </p:nvPr>
        </p:nvSpPr>
        <p:spPr/>
        <p:txBody>
          <a:bodyPr/>
          <a:lstStyle/>
          <a:p>
            <a:r>
              <a:rPr lang="en-IN"/>
              <a:t>DEPARTMENT OF CSE SNGCE</a:t>
            </a:r>
          </a:p>
        </p:txBody>
      </p:sp>
      <p:sp>
        <p:nvSpPr>
          <p:cNvPr id="6" name="Slide Number Placeholder 5"/>
          <p:cNvSpPr>
            <a:spLocks noGrp="1"/>
          </p:cNvSpPr>
          <p:nvPr>
            <p:ph type="sldNum" sz="quarter" idx="12"/>
          </p:nvPr>
        </p:nvSpPr>
        <p:spPr/>
        <p:txBody>
          <a:bodyPr/>
          <a:lstStyle/>
          <a:p>
            <a:fld id="{1E81A027-E3F7-4FC9-A752-E855AD4A687D}" type="slidenum">
              <a:rPr lang="en-IN" smtClean="0"/>
              <a:t>‹#›</a:t>
            </a:fld>
            <a:endParaRPr lang="en-IN"/>
          </a:p>
        </p:txBody>
      </p:sp>
    </p:spTree>
    <p:extLst>
      <p:ext uri="{BB962C8B-B14F-4D97-AF65-F5344CB8AC3E}">
        <p14:creationId xmlns:p14="http://schemas.microsoft.com/office/powerpoint/2010/main" val="3377869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97D551-E9D8-4376-97E9-3A29623C5F50}" type="datetime1">
              <a:rPr lang="en-IN" smtClean="0"/>
              <a:t>14-12-2022</a:t>
            </a:fld>
            <a:endParaRPr lang="en-IN"/>
          </a:p>
        </p:txBody>
      </p:sp>
      <p:sp>
        <p:nvSpPr>
          <p:cNvPr id="5" name="Footer Placeholder 4"/>
          <p:cNvSpPr>
            <a:spLocks noGrp="1"/>
          </p:cNvSpPr>
          <p:nvPr>
            <p:ph type="ftr" sz="quarter" idx="11"/>
          </p:nvPr>
        </p:nvSpPr>
        <p:spPr/>
        <p:txBody>
          <a:bodyPr/>
          <a:lstStyle/>
          <a:p>
            <a:r>
              <a:rPr lang="en-IN"/>
              <a:t>DEPARTMENT OF CSE SNGCE</a:t>
            </a:r>
          </a:p>
        </p:txBody>
      </p:sp>
      <p:sp>
        <p:nvSpPr>
          <p:cNvPr id="6" name="Slide Number Placeholder 5"/>
          <p:cNvSpPr>
            <a:spLocks noGrp="1"/>
          </p:cNvSpPr>
          <p:nvPr>
            <p:ph type="sldNum" sz="quarter" idx="12"/>
          </p:nvPr>
        </p:nvSpPr>
        <p:spPr/>
        <p:txBody>
          <a:bodyPr/>
          <a:lstStyle/>
          <a:p>
            <a:fld id="{1E81A027-E3F7-4FC9-A752-E855AD4A687D}" type="slidenum">
              <a:rPr lang="en-IN" smtClean="0"/>
              <a:t>‹#›</a:t>
            </a:fld>
            <a:endParaRPr lang="en-IN"/>
          </a:p>
        </p:txBody>
      </p:sp>
    </p:spTree>
    <p:extLst>
      <p:ext uri="{BB962C8B-B14F-4D97-AF65-F5344CB8AC3E}">
        <p14:creationId xmlns:p14="http://schemas.microsoft.com/office/powerpoint/2010/main" val="1524998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075169A-B405-4C68-9B00-247C0E58DBA9}" type="datetime1">
              <a:rPr lang="en-IN" smtClean="0"/>
              <a:t>14-12-2022</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IN"/>
              <a:t>DEPARTMENT OF CSE SNGCE</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E81A027-E3F7-4FC9-A752-E855AD4A687D}"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3073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85FBC-5DED-795C-EF64-599B2E28B667}"/>
              </a:ext>
            </a:extLst>
          </p:cNvPr>
          <p:cNvSpPr>
            <a:spLocks noGrp="1"/>
          </p:cNvSpPr>
          <p:nvPr>
            <p:ph type="ctrTitle"/>
          </p:nvPr>
        </p:nvSpPr>
        <p:spPr/>
        <p:txBody>
          <a:bodyPr/>
          <a:lstStyle/>
          <a:p>
            <a:r>
              <a:rPr lang="en-IN" dirty="0"/>
              <a:t>CST401 ARTIFICIAL INTELLIGENCE</a:t>
            </a:r>
          </a:p>
        </p:txBody>
      </p:sp>
      <p:sp>
        <p:nvSpPr>
          <p:cNvPr id="3" name="Subtitle 2">
            <a:extLst>
              <a:ext uri="{FF2B5EF4-FFF2-40B4-BE49-F238E27FC236}">
                <a16:creationId xmlns:a16="http://schemas.microsoft.com/office/drawing/2014/main" id="{22E0B413-F487-7AE2-5342-C53D1E0B5068}"/>
              </a:ext>
            </a:extLst>
          </p:cNvPr>
          <p:cNvSpPr>
            <a:spLocks noGrp="1"/>
          </p:cNvSpPr>
          <p:nvPr>
            <p:ph type="subTitle" idx="1"/>
          </p:nvPr>
        </p:nvSpPr>
        <p:spPr/>
        <p:txBody>
          <a:bodyPr/>
          <a:lstStyle/>
          <a:p>
            <a:r>
              <a:rPr lang="en-IN"/>
              <a:t>MODULE 5</a:t>
            </a:r>
            <a:endParaRPr lang="en-IN" dirty="0"/>
          </a:p>
        </p:txBody>
      </p:sp>
      <p:sp>
        <p:nvSpPr>
          <p:cNvPr id="4" name="Footer Placeholder 3">
            <a:extLst>
              <a:ext uri="{FF2B5EF4-FFF2-40B4-BE49-F238E27FC236}">
                <a16:creationId xmlns:a16="http://schemas.microsoft.com/office/drawing/2014/main" id="{5521116C-8F3D-DB7F-589D-876D1798E17D}"/>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1B078E9E-5F1E-883C-8459-09E43081D534}"/>
              </a:ext>
            </a:extLst>
          </p:cNvPr>
          <p:cNvSpPr>
            <a:spLocks noGrp="1"/>
          </p:cNvSpPr>
          <p:nvPr>
            <p:ph type="sldNum" sz="quarter" idx="12"/>
          </p:nvPr>
        </p:nvSpPr>
        <p:spPr/>
        <p:txBody>
          <a:bodyPr/>
          <a:lstStyle/>
          <a:p>
            <a:fld id="{1E81A027-E3F7-4FC9-A752-E855AD4A687D}" type="slidenum">
              <a:rPr lang="en-IN" smtClean="0"/>
              <a:t>1</a:t>
            </a:fld>
            <a:endParaRPr lang="en-IN"/>
          </a:p>
        </p:txBody>
      </p:sp>
    </p:spTree>
    <p:extLst>
      <p:ext uri="{BB962C8B-B14F-4D97-AF65-F5344CB8AC3E}">
        <p14:creationId xmlns:p14="http://schemas.microsoft.com/office/powerpoint/2010/main" val="178995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CE2BD-F472-30A9-533E-D26C4134C478}"/>
              </a:ext>
            </a:extLst>
          </p:cNvPr>
          <p:cNvSpPr>
            <a:spLocks noGrp="1"/>
          </p:cNvSpPr>
          <p:nvPr>
            <p:ph type="title"/>
          </p:nvPr>
        </p:nvSpPr>
        <p:spPr/>
        <p:txBody>
          <a:bodyPr/>
          <a:lstStyle/>
          <a:p>
            <a:r>
              <a:rPr lang="en-IN" dirty="0"/>
              <a:t>Course Outcome</a:t>
            </a:r>
          </a:p>
        </p:txBody>
      </p:sp>
      <p:sp>
        <p:nvSpPr>
          <p:cNvPr id="3" name="Content Placeholder 2">
            <a:extLst>
              <a:ext uri="{FF2B5EF4-FFF2-40B4-BE49-F238E27FC236}">
                <a16:creationId xmlns:a16="http://schemas.microsoft.com/office/drawing/2014/main" id="{B79A423F-FC33-FBBE-0CA3-2E36D4F4C976}"/>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F8C2FD74-6882-16D2-FBFC-2EA1DBE660EA}"/>
              </a:ext>
            </a:extLst>
          </p:cNvPr>
          <p:cNvPicPr>
            <a:picLocks noChangeAspect="1"/>
          </p:cNvPicPr>
          <p:nvPr/>
        </p:nvPicPr>
        <p:blipFill>
          <a:blip r:embed="rId2"/>
          <a:stretch>
            <a:fillRect/>
          </a:stretch>
        </p:blipFill>
        <p:spPr>
          <a:xfrm>
            <a:off x="2106530" y="1945625"/>
            <a:ext cx="7558579" cy="4031843"/>
          </a:xfrm>
          <a:prstGeom prst="rect">
            <a:avLst/>
          </a:prstGeom>
        </p:spPr>
      </p:pic>
      <p:sp>
        <p:nvSpPr>
          <p:cNvPr id="4" name="Footer Placeholder 3">
            <a:extLst>
              <a:ext uri="{FF2B5EF4-FFF2-40B4-BE49-F238E27FC236}">
                <a16:creationId xmlns:a16="http://schemas.microsoft.com/office/drawing/2014/main" id="{3110A431-E64A-077D-954B-972EDEB32B08}"/>
              </a:ext>
            </a:extLst>
          </p:cNvPr>
          <p:cNvSpPr>
            <a:spLocks noGrp="1"/>
          </p:cNvSpPr>
          <p:nvPr>
            <p:ph type="ftr" sz="quarter" idx="11"/>
          </p:nvPr>
        </p:nvSpPr>
        <p:spPr/>
        <p:txBody>
          <a:bodyPr/>
          <a:lstStyle/>
          <a:p>
            <a:r>
              <a:rPr lang="en-IN"/>
              <a:t>DEPARTMENT OF CSE SNGCE</a:t>
            </a:r>
          </a:p>
        </p:txBody>
      </p:sp>
      <p:sp>
        <p:nvSpPr>
          <p:cNvPr id="6" name="Slide Number Placeholder 5">
            <a:extLst>
              <a:ext uri="{FF2B5EF4-FFF2-40B4-BE49-F238E27FC236}">
                <a16:creationId xmlns:a16="http://schemas.microsoft.com/office/drawing/2014/main" id="{3B59D9AA-05ED-F40F-0FF4-40D256B839A9}"/>
              </a:ext>
            </a:extLst>
          </p:cNvPr>
          <p:cNvSpPr>
            <a:spLocks noGrp="1"/>
          </p:cNvSpPr>
          <p:nvPr>
            <p:ph type="sldNum" sz="quarter" idx="12"/>
          </p:nvPr>
        </p:nvSpPr>
        <p:spPr/>
        <p:txBody>
          <a:bodyPr/>
          <a:lstStyle/>
          <a:p>
            <a:fld id="{1E81A027-E3F7-4FC9-A752-E855AD4A687D}" type="slidenum">
              <a:rPr lang="en-IN" smtClean="0"/>
              <a:t>2</a:t>
            </a:fld>
            <a:endParaRPr lang="en-IN"/>
          </a:p>
        </p:txBody>
      </p:sp>
    </p:spTree>
    <p:extLst>
      <p:ext uri="{BB962C8B-B14F-4D97-AF65-F5344CB8AC3E}">
        <p14:creationId xmlns:p14="http://schemas.microsoft.com/office/powerpoint/2010/main" val="1854911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6D667-D63C-5A3A-AA4D-4824320FC99F}"/>
              </a:ext>
            </a:extLst>
          </p:cNvPr>
          <p:cNvSpPr>
            <a:spLocks noGrp="1"/>
          </p:cNvSpPr>
          <p:nvPr>
            <p:ph type="title"/>
          </p:nvPr>
        </p:nvSpPr>
        <p:spPr/>
        <p:txBody>
          <a:bodyPr/>
          <a:lstStyle/>
          <a:p>
            <a:r>
              <a:rPr lang="en-US" dirty="0"/>
              <a:t>Mapping of course outcomes with program outcomes</a:t>
            </a:r>
            <a:endParaRPr lang="en-IN" dirty="0"/>
          </a:p>
        </p:txBody>
      </p:sp>
      <p:pic>
        <p:nvPicPr>
          <p:cNvPr id="5" name="Content Placeholder 4">
            <a:extLst>
              <a:ext uri="{FF2B5EF4-FFF2-40B4-BE49-F238E27FC236}">
                <a16:creationId xmlns:a16="http://schemas.microsoft.com/office/drawing/2014/main" id="{3099961B-4BF6-317F-0AB1-8D6E81F2AB31}"/>
              </a:ext>
            </a:extLst>
          </p:cNvPr>
          <p:cNvPicPr>
            <a:picLocks noGrp="1" noChangeAspect="1"/>
          </p:cNvPicPr>
          <p:nvPr>
            <p:ph idx="1"/>
          </p:nvPr>
        </p:nvPicPr>
        <p:blipFill>
          <a:blip r:embed="rId2"/>
          <a:stretch>
            <a:fillRect/>
          </a:stretch>
        </p:blipFill>
        <p:spPr>
          <a:xfrm>
            <a:off x="1846762" y="1897247"/>
            <a:ext cx="8909728" cy="4228702"/>
          </a:xfrm>
        </p:spPr>
      </p:pic>
      <p:sp>
        <p:nvSpPr>
          <p:cNvPr id="3" name="Footer Placeholder 2">
            <a:extLst>
              <a:ext uri="{FF2B5EF4-FFF2-40B4-BE49-F238E27FC236}">
                <a16:creationId xmlns:a16="http://schemas.microsoft.com/office/drawing/2014/main" id="{685C5E35-E547-7420-C3AD-807A882B0B56}"/>
              </a:ext>
            </a:extLst>
          </p:cNvPr>
          <p:cNvSpPr>
            <a:spLocks noGrp="1"/>
          </p:cNvSpPr>
          <p:nvPr>
            <p:ph type="ftr" sz="quarter" idx="11"/>
          </p:nvPr>
        </p:nvSpPr>
        <p:spPr/>
        <p:txBody>
          <a:bodyPr/>
          <a:lstStyle/>
          <a:p>
            <a:r>
              <a:rPr lang="en-IN"/>
              <a:t>DEPARTMENT OF CSE SNGCE</a:t>
            </a:r>
          </a:p>
        </p:txBody>
      </p:sp>
      <p:sp>
        <p:nvSpPr>
          <p:cNvPr id="4" name="Slide Number Placeholder 3">
            <a:extLst>
              <a:ext uri="{FF2B5EF4-FFF2-40B4-BE49-F238E27FC236}">
                <a16:creationId xmlns:a16="http://schemas.microsoft.com/office/drawing/2014/main" id="{C7325FE3-87DA-62C5-BE0A-9AAE40B14714}"/>
              </a:ext>
            </a:extLst>
          </p:cNvPr>
          <p:cNvSpPr>
            <a:spLocks noGrp="1"/>
          </p:cNvSpPr>
          <p:nvPr>
            <p:ph type="sldNum" sz="quarter" idx="12"/>
          </p:nvPr>
        </p:nvSpPr>
        <p:spPr/>
        <p:txBody>
          <a:bodyPr/>
          <a:lstStyle/>
          <a:p>
            <a:fld id="{1E81A027-E3F7-4FC9-A752-E855AD4A687D}" type="slidenum">
              <a:rPr lang="en-IN" smtClean="0"/>
              <a:t>3</a:t>
            </a:fld>
            <a:endParaRPr lang="en-IN"/>
          </a:p>
        </p:txBody>
      </p:sp>
    </p:spTree>
    <p:extLst>
      <p:ext uri="{BB962C8B-B14F-4D97-AF65-F5344CB8AC3E}">
        <p14:creationId xmlns:p14="http://schemas.microsoft.com/office/powerpoint/2010/main" val="4007714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9BAA3-11AB-55B9-B64F-29E1E4DD0699}"/>
              </a:ext>
            </a:extLst>
          </p:cNvPr>
          <p:cNvSpPr>
            <a:spLocks noGrp="1"/>
          </p:cNvSpPr>
          <p:nvPr>
            <p:ph type="title"/>
          </p:nvPr>
        </p:nvSpPr>
        <p:spPr>
          <a:xfrm>
            <a:off x="1066800" y="296435"/>
            <a:ext cx="10058400" cy="1450757"/>
          </a:xfrm>
        </p:spPr>
        <p:txBody>
          <a:bodyPr/>
          <a:lstStyle/>
          <a:p>
            <a:r>
              <a:rPr lang="en-US" dirty="0"/>
              <a:t>Abstract POs defined by National Board of Accreditation</a:t>
            </a:r>
            <a:endParaRPr lang="en-IN" dirty="0"/>
          </a:p>
        </p:txBody>
      </p:sp>
      <p:pic>
        <p:nvPicPr>
          <p:cNvPr id="7" name="Content Placeholder 6">
            <a:extLst>
              <a:ext uri="{FF2B5EF4-FFF2-40B4-BE49-F238E27FC236}">
                <a16:creationId xmlns:a16="http://schemas.microsoft.com/office/drawing/2014/main" id="{80A14366-FF89-0CBF-C5B2-9150BFCD9A76}"/>
              </a:ext>
            </a:extLst>
          </p:cNvPr>
          <p:cNvPicPr>
            <a:picLocks noGrp="1" noChangeAspect="1"/>
          </p:cNvPicPr>
          <p:nvPr>
            <p:ph idx="1"/>
          </p:nvPr>
        </p:nvPicPr>
        <p:blipFill>
          <a:blip r:embed="rId2"/>
          <a:stretch>
            <a:fillRect/>
          </a:stretch>
        </p:blipFill>
        <p:spPr>
          <a:xfrm>
            <a:off x="1759974" y="1747192"/>
            <a:ext cx="8672052" cy="4442825"/>
          </a:xfrm>
        </p:spPr>
      </p:pic>
      <p:sp>
        <p:nvSpPr>
          <p:cNvPr id="3" name="Footer Placeholder 2">
            <a:extLst>
              <a:ext uri="{FF2B5EF4-FFF2-40B4-BE49-F238E27FC236}">
                <a16:creationId xmlns:a16="http://schemas.microsoft.com/office/drawing/2014/main" id="{12867918-03E5-0B13-2E16-22E6E7A6F5B9}"/>
              </a:ext>
            </a:extLst>
          </p:cNvPr>
          <p:cNvSpPr>
            <a:spLocks noGrp="1"/>
          </p:cNvSpPr>
          <p:nvPr>
            <p:ph type="ftr" sz="quarter" idx="11"/>
          </p:nvPr>
        </p:nvSpPr>
        <p:spPr/>
        <p:txBody>
          <a:bodyPr/>
          <a:lstStyle/>
          <a:p>
            <a:r>
              <a:rPr lang="en-IN"/>
              <a:t>DEPARTMENT OF CSE SNGCE</a:t>
            </a:r>
          </a:p>
        </p:txBody>
      </p:sp>
      <p:sp>
        <p:nvSpPr>
          <p:cNvPr id="4" name="Slide Number Placeholder 3">
            <a:extLst>
              <a:ext uri="{FF2B5EF4-FFF2-40B4-BE49-F238E27FC236}">
                <a16:creationId xmlns:a16="http://schemas.microsoft.com/office/drawing/2014/main" id="{8F987815-A2FE-6881-BCE3-4F61DC16AAA4}"/>
              </a:ext>
            </a:extLst>
          </p:cNvPr>
          <p:cNvSpPr>
            <a:spLocks noGrp="1"/>
          </p:cNvSpPr>
          <p:nvPr>
            <p:ph type="sldNum" sz="quarter" idx="12"/>
          </p:nvPr>
        </p:nvSpPr>
        <p:spPr/>
        <p:txBody>
          <a:bodyPr/>
          <a:lstStyle/>
          <a:p>
            <a:fld id="{1E81A027-E3F7-4FC9-A752-E855AD4A687D}" type="slidenum">
              <a:rPr lang="en-IN" smtClean="0"/>
              <a:t>4</a:t>
            </a:fld>
            <a:endParaRPr lang="en-IN"/>
          </a:p>
        </p:txBody>
      </p:sp>
    </p:spTree>
    <p:extLst>
      <p:ext uri="{BB962C8B-B14F-4D97-AF65-F5344CB8AC3E}">
        <p14:creationId xmlns:p14="http://schemas.microsoft.com/office/powerpoint/2010/main" val="1669584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092B3-CA58-F705-E0DE-87B59E0D494C}"/>
              </a:ext>
            </a:extLst>
          </p:cNvPr>
          <p:cNvSpPr>
            <a:spLocks noGrp="1"/>
          </p:cNvSpPr>
          <p:nvPr>
            <p:ph type="title"/>
          </p:nvPr>
        </p:nvSpPr>
        <p:spPr/>
        <p:txBody>
          <a:bodyPr/>
          <a:lstStyle/>
          <a:p>
            <a:r>
              <a:rPr lang="en-IN" dirty="0"/>
              <a:t>Assessment Pattern </a:t>
            </a:r>
          </a:p>
        </p:txBody>
      </p:sp>
      <p:pic>
        <p:nvPicPr>
          <p:cNvPr id="5" name="Content Placeholder 4">
            <a:extLst>
              <a:ext uri="{FF2B5EF4-FFF2-40B4-BE49-F238E27FC236}">
                <a16:creationId xmlns:a16="http://schemas.microsoft.com/office/drawing/2014/main" id="{5EB12356-3CEC-7DE4-CFBB-574AE116ECEC}"/>
              </a:ext>
            </a:extLst>
          </p:cNvPr>
          <p:cNvPicPr>
            <a:picLocks noGrp="1" noChangeAspect="1"/>
          </p:cNvPicPr>
          <p:nvPr>
            <p:ph idx="1"/>
          </p:nvPr>
        </p:nvPicPr>
        <p:blipFill>
          <a:blip r:embed="rId2"/>
          <a:stretch>
            <a:fillRect/>
          </a:stretch>
        </p:blipFill>
        <p:spPr>
          <a:xfrm>
            <a:off x="1671484" y="1895636"/>
            <a:ext cx="7621063" cy="3356570"/>
          </a:xfrm>
        </p:spPr>
      </p:pic>
      <p:sp>
        <p:nvSpPr>
          <p:cNvPr id="3" name="Footer Placeholder 2">
            <a:extLst>
              <a:ext uri="{FF2B5EF4-FFF2-40B4-BE49-F238E27FC236}">
                <a16:creationId xmlns:a16="http://schemas.microsoft.com/office/drawing/2014/main" id="{D2EA0332-32DD-701A-C648-7153EBBDB59C}"/>
              </a:ext>
            </a:extLst>
          </p:cNvPr>
          <p:cNvSpPr>
            <a:spLocks noGrp="1"/>
          </p:cNvSpPr>
          <p:nvPr>
            <p:ph type="ftr" sz="quarter" idx="11"/>
          </p:nvPr>
        </p:nvSpPr>
        <p:spPr/>
        <p:txBody>
          <a:bodyPr/>
          <a:lstStyle/>
          <a:p>
            <a:r>
              <a:rPr lang="en-IN"/>
              <a:t>DEPARTMENT OF CSE SNGCE</a:t>
            </a:r>
          </a:p>
        </p:txBody>
      </p:sp>
      <p:sp>
        <p:nvSpPr>
          <p:cNvPr id="4" name="Slide Number Placeholder 3">
            <a:extLst>
              <a:ext uri="{FF2B5EF4-FFF2-40B4-BE49-F238E27FC236}">
                <a16:creationId xmlns:a16="http://schemas.microsoft.com/office/drawing/2014/main" id="{39066DB2-1163-5A77-5194-CC07A8AA5E67}"/>
              </a:ext>
            </a:extLst>
          </p:cNvPr>
          <p:cNvSpPr>
            <a:spLocks noGrp="1"/>
          </p:cNvSpPr>
          <p:nvPr>
            <p:ph type="sldNum" sz="quarter" idx="12"/>
          </p:nvPr>
        </p:nvSpPr>
        <p:spPr/>
        <p:txBody>
          <a:bodyPr/>
          <a:lstStyle/>
          <a:p>
            <a:fld id="{1E81A027-E3F7-4FC9-A752-E855AD4A687D}" type="slidenum">
              <a:rPr lang="en-IN" smtClean="0"/>
              <a:t>5</a:t>
            </a:fld>
            <a:endParaRPr lang="en-IN"/>
          </a:p>
        </p:txBody>
      </p:sp>
    </p:spTree>
    <p:extLst>
      <p:ext uri="{BB962C8B-B14F-4D97-AF65-F5344CB8AC3E}">
        <p14:creationId xmlns:p14="http://schemas.microsoft.com/office/powerpoint/2010/main" val="3445975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5AF8D-7813-8E10-BA17-17905C5137C4}"/>
              </a:ext>
            </a:extLst>
          </p:cNvPr>
          <p:cNvSpPr>
            <a:spLocks noGrp="1"/>
          </p:cNvSpPr>
          <p:nvPr>
            <p:ph type="title"/>
          </p:nvPr>
        </p:nvSpPr>
        <p:spPr/>
        <p:txBody>
          <a:bodyPr/>
          <a:lstStyle/>
          <a:p>
            <a:r>
              <a:rPr lang="en-IN" dirty="0"/>
              <a:t>Mark Distribution</a:t>
            </a:r>
          </a:p>
        </p:txBody>
      </p:sp>
      <p:pic>
        <p:nvPicPr>
          <p:cNvPr id="5" name="Content Placeholder 4">
            <a:extLst>
              <a:ext uri="{FF2B5EF4-FFF2-40B4-BE49-F238E27FC236}">
                <a16:creationId xmlns:a16="http://schemas.microsoft.com/office/drawing/2014/main" id="{878E77C1-F1C2-F015-AA15-FA23DB42E1DF}"/>
              </a:ext>
            </a:extLst>
          </p:cNvPr>
          <p:cNvPicPr>
            <a:picLocks noGrp="1" noChangeAspect="1"/>
          </p:cNvPicPr>
          <p:nvPr>
            <p:ph idx="1"/>
          </p:nvPr>
        </p:nvPicPr>
        <p:blipFill>
          <a:blip r:embed="rId2"/>
          <a:stretch>
            <a:fillRect/>
          </a:stretch>
        </p:blipFill>
        <p:spPr>
          <a:xfrm>
            <a:off x="1201314" y="1836175"/>
            <a:ext cx="9398797" cy="1592825"/>
          </a:xfrm>
        </p:spPr>
      </p:pic>
      <p:pic>
        <p:nvPicPr>
          <p:cNvPr id="7" name="Picture 6">
            <a:extLst>
              <a:ext uri="{FF2B5EF4-FFF2-40B4-BE49-F238E27FC236}">
                <a16:creationId xmlns:a16="http://schemas.microsoft.com/office/drawing/2014/main" id="{8967E7AD-70A7-6D30-F7EF-906190E1F836}"/>
              </a:ext>
            </a:extLst>
          </p:cNvPr>
          <p:cNvPicPr>
            <a:picLocks noChangeAspect="1"/>
          </p:cNvPicPr>
          <p:nvPr/>
        </p:nvPicPr>
        <p:blipFill>
          <a:blip r:embed="rId3"/>
          <a:stretch>
            <a:fillRect/>
          </a:stretch>
        </p:blipFill>
        <p:spPr>
          <a:xfrm>
            <a:off x="1929949" y="3527815"/>
            <a:ext cx="7616972" cy="2116394"/>
          </a:xfrm>
          <a:prstGeom prst="rect">
            <a:avLst/>
          </a:prstGeom>
        </p:spPr>
      </p:pic>
      <p:sp>
        <p:nvSpPr>
          <p:cNvPr id="3" name="Footer Placeholder 2">
            <a:extLst>
              <a:ext uri="{FF2B5EF4-FFF2-40B4-BE49-F238E27FC236}">
                <a16:creationId xmlns:a16="http://schemas.microsoft.com/office/drawing/2014/main" id="{AF665118-0CE3-7849-DB9F-917D965A757A}"/>
              </a:ext>
            </a:extLst>
          </p:cNvPr>
          <p:cNvSpPr>
            <a:spLocks noGrp="1"/>
          </p:cNvSpPr>
          <p:nvPr>
            <p:ph type="ftr" sz="quarter" idx="11"/>
          </p:nvPr>
        </p:nvSpPr>
        <p:spPr/>
        <p:txBody>
          <a:bodyPr/>
          <a:lstStyle/>
          <a:p>
            <a:r>
              <a:rPr lang="en-IN"/>
              <a:t>DEPARTMENT OF CSE SNGCE</a:t>
            </a:r>
          </a:p>
        </p:txBody>
      </p:sp>
      <p:sp>
        <p:nvSpPr>
          <p:cNvPr id="4" name="Slide Number Placeholder 3">
            <a:extLst>
              <a:ext uri="{FF2B5EF4-FFF2-40B4-BE49-F238E27FC236}">
                <a16:creationId xmlns:a16="http://schemas.microsoft.com/office/drawing/2014/main" id="{40DDAF45-AAB2-102D-9D38-C35316B775BE}"/>
              </a:ext>
            </a:extLst>
          </p:cNvPr>
          <p:cNvSpPr>
            <a:spLocks noGrp="1"/>
          </p:cNvSpPr>
          <p:nvPr>
            <p:ph type="sldNum" sz="quarter" idx="12"/>
          </p:nvPr>
        </p:nvSpPr>
        <p:spPr/>
        <p:txBody>
          <a:bodyPr/>
          <a:lstStyle/>
          <a:p>
            <a:fld id="{1E81A027-E3F7-4FC9-A752-E855AD4A687D}" type="slidenum">
              <a:rPr lang="en-IN" smtClean="0"/>
              <a:t>6</a:t>
            </a:fld>
            <a:endParaRPr lang="en-IN"/>
          </a:p>
        </p:txBody>
      </p:sp>
    </p:spTree>
    <p:extLst>
      <p:ext uri="{BB962C8B-B14F-4D97-AF65-F5344CB8AC3E}">
        <p14:creationId xmlns:p14="http://schemas.microsoft.com/office/powerpoint/2010/main" val="3479126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11E3A-7487-6EA3-45D5-BB80BE4709BA}"/>
              </a:ext>
            </a:extLst>
          </p:cNvPr>
          <p:cNvSpPr>
            <a:spLocks noGrp="1"/>
          </p:cNvSpPr>
          <p:nvPr>
            <p:ph type="title"/>
          </p:nvPr>
        </p:nvSpPr>
        <p:spPr/>
        <p:txBody>
          <a:bodyPr/>
          <a:lstStyle/>
          <a:p>
            <a:r>
              <a:rPr lang="en-IN" dirty="0"/>
              <a:t>Textbook</a:t>
            </a:r>
          </a:p>
        </p:txBody>
      </p:sp>
      <p:sp>
        <p:nvSpPr>
          <p:cNvPr id="3" name="Content Placeholder 2">
            <a:extLst>
              <a:ext uri="{FF2B5EF4-FFF2-40B4-BE49-F238E27FC236}">
                <a16:creationId xmlns:a16="http://schemas.microsoft.com/office/drawing/2014/main" id="{76C7CF04-790D-6DD7-2721-8752E85C9D74}"/>
              </a:ext>
            </a:extLst>
          </p:cNvPr>
          <p:cNvSpPr>
            <a:spLocks noGrp="1"/>
          </p:cNvSpPr>
          <p:nvPr>
            <p:ph idx="1"/>
          </p:nvPr>
        </p:nvSpPr>
        <p:spPr>
          <a:xfrm>
            <a:off x="826328" y="1976284"/>
            <a:ext cx="6577362" cy="3892810"/>
          </a:xfrm>
        </p:spPr>
        <p:txBody>
          <a:bodyPr>
            <a:normAutofit/>
          </a:bodyPr>
          <a:lstStyle/>
          <a:p>
            <a:r>
              <a:rPr lang="en-US" sz="2400" dirty="0"/>
              <a:t>Stuart Russell and Peter Norvig. </a:t>
            </a:r>
            <a:r>
              <a:rPr lang="en-US" sz="2400" dirty="0">
                <a:solidFill>
                  <a:srgbClr val="FF0000"/>
                </a:solidFill>
              </a:rPr>
              <a:t>Artificial Intelligence: A Modern Approach</a:t>
            </a:r>
            <a:r>
              <a:rPr lang="en-US" sz="2400" dirty="0"/>
              <a:t>, 3rd Edition. Prentice Hall.</a:t>
            </a:r>
          </a:p>
          <a:p>
            <a:endParaRPr lang="en-IN" sz="2400" dirty="0"/>
          </a:p>
        </p:txBody>
      </p:sp>
      <p:pic>
        <p:nvPicPr>
          <p:cNvPr id="1026" name="Picture 2" descr="Buy Artificial Intelligence | Third Edition | By Pearson: A Modern Approach  Book Online at Low Prices in India | Artificial Intelligence | Third Edition  | By Pearson: A Modern Approach Reviews &amp; Ratings - Amazon.in">
            <a:extLst>
              <a:ext uri="{FF2B5EF4-FFF2-40B4-BE49-F238E27FC236}">
                <a16:creationId xmlns:a16="http://schemas.microsoft.com/office/drawing/2014/main" id="{068EC8CF-A208-6891-2CA8-F492C50BFE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7818" y="1737360"/>
            <a:ext cx="3529781" cy="4610891"/>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18AFC7D5-C13F-106D-C5F4-A4C2783DBDC0}"/>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94BD70CF-0889-7AC7-8B27-7A01CC472E13}"/>
              </a:ext>
            </a:extLst>
          </p:cNvPr>
          <p:cNvSpPr>
            <a:spLocks noGrp="1"/>
          </p:cNvSpPr>
          <p:nvPr>
            <p:ph type="sldNum" sz="quarter" idx="12"/>
          </p:nvPr>
        </p:nvSpPr>
        <p:spPr/>
        <p:txBody>
          <a:bodyPr/>
          <a:lstStyle/>
          <a:p>
            <a:fld id="{1E81A027-E3F7-4FC9-A752-E855AD4A687D}" type="slidenum">
              <a:rPr lang="en-IN" smtClean="0"/>
              <a:t>7</a:t>
            </a:fld>
            <a:endParaRPr lang="en-IN"/>
          </a:p>
        </p:txBody>
      </p:sp>
    </p:spTree>
    <p:extLst>
      <p:ext uri="{BB962C8B-B14F-4D97-AF65-F5344CB8AC3E}">
        <p14:creationId xmlns:p14="http://schemas.microsoft.com/office/powerpoint/2010/main" val="2794034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BC4E7-812F-1DDD-6B1C-57FB952C3BD4}"/>
              </a:ext>
            </a:extLst>
          </p:cNvPr>
          <p:cNvSpPr>
            <a:spLocks noGrp="1"/>
          </p:cNvSpPr>
          <p:nvPr>
            <p:ph type="title"/>
          </p:nvPr>
        </p:nvSpPr>
        <p:spPr/>
        <p:txBody>
          <a:bodyPr/>
          <a:lstStyle/>
          <a:p>
            <a:r>
              <a:rPr lang="en-IN" dirty="0"/>
              <a:t>SYLLABUS- Machine Learning</a:t>
            </a:r>
          </a:p>
        </p:txBody>
      </p:sp>
      <p:sp>
        <p:nvSpPr>
          <p:cNvPr id="3" name="Content Placeholder 2">
            <a:extLst>
              <a:ext uri="{FF2B5EF4-FFF2-40B4-BE49-F238E27FC236}">
                <a16:creationId xmlns:a16="http://schemas.microsoft.com/office/drawing/2014/main" id="{BFF64B4C-7134-6894-963A-7F6EA7A3108D}"/>
              </a:ext>
            </a:extLst>
          </p:cNvPr>
          <p:cNvSpPr>
            <a:spLocks noGrp="1"/>
          </p:cNvSpPr>
          <p:nvPr>
            <p:ph idx="1"/>
          </p:nvPr>
        </p:nvSpPr>
        <p:spPr>
          <a:xfrm>
            <a:off x="1097280" y="1845734"/>
            <a:ext cx="5363810" cy="4023360"/>
          </a:xfrm>
        </p:spPr>
        <p:txBody>
          <a:bodyPr>
            <a:normAutofit/>
          </a:bodyPr>
          <a:lstStyle/>
          <a:p>
            <a:r>
              <a:rPr lang="en-US" sz="2800" dirty="0"/>
              <a:t>Learning from Examples – </a:t>
            </a:r>
          </a:p>
          <a:p>
            <a:pPr lvl="1"/>
            <a:r>
              <a:rPr lang="en-US" sz="2400" dirty="0"/>
              <a:t>Forms of Learning, </a:t>
            </a:r>
          </a:p>
          <a:p>
            <a:pPr lvl="1"/>
            <a:r>
              <a:rPr lang="en-US" sz="2400" dirty="0"/>
              <a:t>Supervised Learning, </a:t>
            </a:r>
          </a:p>
          <a:p>
            <a:pPr lvl="1"/>
            <a:r>
              <a:rPr lang="en-US" sz="2400" dirty="0"/>
              <a:t>Learning Decision Trees, </a:t>
            </a:r>
          </a:p>
          <a:p>
            <a:pPr lvl="1"/>
            <a:r>
              <a:rPr lang="en-US" sz="2400" dirty="0"/>
              <a:t>Evaluating and choosing the best hypothesis,</a:t>
            </a:r>
          </a:p>
          <a:p>
            <a:pPr lvl="1"/>
            <a:r>
              <a:rPr lang="en-US" sz="2400" dirty="0"/>
              <a:t> Regression and classification with Linear models. </a:t>
            </a:r>
            <a:endParaRPr lang="en-IN" sz="2400" dirty="0"/>
          </a:p>
        </p:txBody>
      </p:sp>
      <p:sp>
        <p:nvSpPr>
          <p:cNvPr id="4" name="TextBox 3">
            <a:extLst>
              <a:ext uri="{FF2B5EF4-FFF2-40B4-BE49-F238E27FC236}">
                <a16:creationId xmlns:a16="http://schemas.microsoft.com/office/drawing/2014/main" id="{7794B82F-C9F4-1C56-2446-1FE8669235D3}"/>
              </a:ext>
            </a:extLst>
          </p:cNvPr>
          <p:cNvSpPr txBox="1"/>
          <p:nvPr/>
        </p:nvSpPr>
        <p:spPr>
          <a:xfrm>
            <a:off x="7084088" y="2210636"/>
            <a:ext cx="4453932" cy="2585323"/>
          </a:xfrm>
          <a:prstGeom prst="rect">
            <a:avLst/>
          </a:prstGeom>
          <a:solidFill>
            <a:srgbClr val="D05400"/>
          </a:solidFill>
        </p:spPr>
        <p:txBody>
          <a:bodyPr wrap="square" rtlCol="0">
            <a:spAutoFit/>
          </a:bodyPr>
          <a:lstStyle/>
          <a:p>
            <a:r>
              <a:rPr lang="en-IN" dirty="0">
                <a:solidFill>
                  <a:schemeClr val="bg1"/>
                </a:solidFill>
              </a:rPr>
              <a:t>CO5: </a:t>
            </a:r>
            <a:r>
              <a:rPr lang="en-US" dirty="0">
                <a:solidFill>
                  <a:schemeClr val="bg1"/>
                </a:solidFill>
              </a:rPr>
              <a:t>Illustrate different types of learning techniques used in intelligent systems</a:t>
            </a:r>
          </a:p>
          <a:p>
            <a:r>
              <a:rPr lang="en-US" dirty="0">
                <a:solidFill>
                  <a:schemeClr val="bg1"/>
                </a:solidFill>
              </a:rPr>
              <a:t>(Cognitive Knowledge Level: Understand)</a:t>
            </a:r>
          </a:p>
          <a:p>
            <a:endParaRPr lang="en-US" dirty="0">
              <a:solidFill>
                <a:schemeClr val="bg1"/>
              </a:solidFill>
            </a:endParaRPr>
          </a:p>
          <a:p>
            <a:endParaRPr lang="en-IN" dirty="0">
              <a:solidFill>
                <a:schemeClr val="bg1"/>
              </a:solidFill>
            </a:endParaRPr>
          </a:p>
          <a:p>
            <a:r>
              <a:rPr lang="en-IN" dirty="0">
                <a:solidFill>
                  <a:schemeClr val="bg1"/>
                </a:solidFill>
              </a:rPr>
              <a:t>PO1-Engineering Knowledge</a:t>
            </a:r>
          </a:p>
          <a:p>
            <a:r>
              <a:rPr lang="en-IN" dirty="0">
                <a:solidFill>
                  <a:schemeClr val="bg1"/>
                </a:solidFill>
              </a:rPr>
              <a:t>PO2 Problem Analysis</a:t>
            </a:r>
          </a:p>
          <a:p>
            <a:r>
              <a:rPr lang="en-IN" dirty="0">
                <a:solidFill>
                  <a:schemeClr val="bg1"/>
                </a:solidFill>
              </a:rPr>
              <a:t>PO5 Modern tool usage </a:t>
            </a:r>
          </a:p>
          <a:p>
            <a:r>
              <a:rPr lang="en-IN" dirty="0">
                <a:solidFill>
                  <a:schemeClr val="bg1"/>
                </a:solidFill>
              </a:rPr>
              <a:t>PO12 Life long learning</a:t>
            </a:r>
          </a:p>
        </p:txBody>
      </p:sp>
      <p:sp>
        <p:nvSpPr>
          <p:cNvPr id="5" name="Footer Placeholder 4">
            <a:extLst>
              <a:ext uri="{FF2B5EF4-FFF2-40B4-BE49-F238E27FC236}">
                <a16:creationId xmlns:a16="http://schemas.microsoft.com/office/drawing/2014/main" id="{A815DC3C-CB0B-C775-BC89-87B9C156A269}"/>
              </a:ext>
            </a:extLst>
          </p:cNvPr>
          <p:cNvSpPr>
            <a:spLocks noGrp="1"/>
          </p:cNvSpPr>
          <p:nvPr>
            <p:ph type="ftr" sz="quarter" idx="11"/>
          </p:nvPr>
        </p:nvSpPr>
        <p:spPr/>
        <p:txBody>
          <a:bodyPr/>
          <a:lstStyle/>
          <a:p>
            <a:r>
              <a:rPr lang="en-IN"/>
              <a:t>DEPARTMENT OF CSE SNGCE</a:t>
            </a:r>
          </a:p>
        </p:txBody>
      </p:sp>
      <p:sp>
        <p:nvSpPr>
          <p:cNvPr id="6" name="Slide Number Placeholder 5">
            <a:extLst>
              <a:ext uri="{FF2B5EF4-FFF2-40B4-BE49-F238E27FC236}">
                <a16:creationId xmlns:a16="http://schemas.microsoft.com/office/drawing/2014/main" id="{34609CAD-1ED6-D12F-2BDE-5A88DF44A6CA}"/>
              </a:ext>
            </a:extLst>
          </p:cNvPr>
          <p:cNvSpPr>
            <a:spLocks noGrp="1"/>
          </p:cNvSpPr>
          <p:nvPr>
            <p:ph type="sldNum" sz="quarter" idx="12"/>
          </p:nvPr>
        </p:nvSpPr>
        <p:spPr/>
        <p:txBody>
          <a:bodyPr/>
          <a:lstStyle/>
          <a:p>
            <a:fld id="{1E81A027-E3F7-4FC9-A752-E855AD4A687D}" type="slidenum">
              <a:rPr lang="en-IN" smtClean="0"/>
              <a:t>8</a:t>
            </a:fld>
            <a:endParaRPr lang="en-IN"/>
          </a:p>
        </p:txBody>
      </p:sp>
    </p:spTree>
    <p:extLst>
      <p:ext uri="{BB962C8B-B14F-4D97-AF65-F5344CB8AC3E}">
        <p14:creationId xmlns:p14="http://schemas.microsoft.com/office/powerpoint/2010/main" val="270248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E878A-DF19-CAE9-E375-F367EBE921AC}"/>
              </a:ext>
            </a:extLst>
          </p:cNvPr>
          <p:cNvSpPr>
            <a:spLocks noGrp="1"/>
          </p:cNvSpPr>
          <p:nvPr>
            <p:ph type="title"/>
          </p:nvPr>
        </p:nvSpPr>
        <p:spPr/>
        <p:txBody>
          <a:bodyPr>
            <a:normAutofit/>
          </a:bodyPr>
          <a:lstStyle/>
          <a:p>
            <a:r>
              <a:rPr lang="en-IN" dirty="0"/>
              <a:t>Learning From Example</a:t>
            </a:r>
          </a:p>
        </p:txBody>
      </p:sp>
      <p:sp>
        <p:nvSpPr>
          <p:cNvPr id="3" name="Content Placeholder 2">
            <a:extLst>
              <a:ext uri="{FF2B5EF4-FFF2-40B4-BE49-F238E27FC236}">
                <a16:creationId xmlns:a16="http://schemas.microsoft.com/office/drawing/2014/main" id="{5F46D361-8128-5526-3C76-A5B61EA8AB0C}"/>
              </a:ext>
            </a:extLst>
          </p:cNvPr>
          <p:cNvSpPr>
            <a:spLocks noGrp="1"/>
          </p:cNvSpPr>
          <p:nvPr>
            <p:ph idx="1"/>
          </p:nvPr>
        </p:nvSpPr>
        <p:spPr/>
        <p:txBody>
          <a:bodyPr>
            <a:normAutofit/>
          </a:bodyPr>
          <a:lstStyle/>
          <a:p>
            <a:pPr algn="ctr"/>
            <a:r>
              <a:rPr lang="en-US" sz="3200" i="1" dirty="0">
                <a:solidFill>
                  <a:srgbClr val="FF0000"/>
                </a:solidFill>
              </a:rPr>
              <a:t>Agents that can improve their behavior through diligent study of their own experiences</a:t>
            </a:r>
            <a:endParaRPr lang="en-IN" sz="3600" i="1" dirty="0">
              <a:solidFill>
                <a:srgbClr val="FF0000"/>
              </a:solidFill>
            </a:endParaRPr>
          </a:p>
        </p:txBody>
      </p:sp>
      <p:sp>
        <p:nvSpPr>
          <p:cNvPr id="4" name="Footer Placeholder 3">
            <a:extLst>
              <a:ext uri="{FF2B5EF4-FFF2-40B4-BE49-F238E27FC236}">
                <a16:creationId xmlns:a16="http://schemas.microsoft.com/office/drawing/2014/main" id="{F4D3727F-F6B1-6333-581E-1E1F32AADBEC}"/>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73F50E2A-E9F6-3EDB-38C4-C7F58BEE5E3F}"/>
              </a:ext>
            </a:extLst>
          </p:cNvPr>
          <p:cNvSpPr>
            <a:spLocks noGrp="1"/>
          </p:cNvSpPr>
          <p:nvPr>
            <p:ph type="sldNum" sz="quarter" idx="12"/>
          </p:nvPr>
        </p:nvSpPr>
        <p:spPr/>
        <p:txBody>
          <a:bodyPr/>
          <a:lstStyle/>
          <a:p>
            <a:fld id="{1E81A027-E3F7-4FC9-A752-E855AD4A687D}" type="slidenum">
              <a:rPr lang="en-IN" smtClean="0"/>
              <a:t>9</a:t>
            </a:fld>
            <a:endParaRPr lang="en-IN"/>
          </a:p>
        </p:txBody>
      </p:sp>
    </p:spTree>
    <p:extLst>
      <p:ext uri="{BB962C8B-B14F-4D97-AF65-F5344CB8AC3E}">
        <p14:creationId xmlns:p14="http://schemas.microsoft.com/office/powerpoint/2010/main" val="1435854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CCB11-09FE-BFDD-1440-C3991ABC1E6B}"/>
              </a:ext>
            </a:extLst>
          </p:cNvPr>
          <p:cNvSpPr>
            <a:spLocks noGrp="1"/>
          </p:cNvSpPr>
          <p:nvPr>
            <p:ph type="title"/>
          </p:nvPr>
        </p:nvSpPr>
        <p:spPr/>
        <p:txBody>
          <a:bodyPr/>
          <a:lstStyle/>
          <a:p>
            <a:r>
              <a:rPr lang="en-IN" dirty="0"/>
              <a:t>Learning</a:t>
            </a:r>
          </a:p>
        </p:txBody>
      </p:sp>
      <p:sp>
        <p:nvSpPr>
          <p:cNvPr id="3" name="Content Placeholder 2">
            <a:extLst>
              <a:ext uri="{FF2B5EF4-FFF2-40B4-BE49-F238E27FC236}">
                <a16:creationId xmlns:a16="http://schemas.microsoft.com/office/drawing/2014/main" id="{179BD297-1674-788F-6460-18F8E12BAE95}"/>
              </a:ext>
            </a:extLst>
          </p:cNvPr>
          <p:cNvSpPr>
            <a:spLocks noGrp="1"/>
          </p:cNvSpPr>
          <p:nvPr>
            <p:ph idx="1"/>
          </p:nvPr>
        </p:nvSpPr>
        <p:spPr/>
        <p:txBody>
          <a:bodyPr/>
          <a:lstStyle/>
          <a:p>
            <a:r>
              <a:rPr lang="en-US" dirty="0"/>
              <a:t>An agent is learning if it improves its performance on future tasks after making observations about the world</a:t>
            </a:r>
            <a:endParaRPr lang="en-IN" dirty="0"/>
          </a:p>
        </p:txBody>
      </p:sp>
      <p:sp>
        <p:nvSpPr>
          <p:cNvPr id="4" name="Footer Placeholder 3">
            <a:extLst>
              <a:ext uri="{FF2B5EF4-FFF2-40B4-BE49-F238E27FC236}">
                <a16:creationId xmlns:a16="http://schemas.microsoft.com/office/drawing/2014/main" id="{07FCD1E3-8AC5-68EA-76F1-71055DF0AEB9}"/>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FF1533DD-9786-BC81-9860-9BFF4AD0E823}"/>
              </a:ext>
            </a:extLst>
          </p:cNvPr>
          <p:cNvSpPr>
            <a:spLocks noGrp="1"/>
          </p:cNvSpPr>
          <p:nvPr>
            <p:ph type="sldNum" sz="quarter" idx="12"/>
          </p:nvPr>
        </p:nvSpPr>
        <p:spPr/>
        <p:txBody>
          <a:bodyPr/>
          <a:lstStyle/>
          <a:p>
            <a:fld id="{1E81A027-E3F7-4FC9-A752-E855AD4A687D}" type="slidenum">
              <a:rPr lang="en-IN" smtClean="0"/>
              <a:t>10</a:t>
            </a:fld>
            <a:endParaRPr lang="en-IN"/>
          </a:p>
        </p:txBody>
      </p:sp>
    </p:spTree>
    <p:extLst>
      <p:ext uri="{BB962C8B-B14F-4D97-AF65-F5344CB8AC3E}">
        <p14:creationId xmlns:p14="http://schemas.microsoft.com/office/powerpoint/2010/main" val="113763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CDB7C-9E1B-40EE-921B-B55211B99F4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9C90404-B0E8-7D14-6E64-A4185B2128BF}"/>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338DD92B-54A8-0B0C-8043-9852B04940EA}"/>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273C9DE3-A16B-A1AA-640E-9C0127801794}"/>
              </a:ext>
            </a:extLst>
          </p:cNvPr>
          <p:cNvSpPr>
            <a:spLocks noGrp="1"/>
          </p:cNvSpPr>
          <p:nvPr>
            <p:ph type="sldNum" sz="quarter" idx="12"/>
          </p:nvPr>
        </p:nvSpPr>
        <p:spPr/>
        <p:txBody>
          <a:bodyPr/>
          <a:lstStyle/>
          <a:p>
            <a:fld id="{1E81A027-E3F7-4FC9-A752-E855AD4A687D}" type="slidenum">
              <a:rPr lang="en-IN" smtClean="0"/>
              <a:t>11</a:t>
            </a:fld>
            <a:endParaRPr lang="en-IN"/>
          </a:p>
        </p:txBody>
      </p:sp>
      <p:pic>
        <p:nvPicPr>
          <p:cNvPr id="7" name="Picture 6">
            <a:extLst>
              <a:ext uri="{FF2B5EF4-FFF2-40B4-BE49-F238E27FC236}">
                <a16:creationId xmlns:a16="http://schemas.microsoft.com/office/drawing/2014/main" id="{32619EC3-6D33-1093-7702-07293873C999}"/>
              </a:ext>
            </a:extLst>
          </p:cNvPr>
          <p:cNvPicPr>
            <a:picLocks noChangeAspect="1"/>
          </p:cNvPicPr>
          <p:nvPr/>
        </p:nvPicPr>
        <p:blipFill>
          <a:blip r:embed="rId2"/>
          <a:stretch>
            <a:fillRect/>
          </a:stretch>
        </p:blipFill>
        <p:spPr>
          <a:xfrm>
            <a:off x="1763654" y="1295215"/>
            <a:ext cx="8664691" cy="4267570"/>
          </a:xfrm>
          <a:prstGeom prst="rect">
            <a:avLst/>
          </a:prstGeom>
        </p:spPr>
      </p:pic>
    </p:spTree>
    <p:extLst>
      <p:ext uri="{BB962C8B-B14F-4D97-AF65-F5344CB8AC3E}">
        <p14:creationId xmlns:p14="http://schemas.microsoft.com/office/powerpoint/2010/main" val="2094900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B44C4-55CB-9E47-CBD2-081C4C48E54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8AF16F5-91B7-B019-B6FF-AE8BCFCE0B82}"/>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7A613B2C-AC74-ED7D-612D-04BD378A6982}"/>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992EF311-F250-B95E-C6F6-D6BEBCB31777}"/>
              </a:ext>
            </a:extLst>
          </p:cNvPr>
          <p:cNvSpPr>
            <a:spLocks noGrp="1"/>
          </p:cNvSpPr>
          <p:nvPr>
            <p:ph type="sldNum" sz="quarter" idx="12"/>
          </p:nvPr>
        </p:nvSpPr>
        <p:spPr/>
        <p:txBody>
          <a:bodyPr/>
          <a:lstStyle/>
          <a:p>
            <a:fld id="{1E81A027-E3F7-4FC9-A752-E855AD4A687D}" type="slidenum">
              <a:rPr lang="en-IN" smtClean="0"/>
              <a:t>12</a:t>
            </a:fld>
            <a:endParaRPr lang="en-IN"/>
          </a:p>
        </p:txBody>
      </p:sp>
      <p:pic>
        <p:nvPicPr>
          <p:cNvPr id="7" name="Picture 6">
            <a:extLst>
              <a:ext uri="{FF2B5EF4-FFF2-40B4-BE49-F238E27FC236}">
                <a16:creationId xmlns:a16="http://schemas.microsoft.com/office/drawing/2014/main" id="{F6FFFCAF-49A8-A3CC-3B5C-BB6AFDFB43ED}"/>
              </a:ext>
            </a:extLst>
          </p:cNvPr>
          <p:cNvPicPr>
            <a:picLocks noChangeAspect="1"/>
          </p:cNvPicPr>
          <p:nvPr/>
        </p:nvPicPr>
        <p:blipFill>
          <a:blip r:embed="rId2"/>
          <a:stretch>
            <a:fillRect/>
          </a:stretch>
        </p:blipFill>
        <p:spPr>
          <a:xfrm>
            <a:off x="1916068" y="1333318"/>
            <a:ext cx="8359864" cy="4191363"/>
          </a:xfrm>
          <a:prstGeom prst="rect">
            <a:avLst/>
          </a:prstGeom>
        </p:spPr>
      </p:pic>
    </p:spTree>
    <p:extLst>
      <p:ext uri="{BB962C8B-B14F-4D97-AF65-F5344CB8AC3E}">
        <p14:creationId xmlns:p14="http://schemas.microsoft.com/office/powerpoint/2010/main" val="3202296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899C9-8B7B-2F8B-5114-244C00A8102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4F7DF0C-9713-FDBB-C87B-97953A165BF7}"/>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CF999CD3-B350-1737-26BB-FA661F60818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4AC59A8B-B09B-F52D-97DD-4E0DA8951853}"/>
              </a:ext>
            </a:extLst>
          </p:cNvPr>
          <p:cNvSpPr>
            <a:spLocks noGrp="1"/>
          </p:cNvSpPr>
          <p:nvPr>
            <p:ph type="sldNum" sz="quarter" idx="12"/>
          </p:nvPr>
        </p:nvSpPr>
        <p:spPr/>
        <p:txBody>
          <a:bodyPr/>
          <a:lstStyle/>
          <a:p>
            <a:fld id="{1E81A027-E3F7-4FC9-A752-E855AD4A687D}" type="slidenum">
              <a:rPr lang="en-IN" smtClean="0"/>
              <a:t>13</a:t>
            </a:fld>
            <a:endParaRPr lang="en-IN"/>
          </a:p>
        </p:txBody>
      </p:sp>
      <p:pic>
        <p:nvPicPr>
          <p:cNvPr id="7" name="Picture 6">
            <a:extLst>
              <a:ext uri="{FF2B5EF4-FFF2-40B4-BE49-F238E27FC236}">
                <a16:creationId xmlns:a16="http://schemas.microsoft.com/office/drawing/2014/main" id="{62A3824A-80B0-18EA-7EA3-621EF68F0326}"/>
              </a:ext>
            </a:extLst>
          </p:cNvPr>
          <p:cNvPicPr>
            <a:picLocks noChangeAspect="1"/>
          </p:cNvPicPr>
          <p:nvPr/>
        </p:nvPicPr>
        <p:blipFill>
          <a:blip r:embed="rId2"/>
          <a:stretch>
            <a:fillRect/>
          </a:stretch>
        </p:blipFill>
        <p:spPr>
          <a:xfrm>
            <a:off x="2049429" y="1340939"/>
            <a:ext cx="8093141" cy="4176122"/>
          </a:xfrm>
          <a:prstGeom prst="rect">
            <a:avLst/>
          </a:prstGeom>
        </p:spPr>
      </p:pic>
    </p:spTree>
    <p:extLst>
      <p:ext uri="{BB962C8B-B14F-4D97-AF65-F5344CB8AC3E}">
        <p14:creationId xmlns:p14="http://schemas.microsoft.com/office/powerpoint/2010/main" val="883517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5C097-A2BA-F0CD-16D8-AD38FC837F6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19CB4C6-B223-1482-E6C5-17DA4A6674A0}"/>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BAA746FA-FC1D-7919-BCE6-33B869152EC6}"/>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8C0A6FFB-DBC3-C145-A0D4-EF6616F84AD5}"/>
              </a:ext>
            </a:extLst>
          </p:cNvPr>
          <p:cNvSpPr>
            <a:spLocks noGrp="1"/>
          </p:cNvSpPr>
          <p:nvPr>
            <p:ph type="sldNum" sz="quarter" idx="12"/>
          </p:nvPr>
        </p:nvSpPr>
        <p:spPr/>
        <p:txBody>
          <a:bodyPr/>
          <a:lstStyle/>
          <a:p>
            <a:fld id="{1E81A027-E3F7-4FC9-A752-E855AD4A687D}" type="slidenum">
              <a:rPr lang="en-IN" smtClean="0"/>
              <a:t>14</a:t>
            </a:fld>
            <a:endParaRPr lang="en-IN"/>
          </a:p>
        </p:txBody>
      </p:sp>
      <p:pic>
        <p:nvPicPr>
          <p:cNvPr id="7" name="Picture 6">
            <a:extLst>
              <a:ext uri="{FF2B5EF4-FFF2-40B4-BE49-F238E27FC236}">
                <a16:creationId xmlns:a16="http://schemas.microsoft.com/office/drawing/2014/main" id="{A178E54B-9C91-061A-0170-5F4431D8F71B}"/>
              </a:ext>
            </a:extLst>
          </p:cNvPr>
          <p:cNvPicPr>
            <a:picLocks noChangeAspect="1"/>
          </p:cNvPicPr>
          <p:nvPr/>
        </p:nvPicPr>
        <p:blipFill>
          <a:blip r:embed="rId2"/>
          <a:stretch>
            <a:fillRect/>
          </a:stretch>
        </p:blipFill>
        <p:spPr>
          <a:xfrm>
            <a:off x="2091343" y="1283784"/>
            <a:ext cx="8009314" cy="4290432"/>
          </a:xfrm>
          <a:prstGeom prst="rect">
            <a:avLst/>
          </a:prstGeom>
        </p:spPr>
      </p:pic>
    </p:spTree>
    <p:extLst>
      <p:ext uri="{BB962C8B-B14F-4D97-AF65-F5344CB8AC3E}">
        <p14:creationId xmlns:p14="http://schemas.microsoft.com/office/powerpoint/2010/main" val="967004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2B237-D82D-ECBE-F79B-5FA94BE974E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BA36A4B-2CE8-0D18-E765-88FEF5A9B14A}"/>
              </a:ext>
            </a:extLst>
          </p:cNvPr>
          <p:cNvSpPr>
            <a:spLocks noGrp="1"/>
          </p:cNvSpPr>
          <p:nvPr>
            <p:ph idx="1"/>
          </p:nvPr>
        </p:nvSpPr>
        <p:spPr/>
        <p:txBody>
          <a:bodyPr/>
          <a:lstStyle/>
          <a:p>
            <a:endParaRPr lang="en-IN" dirty="0"/>
          </a:p>
        </p:txBody>
      </p:sp>
      <p:sp>
        <p:nvSpPr>
          <p:cNvPr id="4" name="Footer Placeholder 3">
            <a:extLst>
              <a:ext uri="{FF2B5EF4-FFF2-40B4-BE49-F238E27FC236}">
                <a16:creationId xmlns:a16="http://schemas.microsoft.com/office/drawing/2014/main" id="{BF1EE89A-F6AB-975D-A9D0-DA689832532E}"/>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C430A41C-A3CC-9EC7-9DBF-844FA037743B}"/>
              </a:ext>
            </a:extLst>
          </p:cNvPr>
          <p:cNvSpPr>
            <a:spLocks noGrp="1"/>
          </p:cNvSpPr>
          <p:nvPr>
            <p:ph type="sldNum" sz="quarter" idx="12"/>
          </p:nvPr>
        </p:nvSpPr>
        <p:spPr/>
        <p:txBody>
          <a:bodyPr/>
          <a:lstStyle/>
          <a:p>
            <a:fld id="{1E81A027-E3F7-4FC9-A752-E855AD4A687D}" type="slidenum">
              <a:rPr lang="en-IN" smtClean="0"/>
              <a:t>15</a:t>
            </a:fld>
            <a:endParaRPr lang="en-IN"/>
          </a:p>
        </p:txBody>
      </p:sp>
      <p:pic>
        <p:nvPicPr>
          <p:cNvPr id="7" name="Picture 6">
            <a:extLst>
              <a:ext uri="{FF2B5EF4-FFF2-40B4-BE49-F238E27FC236}">
                <a16:creationId xmlns:a16="http://schemas.microsoft.com/office/drawing/2014/main" id="{A30795AC-4C30-6857-98FE-E823F420AF75}"/>
              </a:ext>
            </a:extLst>
          </p:cNvPr>
          <p:cNvPicPr>
            <a:picLocks noChangeAspect="1"/>
          </p:cNvPicPr>
          <p:nvPr/>
        </p:nvPicPr>
        <p:blipFill>
          <a:blip r:embed="rId2"/>
          <a:stretch>
            <a:fillRect/>
          </a:stretch>
        </p:blipFill>
        <p:spPr>
          <a:xfrm>
            <a:off x="803866" y="456241"/>
            <a:ext cx="9995415" cy="5123465"/>
          </a:xfrm>
          <a:prstGeom prst="rect">
            <a:avLst/>
          </a:prstGeom>
        </p:spPr>
      </p:pic>
    </p:spTree>
    <p:extLst>
      <p:ext uri="{BB962C8B-B14F-4D97-AF65-F5344CB8AC3E}">
        <p14:creationId xmlns:p14="http://schemas.microsoft.com/office/powerpoint/2010/main" val="2008943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D0F7B-A9AA-EF23-015C-594AE73FB77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3F32AB6-F9E4-678F-0610-4D6CD6ED96D5}"/>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A315C468-1798-5FDB-0302-DBAA1ED7468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19F32DFC-7186-21F6-4494-D13D0003E237}"/>
              </a:ext>
            </a:extLst>
          </p:cNvPr>
          <p:cNvSpPr>
            <a:spLocks noGrp="1"/>
          </p:cNvSpPr>
          <p:nvPr>
            <p:ph type="sldNum" sz="quarter" idx="12"/>
          </p:nvPr>
        </p:nvSpPr>
        <p:spPr/>
        <p:txBody>
          <a:bodyPr/>
          <a:lstStyle/>
          <a:p>
            <a:fld id="{1E81A027-E3F7-4FC9-A752-E855AD4A687D}" type="slidenum">
              <a:rPr lang="en-IN" smtClean="0"/>
              <a:t>16</a:t>
            </a:fld>
            <a:endParaRPr lang="en-IN"/>
          </a:p>
        </p:txBody>
      </p:sp>
      <p:pic>
        <p:nvPicPr>
          <p:cNvPr id="7" name="Picture 6">
            <a:extLst>
              <a:ext uri="{FF2B5EF4-FFF2-40B4-BE49-F238E27FC236}">
                <a16:creationId xmlns:a16="http://schemas.microsoft.com/office/drawing/2014/main" id="{6B5F95CE-5039-01E8-0AC0-FBF25BA84AE5}"/>
              </a:ext>
            </a:extLst>
          </p:cNvPr>
          <p:cNvPicPr>
            <a:picLocks noChangeAspect="1"/>
          </p:cNvPicPr>
          <p:nvPr/>
        </p:nvPicPr>
        <p:blipFill>
          <a:blip r:embed="rId2"/>
          <a:stretch>
            <a:fillRect/>
          </a:stretch>
        </p:blipFill>
        <p:spPr>
          <a:xfrm>
            <a:off x="322445" y="769244"/>
            <a:ext cx="11574086" cy="5544298"/>
          </a:xfrm>
          <a:prstGeom prst="rect">
            <a:avLst/>
          </a:prstGeom>
        </p:spPr>
      </p:pic>
    </p:spTree>
    <p:extLst>
      <p:ext uri="{BB962C8B-B14F-4D97-AF65-F5344CB8AC3E}">
        <p14:creationId xmlns:p14="http://schemas.microsoft.com/office/powerpoint/2010/main" val="3417285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D6CDF-C222-9414-2E8E-316AC987AF4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431165D-2283-1862-0576-9A5B0BBB2C40}"/>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DFD6627C-D24B-3EF5-F6D6-9ECB5A4879FA}"/>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568CAA54-291C-16D5-F067-4E1905DC9625}"/>
              </a:ext>
            </a:extLst>
          </p:cNvPr>
          <p:cNvSpPr>
            <a:spLocks noGrp="1"/>
          </p:cNvSpPr>
          <p:nvPr>
            <p:ph type="sldNum" sz="quarter" idx="12"/>
          </p:nvPr>
        </p:nvSpPr>
        <p:spPr/>
        <p:txBody>
          <a:bodyPr/>
          <a:lstStyle/>
          <a:p>
            <a:fld id="{1E81A027-E3F7-4FC9-A752-E855AD4A687D}" type="slidenum">
              <a:rPr lang="en-IN" smtClean="0"/>
              <a:t>17</a:t>
            </a:fld>
            <a:endParaRPr lang="en-IN"/>
          </a:p>
        </p:txBody>
      </p:sp>
      <p:pic>
        <p:nvPicPr>
          <p:cNvPr id="7" name="Picture 6">
            <a:extLst>
              <a:ext uri="{FF2B5EF4-FFF2-40B4-BE49-F238E27FC236}">
                <a16:creationId xmlns:a16="http://schemas.microsoft.com/office/drawing/2014/main" id="{D4762D7F-1F02-457F-9988-7B529376DCD3}"/>
              </a:ext>
            </a:extLst>
          </p:cNvPr>
          <p:cNvPicPr>
            <a:picLocks noChangeAspect="1"/>
          </p:cNvPicPr>
          <p:nvPr/>
        </p:nvPicPr>
        <p:blipFill>
          <a:blip r:embed="rId2"/>
          <a:stretch>
            <a:fillRect/>
          </a:stretch>
        </p:blipFill>
        <p:spPr>
          <a:xfrm>
            <a:off x="179847" y="615400"/>
            <a:ext cx="11595386" cy="5581140"/>
          </a:xfrm>
          <a:prstGeom prst="rect">
            <a:avLst/>
          </a:prstGeom>
        </p:spPr>
      </p:pic>
    </p:spTree>
    <p:extLst>
      <p:ext uri="{BB962C8B-B14F-4D97-AF65-F5344CB8AC3E}">
        <p14:creationId xmlns:p14="http://schemas.microsoft.com/office/powerpoint/2010/main" val="38449024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356AA-8F1D-3A02-0700-2355877D348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C9CAC8E-B903-0021-865E-BB3AD9148C39}"/>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0927AA16-FF86-DB38-0BC0-6C15C7DEAE49}"/>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EF18805F-0754-DA2B-B6F4-4DA5A2D92751}"/>
              </a:ext>
            </a:extLst>
          </p:cNvPr>
          <p:cNvSpPr>
            <a:spLocks noGrp="1"/>
          </p:cNvSpPr>
          <p:nvPr>
            <p:ph type="sldNum" sz="quarter" idx="12"/>
          </p:nvPr>
        </p:nvSpPr>
        <p:spPr/>
        <p:txBody>
          <a:bodyPr/>
          <a:lstStyle/>
          <a:p>
            <a:fld id="{1E81A027-E3F7-4FC9-A752-E855AD4A687D}" type="slidenum">
              <a:rPr lang="en-IN" smtClean="0"/>
              <a:t>18</a:t>
            </a:fld>
            <a:endParaRPr lang="en-IN"/>
          </a:p>
        </p:txBody>
      </p:sp>
      <p:pic>
        <p:nvPicPr>
          <p:cNvPr id="7" name="Picture 6">
            <a:extLst>
              <a:ext uri="{FF2B5EF4-FFF2-40B4-BE49-F238E27FC236}">
                <a16:creationId xmlns:a16="http://schemas.microsoft.com/office/drawing/2014/main" id="{14F5718A-9DBB-97D5-C03D-5B397C80BE1D}"/>
              </a:ext>
            </a:extLst>
          </p:cNvPr>
          <p:cNvPicPr>
            <a:picLocks noChangeAspect="1"/>
          </p:cNvPicPr>
          <p:nvPr/>
        </p:nvPicPr>
        <p:blipFill>
          <a:blip r:embed="rId2"/>
          <a:stretch>
            <a:fillRect/>
          </a:stretch>
        </p:blipFill>
        <p:spPr>
          <a:xfrm>
            <a:off x="594594" y="398304"/>
            <a:ext cx="11371789" cy="5579163"/>
          </a:xfrm>
          <a:prstGeom prst="rect">
            <a:avLst/>
          </a:prstGeom>
        </p:spPr>
      </p:pic>
    </p:spTree>
    <p:extLst>
      <p:ext uri="{BB962C8B-B14F-4D97-AF65-F5344CB8AC3E}">
        <p14:creationId xmlns:p14="http://schemas.microsoft.com/office/powerpoint/2010/main" val="1642694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870F4-C67F-2639-BE04-FCABAC85DE15}"/>
              </a:ext>
            </a:extLst>
          </p:cNvPr>
          <p:cNvSpPr>
            <a:spLocks noGrp="1"/>
          </p:cNvSpPr>
          <p:nvPr>
            <p:ph type="title"/>
          </p:nvPr>
        </p:nvSpPr>
        <p:spPr/>
        <p:txBody>
          <a:bodyPr/>
          <a:lstStyle/>
          <a:p>
            <a:endParaRPr lang="en-IN"/>
          </a:p>
        </p:txBody>
      </p:sp>
      <p:pic>
        <p:nvPicPr>
          <p:cNvPr id="9" name="Content Placeholder 8">
            <a:extLst>
              <a:ext uri="{FF2B5EF4-FFF2-40B4-BE49-F238E27FC236}">
                <a16:creationId xmlns:a16="http://schemas.microsoft.com/office/drawing/2014/main" id="{F56C0141-D584-833A-C3E4-F07627C50E51}"/>
              </a:ext>
            </a:extLst>
          </p:cNvPr>
          <p:cNvPicPr>
            <a:picLocks noGrp="1" noChangeAspect="1"/>
          </p:cNvPicPr>
          <p:nvPr>
            <p:ph idx="1"/>
          </p:nvPr>
        </p:nvPicPr>
        <p:blipFill>
          <a:blip r:embed="rId2"/>
          <a:stretch>
            <a:fillRect/>
          </a:stretch>
        </p:blipFill>
        <p:spPr>
          <a:xfrm>
            <a:off x="7823711" y="138040"/>
            <a:ext cx="2887832" cy="5814300"/>
          </a:xfrm>
        </p:spPr>
      </p:pic>
      <p:sp>
        <p:nvSpPr>
          <p:cNvPr id="4" name="Footer Placeholder 3">
            <a:extLst>
              <a:ext uri="{FF2B5EF4-FFF2-40B4-BE49-F238E27FC236}">
                <a16:creationId xmlns:a16="http://schemas.microsoft.com/office/drawing/2014/main" id="{558E6BBB-D0E1-3F7B-79A5-717344B3D8B8}"/>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B3721A28-20D8-A63E-6A30-EF63AA0BA1D4}"/>
              </a:ext>
            </a:extLst>
          </p:cNvPr>
          <p:cNvSpPr>
            <a:spLocks noGrp="1"/>
          </p:cNvSpPr>
          <p:nvPr>
            <p:ph type="sldNum" sz="quarter" idx="12"/>
          </p:nvPr>
        </p:nvSpPr>
        <p:spPr/>
        <p:txBody>
          <a:bodyPr/>
          <a:lstStyle/>
          <a:p>
            <a:fld id="{1E81A027-E3F7-4FC9-A752-E855AD4A687D}" type="slidenum">
              <a:rPr lang="en-IN" smtClean="0"/>
              <a:t>19</a:t>
            </a:fld>
            <a:endParaRPr lang="en-IN"/>
          </a:p>
        </p:txBody>
      </p:sp>
      <p:pic>
        <p:nvPicPr>
          <p:cNvPr id="7" name="Picture 6">
            <a:extLst>
              <a:ext uri="{FF2B5EF4-FFF2-40B4-BE49-F238E27FC236}">
                <a16:creationId xmlns:a16="http://schemas.microsoft.com/office/drawing/2014/main" id="{D1CBF4A3-F3AB-6BBE-A94F-C846708ACB49}"/>
              </a:ext>
            </a:extLst>
          </p:cNvPr>
          <p:cNvPicPr>
            <a:picLocks noChangeAspect="1"/>
          </p:cNvPicPr>
          <p:nvPr/>
        </p:nvPicPr>
        <p:blipFill>
          <a:blip r:embed="rId3"/>
          <a:stretch>
            <a:fillRect/>
          </a:stretch>
        </p:blipFill>
        <p:spPr>
          <a:xfrm>
            <a:off x="0" y="73419"/>
            <a:ext cx="7477532" cy="5811050"/>
          </a:xfrm>
          <a:prstGeom prst="rect">
            <a:avLst/>
          </a:prstGeom>
        </p:spPr>
      </p:pic>
    </p:spTree>
    <p:extLst>
      <p:ext uri="{BB962C8B-B14F-4D97-AF65-F5344CB8AC3E}">
        <p14:creationId xmlns:p14="http://schemas.microsoft.com/office/powerpoint/2010/main" val="2273586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AC048-9494-0762-7355-51A07A9D619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3713185-1501-E3CE-FD3B-F0634469CF8A}"/>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C44E6958-5687-9E68-83F2-22AE6C19F428}"/>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526A66F5-9854-DE0B-326A-13C757B29281}"/>
              </a:ext>
            </a:extLst>
          </p:cNvPr>
          <p:cNvSpPr>
            <a:spLocks noGrp="1"/>
          </p:cNvSpPr>
          <p:nvPr>
            <p:ph type="sldNum" sz="quarter" idx="12"/>
          </p:nvPr>
        </p:nvSpPr>
        <p:spPr/>
        <p:txBody>
          <a:bodyPr/>
          <a:lstStyle/>
          <a:p>
            <a:fld id="{1E81A027-E3F7-4FC9-A752-E855AD4A687D}" type="slidenum">
              <a:rPr lang="en-IN" smtClean="0"/>
              <a:t>20</a:t>
            </a:fld>
            <a:endParaRPr lang="en-IN"/>
          </a:p>
        </p:txBody>
      </p:sp>
      <p:pic>
        <p:nvPicPr>
          <p:cNvPr id="7" name="Picture 6">
            <a:extLst>
              <a:ext uri="{FF2B5EF4-FFF2-40B4-BE49-F238E27FC236}">
                <a16:creationId xmlns:a16="http://schemas.microsoft.com/office/drawing/2014/main" id="{1030068F-EBCB-AC1C-37A6-E84AFB9864C6}"/>
              </a:ext>
            </a:extLst>
          </p:cNvPr>
          <p:cNvPicPr>
            <a:picLocks noChangeAspect="1"/>
          </p:cNvPicPr>
          <p:nvPr/>
        </p:nvPicPr>
        <p:blipFill>
          <a:blip r:embed="rId2"/>
          <a:stretch>
            <a:fillRect/>
          </a:stretch>
        </p:blipFill>
        <p:spPr>
          <a:xfrm>
            <a:off x="256593" y="629805"/>
            <a:ext cx="11826156" cy="5052537"/>
          </a:xfrm>
          <a:prstGeom prst="rect">
            <a:avLst/>
          </a:prstGeom>
        </p:spPr>
      </p:pic>
    </p:spTree>
    <p:extLst>
      <p:ext uri="{BB962C8B-B14F-4D97-AF65-F5344CB8AC3E}">
        <p14:creationId xmlns:p14="http://schemas.microsoft.com/office/powerpoint/2010/main" val="3561041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77C5B-DDA0-6E9D-5A8B-7D176DF9AC4D}"/>
              </a:ext>
            </a:extLst>
          </p:cNvPr>
          <p:cNvSpPr>
            <a:spLocks noGrp="1"/>
          </p:cNvSpPr>
          <p:nvPr>
            <p:ph type="title"/>
          </p:nvPr>
        </p:nvSpPr>
        <p:spPr/>
        <p:txBody>
          <a:bodyPr/>
          <a:lstStyle/>
          <a:p>
            <a:r>
              <a:rPr lang="en-US" dirty="0"/>
              <a:t>Machine Learning</a:t>
            </a:r>
            <a:endParaRPr lang="en-IN" dirty="0"/>
          </a:p>
        </p:txBody>
      </p:sp>
      <p:sp>
        <p:nvSpPr>
          <p:cNvPr id="3" name="Content Placeholder 2">
            <a:extLst>
              <a:ext uri="{FF2B5EF4-FFF2-40B4-BE49-F238E27FC236}">
                <a16:creationId xmlns:a16="http://schemas.microsoft.com/office/drawing/2014/main" id="{C40CA408-487F-A2BE-DC65-C98B9FA3D911}"/>
              </a:ext>
            </a:extLst>
          </p:cNvPr>
          <p:cNvSpPr>
            <a:spLocks noGrp="1"/>
          </p:cNvSpPr>
          <p:nvPr>
            <p:ph idx="1"/>
          </p:nvPr>
        </p:nvSpPr>
        <p:spPr/>
        <p:txBody>
          <a:bodyPr>
            <a:normAutofit/>
          </a:bodyPr>
          <a:lstStyle/>
          <a:p>
            <a:r>
              <a:rPr lang="en-US" sz="2800" dirty="0"/>
              <a:t>An algorithmic way of making sense (learning) from data.</a:t>
            </a:r>
          </a:p>
        </p:txBody>
      </p:sp>
      <p:sp>
        <p:nvSpPr>
          <p:cNvPr id="4" name="Footer Placeholder 3">
            <a:extLst>
              <a:ext uri="{FF2B5EF4-FFF2-40B4-BE49-F238E27FC236}">
                <a16:creationId xmlns:a16="http://schemas.microsoft.com/office/drawing/2014/main" id="{BD54792F-3486-BABC-C274-A0BA0D8DD97A}"/>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16ED678B-748F-33F1-2365-583BA1A058FB}"/>
              </a:ext>
            </a:extLst>
          </p:cNvPr>
          <p:cNvSpPr>
            <a:spLocks noGrp="1"/>
          </p:cNvSpPr>
          <p:nvPr>
            <p:ph type="sldNum" sz="quarter" idx="12"/>
          </p:nvPr>
        </p:nvSpPr>
        <p:spPr/>
        <p:txBody>
          <a:bodyPr/>
          <a:lstStyle/>
          <a:p>
            <a:fld id="{1E81A027-E3F7-4FC9-A752-E855AD4A687D}" type="slidenum">
              <a:rPr lang="en-IN" smtClean="0"/>
              <a:t>21</a:t>
            </a:fld>
            <a:endParaRPr lang="en-IN"/>
          </a:p>
        </p:txBody>
      </p:sp>
    </p:spTree>
    <p:extLst>
      <p:ext uri="{BB962C8B-B14F-4D97-AF65-F5344CB8AC3E}">
        <p14:creationId xmlns:p14="http://schemas.microsoft.com/office/powerpoint/2010/main" val="15144550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6DAF8-836C-DFC8-B57D-423A10012C1B}"/>
              </a:ext>
            </a:extLst>
          </p:cNvPr>
          <p:cNvSpPr>
            <a:spLocks noGrp="1"/>
          </p:cNvSpPr>
          <p:nvPr>
            <p:ph type="title"/>
          </p:nvPr>
        </p:nvSpPr>
        <p:spPr/>
        <p:txBody>
          <a:bodyPr/>
          <a:lstStyle/>
          <a:p>
            <a:r>
              <a:rPr lang="en-IN" dirty="0"/>
              <a:t>Forms of Learning</a:t>
            </a:r>
          </a:p>
        </p:txBody>
      </p:sp>
      <p:sp>
        <p:nvSpPr>
          <p:cNvPr id="3" name="Content Placeholder 2">
            <a:extLst>
              <a:ext uri="{FF2B5EF4-FFF2-40B4-BE49-F238E27FC236}">
                <a16:creationId xmlns:a16="http://schemas.microsoft.com/office/drawing/2014/main" id="{A4899945-51EE-4A32-C4C9-34B9CE3D6370}"/>
              </a:ext>
            </a:extLst>
          </p:cNvPr>
          <p:cNvSpPr>
            <a:spLocks noGrp="1"/>
          </p:cNvSpPr>
          <p:nvPr>
            <p:ph idx="1"/>
          </p:nvPr>
        </p:nvSpPr>
        <p:spPr/>
        <p:txBody>
          <a:bodyPr/>
          <a:lstStyle/>
          <a:p>
            <a:r>
              <a:rPr lang="en-US" dirty="0"/>
              <a:t>Any component of an agent can be improved by learning from data. </a:t>
            </a:r>
          </a:p>
          <a:p>
            <a:r>
              <a:rPr lang="en-US" dirty="0"/>
              <a:t>The improvements, and the techniques used to make them, depend on four major factors</a:t>
            </a:r>
          </a:p>
          <a:p>
            <a:pPr lvl="1"/>
            <a:r>
              <a:rPr lang="en-US" dirty="0"/>
              <a:t>Which component is to be improved.</a:t>
            </a:r>
          </a:p>
          <a:p>
            <a:pPr lvl="1"/>
            <a:r>
              <a:rPr lang="en-US" dirty="0"/>
              <a:t>What prior knowledge the agent already has. </a:t>
            </a:r>
          </a:p>
          <a:p>
            <a:pPr lvl="1"/>
            <a:r>
              <a:rPr lang="en-US" dirty="0"/>
              <a:t>What representation is used for the data and the component. </a:t>
            </a:r>
          </a:p>
          <a:p>
            <a:pPr lvl="1"/>
            <a:r>
              <a:rPr lang="en-US" dirty="0"/>
              <a:t>What feedback is available to learn from.</a:t>
            </a:r>
            <a:endParaRPr lang="en-IN" dirty="0"/>
          </a:p>
        </p:txBody>
      </p:sp>
      <p:sp>
        <p:nvSpPr>
          <p:cNvPr id="4" name="Footer Placeholder 3">
            <a:extLst>
              <a:ext uri="{FF2B5EF4-FFF2-40B4-BE49-F238E27FC236}">
                <a16:creationId xmlns:a16="http://schemas.microsoft.com/office/drawing/2014/main" id="{E1A95B50-9CA0-FE36-46BA-FA4F98ED57E6}"/>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E568F221-7AA5-C8A6-047E-EB0012C33AFB}"/>
              </a:ext>
            </a:extLst>
          </p:cNvPr>
          <p:cNvSpPr>
            <a:spLocks noGrp="1"/>
          </p:cNvSpPr>
          <p:nvPr>
            <p:ph type="sldNum" sz="quarter" idx="12"/>
          </p:nvPr>
        </p:nvSpPr>
        <p:spPr/>
        <p:txBody>
          <a:bodyPr/>
          <a:lstStyle/>
          <a:p>
            <a:fld id="{1E81A027-E3F7-4FC9-A752-E855AD4A687D}" type="slidenum">
              <a:rPr lang="en-IN" smtClean="0"/>
              <a:t>22</a:t>
            </a:fld>
            <a:endParaRPr lang="en-IN"/>
          </a:p>
        </p:txBody>
      </p:sp>
    </p:spTree>
    <p:extLst>
      <p:ext uri="{BB962C8B-B14F-4D97-AF65-F5344CB8AC3E}">
        <p14:creationId xmlns:p14="http://schemas.microsoft.com/office/powerpoint/2010/main" val="28725367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31156-4FF9-B154-DE3A-4E736BDF28A2}"/>
              </a:ext>
            </a:extLst>
          </p:cNvPr>
          <p:cNvSpPr>
            <a:spLocks noGrp="1"/>
          </p:cNvSpPr>
          <p:nvPr>
            <p:ph type="title"/>
          </p:nvPr>
        </p:nvSpPr>
        <p:spPr/>
        <p:txBody>
          <a:bodyPr/>
          <a:lstStyle/>
          <a:p>
            <a:r>
              <a:rPr lang="en-IN" dirty="0"/>
              <a:t>Components to be learned</a:t>
            </a:r>
          </a:p>
        </p:txBody>
      </p:sp>
      <p:sp>
        <p:nvSpPr>
          <p:cNvPr id="3" name="Content Placeholder 2">
            <a:extLst>
              <a:ext uri="{FF2B5EF4-FFF2-40B4-BE49-F238E27FC236}">
                <a16:creationId xmlns:a16="http://schemas.microsoft.com/office/drawing/2014/main" id="{C7423C4C-200B-CC9A-C880-2E03219918F4}"/>
              </a:ext>
            </a:extLst>
          </p:cNvPr>
          <p:cNvSpPr>
            <a:spLocks noGrp="1"/>
          </p:cNvSpPr>
          <p:nvPr>
            <p:ph idx="1"/>
          </p:nvPr>
        </p:nvSpPr>
        <p:spPr/>
        <p:txBody>
          <a:bodyPr>
            <a:normAutofit fontScale="92500" lnSpcReduction="20000"/>
          </a:bodyPr>
          <a:lstStyle/>
          <a:p>
            <a:r>
              <a:rPr lang="en-US" sz="2400" dirty="0"/>
              <a:t>The components of these agents include: </a:t>
            </a:r>
          </a:p>
          <a:p>
            <a:pPr marL="457200" indent="-457200">
              <a:buFont typeface="+mj-lt"/>
              <a:buAutoNum type="arabicPeriod"/>
            </a:pPr>
            <a:r>
              <a:rPr lang="en-US" sz="2400" dirty="0"/>
              <a:t>A direct mapping from conditions on the current state to actions. </a:t>
            </a:r>
          </a:p>
          <a:p>
            <a:pPr marL="457200" indent="-457200">
              <a:buFont typeface="+mj-lt"/>
              <a:buAutoNum type="arabicPeriod"/>
            </a:pPr>
            <a:r>
              <a:rPr lang="en-US" sz="2400" dirty="0"/>
              <a:t> A means to infer relevant properties of the world from the percept sequence.  </a:t>
            </a:r>
          </a:p>
          <a:p>
            <a:pPr marL="457200" indent="-457200">
              <a:buFont typeface="+mj-lt"/>
              <a:buAutoNum type="arabicPeriod"/>
            </a:pPr>
            <a:r>
              <a:rPr lang="en-US" sz="2400" dirty="0"/>
              <a:t>Information about the way the world evolves and about the results of possible actions the agent can take. </a:t>
            </a:r>
          </a:p>
          <a:p>
            <a:pPr marL="457200" indent="-457200">
              <a:buFont typeface="+mj-lt"/>
              <a:buAutoNum type="arabicPeriod"/>
            </a:pPr>
            <a:r>
              <a:rPr lang="en-US" sz="2400" dirty="0"/>
              <a:t>Utility information indicating the desirability of world states. </a:t>
            </a:r>
          </a:p>
          <a:p>
            <a:pPr marL="457200" indent="-457200">
              <a:buFont typeface="+mj-lt"/>
              <a:buAutoNum type="arabicPeriod"/>
            </a:pPr>
            <a:r>
              <a:rPr lang="en-US" sz="2400" dirty="0"/>
              <a:t>Action-value information indicating the desirability of actions. </a:t>
            </a:r>
          </a:p>
          <a:p>
            <a:pPr marL="457200" indent="-457200">
              <a:buFont typeface="+mj-lt"/>
              <a:buAutoNum type="arabicPeriod"/>
            </a:pPr>
            <a:r>
              <a:rPr lang="en-US" sz="2400" dirty="0"/>
              <a:t>Goals that describe classes of states whose achievement maximizes the agent’s utility</a:t>
            </a:r>
          </a:p>
          <a:p>
            <a:pPr marL="0" indent="0">
              <a:buNone/>
            </a:pPr>
            <a:r>
              <a:rPr lang="en-US" sz="2400" dirty="0"/>
              <a:t>Each of these components can be learned.</a:t>
            </a:r>
            <a:endParaRPr lang="en-IN" sz="2400" dirty="0"/>
          </a:p>
        </p:txBody>
      </p:sp>
      <p:sp>
        <p:nvSpPr>
          <p:cNvPr id="4" name="Footer Placeholder 3">
            <a:extLst>
              <a:ext uri="{FF2B5EF4-FFF2-40B4-BE49-F238E27FC236}">
                <a16:creationId xmlns:a16="http://schemas.microsoft.com/office/drawing/2014/main" id="{9B87D3AA-620D-467C-6011-47FCAF93E647}"/>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3F570281-C820-6065-7A60-7E4C713B66FC}"/>
              </a:ext>
            </a:extLst>
          </p:cNvPr>
          <p:cNvSpPr>
            <a:spLocks noGrp="1"/>
          </p:cNvSpPr>
          <p:nvPr>
            <p:ph type="sldNum" sz="quarter" idx="12"/>
          </p:nvPr>
        </p:nvSpPr>
        <p:spPr/>
        <p:txBody>
          <a:bodyPr/>
          <a:lstStyle/>
          <a:p>
            <a:fld id="{1E81A027-E3F7-4FC9-A752-E855AD4A687D}" type="slidenum">
              <a:rPr lang="en-IN" smtClean="0"/>
              <a:t>23</a:t>
            </a:fld>
            <a:endParaRPr lang="en-IN"/>
          </a:p>
        </p:txBody>
      </p:sp>
    </p:spTree>
    <p:extLst>
      <p:ext uri="{BB962C8B-B14F-4D97-AF65-F5344CB8AC3E}">
        <p14:creationId xmlns:p14="http://schemas.microsoft.com/office/powerpoint/2010/main" val="2167751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55537-BB77-392E-4B5F-4AB962615130}"/>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393F3F9B-FED3-511D-BD4B-B283709C003B}"/>
              </a:ext>
            </a:extLst>
          </p:cNvPr>
          <p:cNvSpPr>
            <a:spLocks noGrp="1"/>
          </p:cNvSpPr>
          <p:nvPr>
            <p:ph idx="1"/>
          </p:nvPr>
        </p:nvSpPr>
        <p:spPr/>
        <p:txBody>
          <a:bodyPr/>
          <a:lstStyle/>
          <a:p>
            <a:r>
              <a:rPr lang="en-US" dirty="0"/>
              <a:t>an agent training to become a taxi driver. </a:t>
            </a:r>
          </a:p>
          <a:p>
            <a:r>
              <a:rPr lang="en-US" dirty="0"/>
              <a:t>Every time the instructor shouts “Brake!” the agent might learn a condition– action rule for when to brake (component 1); the agent also learns every time the instructor does not shout. </a:t>
            </a:r>
          </a:p>
          <a:p>
            <a:r>
              <a:rPr lang="en-US" dirty="0"/>
              <a:t>By seeing many camera images that it is told contain buses, it can learn to recognize them (2). </a:t>
            </a:r>
          </a:p>
          <a:p>
            <a:r>
              <a:rPr lang="en-US" dirty="0"/>
              <a:t>By trying actions and observing the results—for example, braking hard on a wet road—it can learn the effects of its actions (3). </a:t>
            </a:r>
          </a:p>
          <a:p>
            <a:r>
              <a:rPr lang="en-US" dirty="0"/>
              <a:t>Then, when it receives no tip from passengers who have been thoroughly shaken up during the trip, it can learn a useful component of its overall utility function (4).</a:t>
            </a:r>
            <a:endParaRPr lang="en-IN" dirty="0"/>
          </a:p>
        </p:txBody>
      </p:sp>
      <p:sp>
        <p:nvSpPr>
          <p:cNvPr id="4" name="Footer Placeholder 3">
            <a:extLst>
              <a:ext uri="{FF2B5EF4-FFF2-40B4-BE49-F238E27FC236}">
                <a16:creationId xmlns:a16="http://schemas.microsoft.com/office/drawing/2014/main" id="{E800EB24-C177-A502-1B8D-79ACE8D4C492}"/>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C386E91D-5B2D-7F8D-6008-9D5B3C1C63A2}"/>
              </a:ext>
            </a:extLst>
          </p:cNvPr>
          <p:cNvSpPr>
            <a:spLocks noGrp="1"/>
          </p:cNvSpPr>
          <p:nvPr>
            <p:ph type="sldNum" sz="quarter" idx="12"/>
          </p:nvPr>
        </p:nvSpPr>
        <p:spPr/>
        <p:txBody>
          <a:bodyPr/>
          <a:lstStyle/>
          <a:p>
            <a:fld id="{1E81A027-E3F7-4FC9-A752-E855AD4A687D}" type="slidenum">
              <a:rPr lang="en-IN" smtClean="0"/>
              <a:t>24</a:t>
            </a:fld>
            <a:endParaRPr lang="en-IN"/>
          </a:p>
        </p:txBody>
      </p:sp>
    </p:spTree>
    <p:extLst>
      <p:ext uri="{BB962C8B-B14F-4D97-AF65-F5344CB8AC3E}">
        <p14:creationId xmlns:p14="http://schemas.microsoft.com/office/powerpoint/2010/main" val="2162066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BE964-5EAD-A19F-C930-A57A26E808F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532A721-8D1D-2480-8E9B-154737E5F96E}"/>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1686BA2B-1F69-C840-480F-6E05A6EEAB3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E3CDD2AB-C13A-BBA1-648C-B632DF8C9A73}"/>
              </a:ext>
            </a:extLst>
          </p:cNvPr>
          <p:cNvSpPr>
            <a:spLocks noGrp="1"/>
          </p:cNvSpPr>
          <p:nvPr>
            <p:ph type="sldNum" sz="quarter" idx="12"/>
          </p:nvPr>
        </p:nvSpPr>
        <p:spPr/>
        <p:txBody>
          <a:bodyPr/>
          <a:lstStyle/>
          <a:p>
            <a:fld id="{1E81A027-E3F7-4FC9-A752-E855AD4A687D}" type="slidenum">
              <a:rPr lang="en-IN" smtClean="0"/>
              <a:t>25</a:t>
            </a:fld>
            <a:endParaRPr lang="en-IN"/>
          </a:p>
        </p:txBody>
      </p:sp>
      <p:pic>
        <p:nvPicPr>
          <p:cNvPr id="7" name="Picture 6">
            <a:extLst>
              <a:ext uri="{FF2B5EF4-FFF2-40B4-BE49-F238E27FC236}">
                <a16:creationId xmlns:a16="http://schemas.microsoft.com/office/drawing/2014/main" id="{1CBABEAB-173A-CABC-614B-68C52ED34E51}"/>
              </a:ext>
            </a:extLst>
          </p:cNvPr>
          <p:cNvPicPr>
            <a:picLocks noChangeAspect="1"/>
          </p:cNvPicPr>
          <p:nvPr/>
        </p:nvPicPr>
        <p:blipFill>
          <a:blip r:embed="rId2"/>
          <a:stretch>
            <a:fillRect/>
          </a:stretch>
        </p:blipFill>
        <p:spPr>
          <a:xfrm>
            <a:off x="701768" y="614174"/>
            <a:ext cx="10998819" cy="5156326"/>
          </a:xfrm>
          <a:prstGeom prst="rect">
            <a:avLst/>
          </a:prstGeom>
        </p:spPr>
      </p:pic>
    </p:spTree>
    <p:extLst>
      <p:ext uri="{BB962C8B-B14F-4D97-AF65-F5344CB8AC3E}">
        <p14:creationId xmlns:p14="http://schemas.microsoft.com/office/powerpoint/2010/main" val="2427494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F57A6-06F1-6397-7A10-A5F219C7A81F}"/>
              </a:ext>
            </a:extLst>
          </p:cNvPr>
          <p:cNvSpPr>
            <a:spLocks noGrp="1"/>
          </p:cNvSpPr>
          <p:nvPr>
            <p:ph type="title"/>
          </p:nvPr>
        </p:nvSpPr>
        <p:spPr/>
        <p:txBody>
          <a:bodyPr/>
          <a:lstStyle/>
          <a:p>
            <a:r>
              <a:rPr lang="en-IN" dirty="0"/>
              <a:t>supervised learning</a:t>
            </a:r>
          </a:p>
        </p:txBody>
      </p:sp>
      <p:sp>
        <p:nvSpPr>
          <p:cNvPr id="3" name="Content Placeholder 2">
            <a:extLst>
              <a:ext uri="{FF2B5EF4-FFF2-40B4-BE49-F238E27FC236}">
                <a16:creationId xmlns:a16="http://schemas.microsoft.com/office/drawing/2014/main" id="{97E0D6D4-0837-53A1-AE3E-B146B23A0857}"/>
              </a:ext>
            </a:extLst>
          </p:cNvPr>
          <p:cNvSpPr>
            <a:spLocks noGrp="1"/>
          </p:cNvSpPr>
          <p:nvPr>
            <p:ph idx="1"/>
          </p:nvPr>
        </p:nvSpPr>
        <p:spPr/>
        <p:txBody>
          <a:bodyPr/>
          <a:lstStyle/>
          <a:p>
            <a:r>
              <a:rPr lang="en-US" sz="3200" b="0" i="0" dirty="0">
                <a:solidFill>
                  <a:srgbClr val="292929"/>
                </a:solidFill>
                <a:effectLst/>
              </a:rPr>
              <a:t>In supervised learning the machine experiences the examples along with the labels or targets for each example. </a:t>
            </a:r>
          </a:p>
          <a:p>
            <a:r>
              <a:rPr lang="en-US" sz="3200" b="0" i="0" dirty="0">
                <a:solidFill>
                  <a:srgbClr val="292929"/>
                </a:solidFill>
                <a:effectLst/>
              </a:rPr>
              <a:t>The labels in the data help the algorithm to correlate the features.</a:t>
            </a:r>
          </a:p>
          <a:p>
            <a:r>
              <a:rPr lang="en-US" sz="3200" b="0" i="0" dirty="0">
                <a:solidFill>
                  <a:srgbClr val="292929"/>
                </a:solidFill>
                <a:effectLst/>
              </a:rPr>
              <a:t>Two of the most common supervised machine learning tasks are </a:t>
            </a:r>
          </a:p>
          <a:p>
            <a:pPr lvl="1"/>
            <a:r>
              <a:rPr lang="en-US" sz="2800" b="1" i="0" dirty="0">
                <a:solidFill>
                  <a:srgbClr val="292929"/>
                </a:solidFill>
                <a:effectLst/>
              </a:rPr>
              <a:t>classification</a:t>
            </a:r>
            <a:r>
              <a:rPr lang="en-US" sz="2800" b="0" i="0" dirty="0">
                <a:solidFill>
                  <a:srgbClr val="292929"/>
                </a:solidFill>
                <a:effectLst/>
              </a:rPr>
              <a:t> and </a:t>
            </a:r>
          </a:p>
          <a:p>
            <a:pPr lvl="1"/>
            <a:r>
              <a:rPr lang="en-US" sz="2800" b="1" i="0" dirty="0">
                <a:solidFill>
                  <a:srgbClr val="292929"/>
                </a:solidFill>
                <a:effectLst/>
              </a:rPr>
              <a:t>regression</a:t>
            </a:r>
            <a:r>
              <a:rPr lang="en-US" sz="2800" b="0" i="0" dirty="0">
                <a:solidFill>
                  <a:srgbClr val="292929"/>
                </a:solidFill>
                <a:effectLst/>
              </a:rPr>
              <a:t>.</a:t>
            </a:r>
            <a:endParaRPr lang="en-IN" sz="2800" dirty="0"/>
          </a:p>
        </p:txBody>
      </p:sp>
      <p:sp>
        <p:nvSpPr>
          <p:cNvPr id="4" name="Footer Placeholder 3">
            <a:extLst>
              <a:ext uri="{FF2B5EF4-FFF2-40B4-BE49-F238E27FC236}">
                <a16:creationId xmlns:a16="http://schemas.microsoft.com/office/drawing/2014/main" id="{E19F943F-0D3F-2861-493D-E50672B4FC66}"/>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D1B14FDC-CD07-EBFF-AE61-2E4744ACDB82}"/>
              </a:ext>
            </a:extLst>
          </p:cNvPr>
          <p:cNvSpPr>
            <a:spLocks noGrp="1"/>
          </p:cNvSpPr>
          <p:nvPr>
            <p:ph type="sldNum" sz="quarter" idx="12"/>
          </p:nvPr>
        </p:nvSpPr>
        <p:spPr/>
        <p:txBody>
          <a:bodyPr/>
          <a:lstStyle/>
          <a:p>
            <a:fld id="{1E81A027-E3F7-4FC9-A752-E855AD4A687D}" type="slidenum">
              <a:rPr lang="en-IN" smtClean="0"/>
              <a:t>26</a:t>
            </a:fld>
            <a:endParaRPr lang="en-IN"/>
          </a:p>
        </p:txBody>
      </p:sp>
    </p:spTree>
    <p:extLst>
      <p:ext uri="{BB962C8B-B14F-4D97-AF65-F5344CB8AC3E}">
        <p14:creationId xmlns:p14="http://schemas.microsoft.com/office/powerpoint/2010/main" val="32212907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B6DBD-4486-C9C0-0980-C421C8835DA2}"/>
              </a:ext>
            </a:extLst>
          </p:cNvPr>
          <p:cNvSpPr>
            <a:spLocks noGrp="1"/>
          </p:cNvSpPr>
          <p:nvPr>
            <p:ph type="title"/>
          </p:nvPr>
        </p:nvSpPr>
        <p:spPr/>
        <p:txBody>
          <a:bodyPr/>
          <a:lstStyle/>
          <a:p>
            <a:r>
              <a:rPr lang="en-IN" i="0" dirty="0">
                <a:solidFill>
                  <a:srgbClr val="525252"/>
                </a:solidFill>
                <a:effectLst/>
              </a:rPr>
              <a:t>Classification</a:t>
            </a:r>
            <a:endParaRPr lang="en-IN" dirty="0"/>
          </a:p>
        </p:txBody>
      </p:sp>
      <p:sp>
        <p:nvSpPr>
          <p:cNvPr id="3" name="Content Placeholder 2">
            <a:extLst>
              <a:ext uri="{FF2B5EF4-FFF2-40B4-BE49-F238E27FC236}">
                <a16:creationId xmlns:a16="http://schemas.microsoft.com/office/drawing/2014/main" id="{E2730629-F777-71BF-3BF6-1BABEDFC9C16}"/>
              </a:ext>
            </a:extLst>
          </p:cNvPr>
          <p:cNvSpPr>
            <a:spLocks noGrp="1"/>
          </p:cNvSpPr>
          <p:nvPr>
            <p:ph idx="1"/>
          </p:nvPr>
        </p:nvSpPr>
        <p:spPr/>
        <p:txBody>
          <a:bodyPr>
            <a:normAutofit fontScale="92500"/>
          </a:bodyPr>
          <a:lstStyle/>
          <a:p>
            <a:r>
              <a:rPr lang="en-US" sz="2800" b="0" i="0" dirty="0">
                <a:solidFill>
                  <a:srgbClr val="525252"/>
                </a:solidFill>
                <a:effectLst/>
              </a:rPr>
              <a:t>uses an algorithm to accurately assign test data into specific categories. </a:t>
            </a:r>
          </a:p>
          <a:p>
            <a:r>
              <a:rPr lang="en-US" sz="2800" b="0" i="0" dirty="0">
                <a:solidFill>
                  <a:srgbClr val="525252"/>
                </a:solidFill>
                <a:effectLst/>
              </a:rPr>
              <a:t>It recognizes specific entities within the dataset and attempts to draw some conclusions on how those entities should be labeled or defined.</a:t>
            </a:r>
          </a:p>
          <a:p>
            <a:r>
              <a:rPr lang="en-US" sz="2800" b="0" i="0" dirty="0">
                <a:solidFill>
                  <a:srgbClr val="525252"/>
                </a:solidFill>
                <a:effectLst/>
              </a:rPr>
              <a:t>Common classification algorithms are </a:t>
            </a:r>
          </a:p>
          <a:p>
            <a:pPr lvl="1"/>
            <a:r>
              <a:rPr lang="en-US" sz="2400" b="0" i="0" dirty="0">
                <a:solidFill>
                  <a:srgbClr val="525252"/>
                </a:solidFill>
                <a:effectLst/>
              </a:rPr>
              <a:t>linear classifiers, </a:t>
            </a:r>
          </a:p>
          <a:p>
            <a:pPr lvl="1"/>
            <a:r>
              <a:rPr lang="en-US" sz="2400" b="0" i="0" dirty="0">
                <a:solidFill>
                  <a:srgbClr val="525252"/>
                </a:solidFill>
                <a:effectLst/>
              </a:rPr>
              <a:t>support vector machines (SVM), </a:t>
            </a:r>
          </a:p>
          <a:p>
            <a:pPr lvl="1"/>
            <a:r>
              <a:rPr lang="en-US" sz="2400" b="0" i="0" dirty="0">
                <a:solidFill>
                  <a:srgbClr val="525252"/>
                </a:solidFill>
                <a:effectLst/>
              </a:rPr>
              <a:t>decision trees, </a:t>
            </a:r>
          </a:p>
          <a:p>
            <a:pPr lvl="1"/>
            <a:r>
              <a:rPr lang="en-US" sz="2400" b="0" i="0" dirty="0">
                <a:solidFill>
                  <a:srgbClr val="525252"/>
                </a:solidFill>
                <a:effectLst/>
              </a:rPr>
              <a:t>k-nearest neighbor, and </a:t>
            </a:r>
          </a:p>
          <a:p>
            <a:pPr lvl="1"/>
            <a:r>
              <a:rPr lang="en-US" sz="2400" b="0" i="0" dirty="0">
                <a:solidFill>
                  <a:srgbClr val="525252"/>
                </a:solidFill>
                <a:effectLst/>
              </a:rPr>
              <a:t>random forest</a:t>
            </a:r>
            <a:endParaRPr lang="en-IN" sz="2400" dirty="0"/>
          </a:p>
          <a:p>
            <a:endParaRPr lang="en-IN" dirty="0"/>
          </a:p>
        </p:txBody>
      </p:sp>
      <p:sp>
        <p:nvSpPr>
          <p:cNvPr id="4" name="Footer Placeholder 3">
            <a:extLst>
              <a:ext uri="{FF2B5EF4-FFF2-40B4-BE49-F238E27FC236}">
                <a16:creationId xmlns:a16="http://schemas.microsoft.com/office/drawing/2014/main" id="{08721E27-D988-3C0F-4366-F2CE3125EB5E}"/>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8CC7956A-134D-A2B1-C6EC-ECC0D023AE83}"/>
              </a:ext>
            </a:extLst>
          </p:cNvPr>
          <p:cNvSpPr>
            <a:spLocks noGrp="1"/>
          </p:cNvSpPr>
          <p:nvPr>
            <p:ph type="sldNum" sz="quarter" idx="12"/>
          </p:nvPr>
        </p:nvSpPr>
        <p:spPr/>
        <p:txBody>
          <a:bodyPr/>
          <a:lstStyle/>
          <a:p>
            <a:fld id="{1E81A027-E3F7-4FC9-A752-E855AD4A687D}" type="slidenum">
              <a:rPr lang="en-IN" smtClean="0"/>
              <a:t>27</a:t>
            </a:fld>
            <a:endParaRPr lang="en-IN"/>
          </a:p>
        </p:txBody>
      </p:sp>
    </p:spTree>
    <p:extLst>
      <p:ext uri="{BB962C8B-B14F-4D97-AF65-F5344CB8AC3E}">
        <p14:creationId xmlns:p14="http://schemas.microsoft.com/office/powerpoint/2010/main" val="31061363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DBE9-F833-BF01-2C0B-ADAE2E8FA99F}"/>
              </a:ext>
            </a:extLst>
          </p:cNvPr>
          <p:cNvSpPr>
            <a:spLocks noGrp="1"/>
          </p:cNvSpPr>
          <p:nvPr>
            <p:ph type="title"/>
          </p:nvPr>
        </p:nvSpPr>
        <p:spPr/>
        <p:txBody>
          <a:bodyPr/>
          <a:lstStyle/>
          <a:p>
            <a:r>
              <a:rPr lang="tr-TR" altLang="en-US" dirty="0"/>
              <a:t>Classification</a:t>
            </a:r>
            <a:r>
              <a:rPr lang="en-IN" altLang="en-US" dirty="0"/>
              <a:t> example</a:t>
            </a:r>
            <a:endParaRPr lang="en-IN" dirty="0"/>
          </a:p>
        </p:txBody>
      </p:sp>
      <p:sp>
        <p:nvSpPr>
          <p:cNvPr id="3" name="Content Placeholder 2">
            <a:extLst>
              <a:ext uri="{FF2B5EF4-FFF2-40B4-BE49-F238E27FC236}">
                <a16:creationId xmlns:a16="http://schemas.microsoft.com/office/drawing/2014/main" id="{5F5B3D86-9019-A893-E2E3-09CDAEC92166}"/>
              </a:ext>
            </a:extLst>
          </p:cNvPr>
          <p:cNvSpPr>
            <a:spLocks noGrp="1"/>
          </p:cNvSpPr>
          <p:nvPr>
            <p:ph idx="1"/>
          </p:nvPr>
        </p:nvSpPr>
        <p:spPr>
          <a:xfrm>
            <a:off x="1097280" y="1845734"/>
            <a:ext cx="4239830" cy="4023360"/>
          </a:xfrm>
        </p:spPr>
        <p:txBody>
          <a:bodyPr>
            <a:normAutofit/>
          </a:bodyPr>
          <a:lstStyle/>
          <a:p>
            <a:r>
              <a:rPr lang="tr-TR" altLang="en-US" sz="2800" dirty="0"/>
              <a:t>Example: Credit scoring</a:t>
            </a:r>
          </a:p>
          <a:p>
            <a:r>
              <a:rPr lang="tr-TR" altLang="en-US" sz="2800" dirty="0"/>
              <a:t>Differentiating between </a:t>
            </a:r>
            <a:r>
              <a:rPr lang="tr-TR" altLang="en-US" sz="2800" dirty="0">
                <a:solidFill>
                  <a:srgbClr val="FF33CC"/>
                </a:solidFill>
              </a:rPr>
              <a:t>low-risk</a:t>
            </a:r>
            <a:r>
              <a:rPr lang="tr-TR" altLang="en-US" sz="2800" dirty="0"/>
              <a:t> and </a:t>
            </a:r>
            <a:r>
              <a:rPr lang="tr-TR" altLang="en-US" sz="2800" dirty="0">
                <a:solidFill>
                  <a:srgbClr val="FF0000"/>
                </a:solidFill>
              </a:rPr>
              <a:t>high-risk</a:t>
            </a:r>
            <a:r>
              <a:rPr lang="tr-TR" altLang="en-US" sz="2800" dirty="0"/>
              <a:t> customers from their </a:t>
            </a:r>
            <a:r>
              <a:rPr lang="tr-TR" altLang="en-US" sz="2800" i="1" dirty="0"/>
              <a:t>income</a:t>
            </a:r>
            <a:r>
              <a:rPr lang="tr-TR" altLang="en-US" sz="2800" dirty="0"/>
              <a:t> and </a:t>
            </a:r>
            <a:r>
              <a:rPr lang="tr-TR" altLang="en-US" sz="2800" i="1" dirty="0"/>
              <a:t>savings</a:t>
            </a:r>
          </a:p>
          <a:p>
            <a:endParaRPr lang="en-IN" sz="2800" dirty="0"/>
          </a:p>
          <a:p>
            <a:endParaRPr lang="en-IN" sz="2800" dirty="0"/>
          </a:p>
        </p:txBody>
      </p:sp>
      <p:sp>
        <p:nvSpPr>
          <p:cNvPr id="4" name="Footer Placeholder 3">
            <a:extLst>
              <a:ext uri="{FF2B5EF4-FFF2-40B4-BE49-F238E27FC236}">
                <a16:creationId xmlns:a16="http://schemas.microsoft.com/office/drawing/2014/main" id="{730A1D4B-EA34-6CA6-CAC4-079256313F24}"/>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96971276-D746-2BBE-40D4-5DE3533F405F}"/>
              </a:ext>
            </a:extLst>
          </p:cNvPr>
          <p:cNvSpPr>
            <a:spLocks noGrp="1"/>
          </p:cNvSpPr>
          <p:nvPr>
            <p:ph type="sldNum" sz="quarter" idx="12"/>
          </p:nvPr>
        </p:nvSpPr>
        <p:spPr/>
        <p:txBody>
          <a:bodyPr/>
          <a:lstStyle/>
          <a:p>
            <a:fld id="{1E81A027-E3F7-4FC9-A752-E855AD4A687D}" type="slidenum">
              <a:rPr lang="en-IN" smtClean="0"/>
              <a:t>28</a:t>
            </a:fld>
            <a:endParaRPr lang="en-IN"/>
          </a:p>
        </p:txBody>
      </p:sp>
      <p:pic>
        <p:nvPicPr>
          <p:cNvPr id="8" name="Picture 9">
            <a:extLst>
              <a:ext uri="{FF2B5EF4-FFF2-40B4-BE49-F238E27FC236}">
                <a16:creationId xmlns:a16="http://schemas.microsoft.com/office/drawing/2014/main" id="{037569D2-D2BC-2CD3-CEC9-7D73F09832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355480" y="775416"/>
            <a:ext cx="4689475" cy="4464050"/>
          </a:xfrm>
          <a:prstGeom prst="rect">
            <a:avLst/>
          </a:prstGeom>
        </p:spPr>
      </p:pic>
      <p:sp>
        <p:nvSpPr>
          <p:cNvPr id="9" name="TextBox 8">
            <a:extLst>
              <a:ext uri="{FF2B5EF4-FFF2-40B4-BE49-F238E27FC236}">
                <a16:creationId xmlns:a16="http://schemas.microsoft.com/office/drawing/2014/main" id="{8CCC4AFA-39AC-0DF2-63B5-1F14B1A6B825}"/>
              </a:ext>
            </a:extLst>
          </p:cNvPr>
          <p:cNvSpPr txBox="1"/>
          <p:nvPr/>
        </p:nvSpPr>
        <p:spPr>
          <a:xfrm>
            <a:off x="5470465" y="5097955"/>
            <a:ext cx="6583484" cy="757130"/>
          </a:xfrm>
          <a:prstGeom prst="rect">
            <a:avLst/>
          </a:prstGeom>
          <a:noFill/>
        </p:spPr>
        <p:txBody>
          <a:bodyPr wrap="square">
            <a:spAutoFit/>
          </a:bodyPr>
          <a:lstStyle/>
          <a:p>
            <a:pPr>
              <a:lnSpc>
                <a:spcPct val="90000"/>
              </a:lnSpc>
              <a:buFont typeface="Wingdings" panose="05000000000000000000" pitchFamily="2" charset="2"/>
              <a:buNone/>
            </a:pPr>
            <a:r>
              <a:rPr lang="tr-TR" altLang="en-US" sz="2400" dirty="0">
                <a:solidFill>
                  <a:srgbClr val="3333FF"/>
                </a:solidFill>
              </a:rPr>
              <a:t>Discriminant:</a:t>
            </a:r>
            <a:r>
              <a:rPr lang="tr-TR" altLang="en-US" sz="2400" dirty="0"/>
              <a:t> IF </a:t>
            </a:r>
            <a:r>
              <a:rPr lang="tr-TR" altLang="en-US" sz="2400" i="1" dirty="0"/>
              <a:t>income</a:t>
            </a:r>
            <a:r>
              <a:rPr lang="tr-TR" altLang="en-US" sz="2400" dirty="0"/>
              <a:t> &gt; θ</a:t>
            </a:r>
            <a:r>
              <a:rPr lang="tr-TR" altLang="en-US" sz="2400" baseline="-25000" dirty="0"/>
              <a:t>1</a:t>
            </a:r>
            <a:r>
              <a:rPr lang="tr-TR" altLang="en-US" sz="2400" dirty="0"/>
              <a:t> AND </a:t>
            </a:r>
            <a:r>
              <a:rPr lang="tr-TR" altLang="en-US" sz="2400" i="1" dirty="0"/>
              <a:t>savings</a:t>
            </a:r>
            <a:r>
              <a:rPr lang="tr-TR" altLang="en-US" sz="2400" dirty="0"/>
              <a:t> &gt; θ</a:t>
            </a:r>
            <a:r>
              <a:rPr lang="tr-TR" altLang="en-US" sz="2400" baseline="-25000" dirty="0"/>
              <a:t>2</a:t>
            </a:r>
            <a:r>
              <a:rPr lang="tr-TR" altLang="en-US" sz="2400" dirty="0"/>
              <a:t> </a:t>
            </a:r>
          </a:p>
          <a:p>
            <a:pPr>
              <a:lnSpc>
                <a:spcPct val="90000"/>
              </a:lnSpc>
              <a:buFont typeface="Wingdings" panose="05000000000000000000" pitchFamily="2" charset="2"/>
              <a:buNone/>
            </a:pPr>
            <a:r>
              <a:rPr lang="tr-TR" altLang="en-US" sz="2400" dirty="0"/>
              <a:t>				THEN </a:t>
            </a:r>
            <a:r>
              <a:rPr lang="tr-TR" altLang="en-US" sz="2400" dirty="0">
                <a:solidFill>
                  <a:srgbClr val="FF33CC"/>
                </a:solidFill>
              </a:rPr>
              <a:t>low-risk </a:t>
            </a:r>
            <a:r>
              <a:rPr lang="tr-TR" altLang="en-US" sz="2400" dirty="0"/>
              <a:t>ELSE </a:t>
            </a:r>
            <a:r>
              <a:rPr lang="tr-TR" altLang="en-US" sz="2400" dirty="0">
                <a:solidFill>
                  <a:srgbClr val="FF0000"/>
                </a:solidFill>
              </a:rPr>
              <a:t>high-risk</a:t>
            </a:r>
          </a:p>
        </p:txBody>
      </p:sp>
    </p:spTree>
    <p:extLst>
      <p:ext uri="{BB962C8B-B14F-4D97-AF65-F5344CB8AC3E}">
        <p14:creationId xmlns:p14="http://schemas.microsoft.com/office/powerpoint/2010/main" val="4808183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93F7D-FA17-5ABF-4EC0-249FCF973B18}"/>
              </a:ext>
            </a:extLst>
          </p:cNvPr>
          <p:cNvSpPr>
            <a:spLocks noGrp="1"/>
          </p:cNvSpPr>
          <p:nvPr>
            <p:ph type="title"/>
          </p:nvPr>
        </p:nvSpPr>
        <p:spPr/>
        <p:txBody>
          <a:bodyPr/>
          <a:lstStyle/>
          <a:p>
            <a:r>
              <a:rPr lang="en-IN" i="0" dirty="0">
                <a:solidFill>
                  <a:srgbClr val="525252"/>
                </a:solidFill>
                <a:effectLst/>
              </a:rPr>
              <a:t>Regression </a:t>
            </a:r>
            <a:endParaRPr lang="en-IN" dirty="0"/>
          </a:p>
        </p:txBody>
      </p:sp>
      <p:sp>
        <p:nvSpPr>
          <p:cNvPr id="3" name="Content Placeholder 2">
            <a:extLst>
              <a:ext uri="{FF2B5EF4-FFF2-40B4-BE49-F238E27FC236}">
                <a16:creationId xmlns:a16="http://schemas.microsoft.com/office/drawing/2014/main" id="{60DDB414-7E45-E6E2-8C3A-2BD0B94B34DB}"/>
              </a:ext>
            </a:extLst>
          </p:cNvPr>
          <p:cNvSpPr>
            <a:spLocks noGrp="1"/>
          </p:cNvSpPr>
          <p:nvPr>
            <p:ph idx="1"/>
          </p:nvPr>
        </p:nvSpPr>
        <p:spPr/>
        <p:txBody>
          <a:bodyPr>
            <a:normAutofit lnSpcReduction="10000"/>
          </a:bodyPr>
          <a:lstStyle/>
          <a:p>
            <a:r>
              <a:rPr lang="en-US" sz="3200" b="0" i="0" dirty="0">
                <a:solidFill>
                  <a:srgbClr val="525252"/>
                </a:solidFill>
                <a:effectLst/>
              </a:rPr>
              <a:t>It is used to understand the relationship between dependent and independent variables.</a:t>
            </a:r>
          </a:p>
          <a:p>
            <a:r>
              <a:rPr lang="en-US" sz="3200" b="0" i="0" dirty="0">
                <a:solidFill>
                  <a:srgbClr val="525252"/>
                </a:solidFill>
                <a:effectLst/>
              </a:rPr>
              <a:t>It is commonly used to make projections, such as for sales revenue for a given business.</a:t>
            </a:r>
          </a:p>
          <a:p>
            <a:r>
              <a:rPr lang="en-US" sz="3200" b="0" i="0" dirty="0">
                <a:solidFill>
                  <a:srgbClr val="525252"/>
                </a:solidFill>
                <a:effectLst/>
              </a:rPr>
              <a:t> Types are </a:t>
            </a:r>
          </a:p>
          <a:p>
            <a:pPr lvl="1"/>
            <a:r>
              <a:rPr lang="en-US" sz="2800" b="0" i="0" u="none" strike="noStrike" dirty="0">
                <a:effectLst/>
              </a:rPr>
              <a:t>Linear regression</a:t>
            </a:r>
            <a:r>
              <a:rPr lang="en-US" sz="2800" b="0" i="0" dirty="0">
                <a:effectLst/>
              </a:rPr>
              <a:t>, </a:t>
            </a:r>
          </a:p>
          <a:p>
            <a:pPr lvl="1"/>
            <a:r>
              <a:rPr lang="en-US" sz="2800" b="0" i="0" u="none" strike="noStrike" dirty="0">
                <a:effectLst/>
              </a:rPr>
              <a:t>logistical regression</a:t>
            </a:r>
            <a:r>
              <a:rPr lang="en-US" sz="2800" b="0" i="0" dirty="0">
                <a:effectLst/>
              </a:rPr>
              <a:t>, and </a:t>
            </a:r>
          </a:p>
          <a:p>
            <a:pPr lvl="1"/>
            <a:r>
              <a:rPr lang="en-US" sz="2800" b="0" i="0" dirty="0">
                <a:effectLst/>
              </a:rPr>
              <a:t>polynomial regression</a:t>
            </a:r>
            <a:endParaRPr lang="en-IN" sz="2800" dirty="0"/>
          </a:p>
          <a:p>
            <a:endParaRPr lang="en-IN" dirty="0"/>
          </a:p>
        </p:txBody>
      </p:sp>
      <p:sp>
        <p:nvSpPr>
          <p:cNvPr id="4" name="Footer Placeholder 3">
            <a:extLst>
              <a:ext uri="{FF2B5EF4-FFF2-40B4-BE49-F238E27FC236}">
                <a16:creationId xmlns:a16="http://schemas.microsoft.com/office/drawing/2014/main" id="{E1597D58-5C72-0DBD-6D90-DE6728800069}"/>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1C490906-360A-B323-C327-0F1B4A87D8AE}"/>
              </a:ext>
            </a:extLst>
          </p:cNvPr>
          <p:cNvSpPr>
            <a:spLocks noGrp="1"/>
          </p:cNvSpPr>
          <p:nvPr>
            <p:ph type="sldNum" sz="quarter" idx="12"/>
          </p:nvPr>
        </p:nvSpPr>
        <p:spPr/>
        <p:txBody>
          <a:bodyPr/>
          <a:lstStyle/>
          <a:p>
            <a:fld id="{1E81A027-E3F7-4FC9-A752-E855AD4A687D}" type="slidenum">
              <a:rPr lang="en-IN" smtClean="0"/>
              <a:t>29</a:t>
            </a:fld>
            <a:endParaRPr lang="en-IN"/>
          </a:p>
        </p:txBody>
      </p:sp>
    </p:spTree>
    <p:extLst>
      <p:ext uri="{BB962C8B-B14F-4D97-AF65-F5344CB8AC3E}">
        <p14:creationId xmlns:p14="http://schemas.microsoft.com/office/powerpoint/2010/main" val="10564123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FCF62-8651-849B-0016-C3E18C7249C5}"/>
              </a:ext>
            </a:extLst>
          </p:cNvPr>
          <p:cNvSpPr>
            <a:spLocks noGrp="1"/>
          </p:cNvSpPr>
          <p:nvPr>
            <p:ph type="title"/>
          </p:nvPr>
        </p:nvSpPr>
        <p:spPr/>
        <p:txBody>
          <a:bodyPr/>
          <a:lstStyle/>
          <a:p>
            <a:r>
              <a:rPr lang="tr-TR" altLang="en-US" dirty="0"/>
              <a:t>Regression</a:t>
            </a:r>
            <a:r>
              <a:rPr lang="en-IN" altLang="en-US" dirty="0"/>
              <a:t> example</a:t>
            </a:r>
            <a:endParaRPr lang="en-IN" dirty="0"/>
          </a:p>
        </p:txBody>
      </p:sp>
      <p:sp>
        <p:nvSpPr>
          <p:cNvPr id="3" name="Content Placeholder 2">
            <a:extLst>
              <a:ext uri="{FF2B5EF4-FFF2-40B4-BE49-F238E27FC236}">
                <a16:creationId xmlns:a16="http://schemas.microsoft.com/office/drawing/2014/main" id="{0B47D2A0-83B1-54C0-E46E-FEA734E400D9}"/>
              </a:ext>
            </a:extLst>
          </p:cNvPr>
          <p:cNvSpPr>
            <a:spLocks noGrp="1"/>
          </p:cNvSpPr>
          <p:nvPr>
            <p:ph idx="1"/>
          </p:nvPr>
        </p:nvSpPr>
        <p:spPr/>
        <p:txBody>
          <a:bodyPr/>
          <a:lstStyle/>
          <a:p>
            <a:r>
              <a:rPr lang="tr-TR" altLang="en-US" dirty="0"/>
              <a:t>Example: Price of a used car</a:t>
            </a:r>
          </a:p>
          <a:p>
            <a:r>
              <a:rPr lang="tr-TR" altLang="en-US" i="1" dirty="0"/>
              <a:t>x </a:t>
            </a:r>
            <a:r>
              <a:rPr lang="tr-TR" altLang="en-US" dirty="0"/>
              <a:t>: car attributes</a:t>
            </a:r>
          </a:p>
          <a:p>
            <a:pPr>
              <a:buFont typeface="Wingdings" panose="05000000000000000000" pitchFamily="2" charset="2"/>
              <a:buNone/>
            </a:pPr>
            <a:r>
              <a:rPr lang="tr-TR" altLang="en-US" dirty="0"/>
              <a:t>	</a:t>
            </a:r>
            <a:r>
              <a:rPr lang="tr-TR" altLang="en-US" i="1" dirty="0"/>
              <a:t>y </a:t>
            </a:r>
            <a:r>
              <a:rPr lang="tr-TR" altLang="en-US" dirty="0"/>
              <a:t>: price</a:t>
            </a:r>
          </a:p>
          <a:p>
            <a:pPr>
              <a:buFont typeface="Wingdings" panose="05000000000000000000" pitchFamily="2" charset="2"/>
              <a:buNone/>
            </a:pPr>
            <a:r>
              <a:rPr lang="tr-TR" altLang="en-US" dirty="0"/>
              <a:t>		</a:t>
            </a:r>
            <a:r>
              <a:rPr lang="tr-TR" altLang="en-US" i="1" dirty="0"/>
              <a:t>y </a:t>
            </a:r>
            <a:r>
              <a:rPr lang="tr-TR" altLang="en-US" dirty="0"/>
              <a:t>= </a:t>
            </a:r>
            <a:r>
              <a:rPr lang="tr-TR" altLang="en-US" i="1" dirty="0"/>
              <a:t>g </a:t>
            </a:r>
            <a:r>
              <a:rPr lang="tr-TR" altLang="en-US" dirty="0"/>
              <a:t>(</a:t>
            </a:r>
            <a:r>
              <a:rPr lang="tr-TR" altLang="en-US" i="1" dirty="0"/>
              <a:t>x </a:t>
            </a:r>
            <a:r>
              <a:rPr lang="tr-TR" altLang="en-US" dirty="0"/>
              <a:t>| </a:t>
            </a:r>
            <a:r>
              <a:rPr lang="tr-TR" altLang="en-US" i="1" dirty="0"/>
              <a:t>θ</a:t>
            </a:r>
            <a:r>
              <a:rPr lang="tr-TR" altLang="en-US" dirty="0">
                <a:latin typeface="Symbol" panose="05050102010706020507" pitchFamily="18" charset="2"/>
              </a:rPr>
              <a:t> </a:t>
            </a:r>
            <a:r>
              <a:rPr lang="tr-TR" altLang="en-US" dirty="0"/>
              <a:t>)</a:t>
            </a:r>
          </a:p>
          <a:p>
            <a:pPr>
              <a:buFont typeface="Wingdings" panose="05000000000000000000" pitchFamily="2" charset="2"/>
              <a:buNone/>
            </a:pPr>
            <a:r>
              <a:rPr lang="tr-TR" altLang="en-US" dirty="0"/>
              <a:t>	</a:t>
            </a:r>
            <a:r>
              <a:rPr lang="tr-TR" altLang="en-US" i="1" dirty="0"/>
              <a:t>g </a:t>
            </a:r>
            <a:r>
              <a:rPr lang="tr-TR" altLang="en-US" dirty="0"/>
              <a:t>( ) model,</a:t>
            </a:r>
          </a:p>
          <a:p>
            <a:pPr>
              <a:buFont typeface="Wingdings" panose="05000000000000000000" pitchFamily="2" charset="2"/>
              <a:buNone/>
            </a:pPr>
            <a:r>
              <a:rPr lang="tr-TR" altLang="en-US" dirty="0">
                <a:latin typeface="Symbol" panose="05050102010706020507" pitchFamily="18" charset="2"/>
              </a:rPr>
              <a:t>	</a:t>
            </a:r>
            <a:r>
              <a:rPr lang="tr-TR" altLang="en-US" i="1" dirty="0"/>
              <a:t>θ</a:t>
            </a:r>
            <a:r>
              <a:rPr lang="tr-TR" altLang="en-US" dirty="0"/>
              <a:t> parameters</a:t>
            </a:r>
          </a:p>
          <a:p>
            <a:endParaRPr lang="en-IN" dirty="0"/>
          </a:p>
          <a:p>
            <a:endParaRPr lang="en-IN" dirty="0"/>
          </a:p>
        </p:txBody>
      </p:sp>
      <p:sp>
        <p:nvSpPr>
          <p:cNvPr id="4" name="Footer Placeholder 3">
            <a:extLst>
              <a:ext uri="{FF2B5EF4-FFF2-40B4-BE49-F238E27FC236}">
                <a16:creationId xmlns:a16="http://schemas.microsoft.com/office/drawing/2014/main" id="{EE982C60-CC26-E649-B138-01F1E313753F}"/>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7B4BFBF0-B11C-0955-FB95-4AC803475EEF}"/>
              </a:ext>
            </a:extLst>
          </p:cNvPr>
          <p:cNvSpPr>
            <a:spLocks noGrp="1"/>
          </p:cNvSpPr>
          <p:nvPr>
            <p:ph type="sldNum" sz="quarter" idx="12"/>
          </p:nvPr>
        </p:nvSpPr>
        <p:spPr/>
        <p:txBody>
          <a:bodyPr/>
          <a:lstStyle/>
          <a:p>
            <a:fld id="{1E81A027-E3F7-4FC9-A752-E855AD4A687D}" type="slidenum">
              <a:rPr lang="en-IN" smtClean="0"/>
              <a:t>30</a:t>
            </a:fld>
            <a:endParaRPr lang="en-IN"/>
          </a:p>
        </p:txBody>
      </p:sp>
      <p:pic>
        <p:nvPicPr>
          <p:cNvPr id="6" name="Picture 6">
            <a:extLst>
              <a:ext uri="{FF2B5EF4-FFF2-40B4-BE49-F238E27FC236}">
                <a16:creationId xmlns:a16="http://schemas.microsoft.com/office/drawing/2014/main" id="{E43B4F41-EF61-D9FD-E439-DA413A8952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096000" y="1335024"/>
            <a:ext cx="4546600" cy="4375150"/>
          </a:xfrm>
          <a:prstGeom prst="rect">
            <a:avLst/>
          </a:prstGeom>
        </p:spPr>
      </p:pic>
    </p:spTree>
    <p:extLst>
      <p:ext uri="{BB962C8B-B14F-4D97-AF65-F5344CB8AC3E}">
        <p14:creationId xmlns:p14="http://schemas.microsoft.com/office/powerpoint/2010/main" val="18434434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6968E-3169-F638-782C-DC9DB8724182}"/>
              </a:ext>
            </a:extLst>
          </p:cNvPr>
          <p:cNvSpPr>
            <a:spLocks noGrp="1"/>
          </p:cNvSpPr>
          <p:nvPr>
            <p:ph type="title"/>
          </p:nvPr>
        </p:nvSpPr>
        <p:spPr/>
        <p:txBody>
          <a:bodyPr/>
          <a:lstStyle/>
          <a:p>
            <a:r>
              <a:rPr lang="tr-TR" altLang="en-US" dirty="0"/>
              <a:t>Regression Applications</a:t>
            </a:r>
            <a:endParaRPr lang="en-IN" dirty="0"/>
          </a:p>
        </p:txBody>
      </p:sp>
      <p:sp>
        <p:nvSpPr>
          <p:cNvPr id="3" name="Content Placeholder 2">
            <a:extLst>
              <a:ext uri="{FF2B5EF4-FFF2-40B4-BE49-F238E27FC236}">
                <a16:creationId xmlns:a16="http://schemas.microsoft.com/office/drawing/2014/main" id="{A434EEF2-F721-E137-371C-53E8A96C9C5B}"/>
              </a:ext>
            </a:extLst>
          </p:cNvPr>
          <p:cNvSpPr>
            <a:spLocks noGrp="1"/>
          </p:cNvSpPr>
          <p:nvPr>
            <p:ph idx="1"/>
          </p:nvPr>
        </p:nvSpPr>
        <p:spPr/>
        <p:txBody>
          <a:bodyPr/>
          <a:lstStyle/>
          <a:p>
            <a:r>
              <a:rPr lang="tr-TR" altLang="en-US" dirty="0"/>
              <a:t>Navigating a car: Angle of the steering wheel (CMU NavLab)</a:t>
            </a:r>
          </a:p>
          <a:p>
            <a:r>
              <a:rPr lang="tr-TR" altLang="en-US" dirty="0"/>
              <a:t>Kinematics of a robot arm</a:t>
            </a:r>
          </a:p>
          <a:p>
            <a:r>
              <a:rPr lang="tr-TR" altLang="en-US" dirty="0"/>
              <a:t>Response surface design</a:t>
            </a:r>
          </a:p>
          <a:p>
            <a:endParaRPr lang="en-IN" dirty="0"/>
          </a:p>
          <a:p>
            <a:endParaRPr lang="en-IN" dirty="0"/>
          </a:p>
        </p:txBody>
      </p:sp>
      <p:sp>
        <p:nvSpPr>
          <p:cNvPr id="4" name="Footer Placeholder 3">
            <a:extLst>
              <a:ext uri="{FF2B5EF4-FFF2-40B4-BE49-F238E27FC236}">
                <a16:creationId xmlns:a16="http://schemas.microsoft.com/office/drawing/2014/main" id="{1BACF916-4459-D85F-055A-DC3C67668D05}"/>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A721C8A1-BE25-E53A-5367-783908856F6C}"/>
              </a:ext>
            </a:extLst>
          </p:cNvPr>
          <p:cNvSpPr>
            <a:spLocks noGrp="1"/>
          </p:cNvSpPr>
          <p:nvPr>
            <p:ph type="sldNum" sz="quarter" idx="12"/>
          </p:nvPr>
        </p:nvSpPr>
        <p:spPr/>
        <p:txBody>
          <a:bodyPr/>
          <a:lstStyle/>
          <a:p>
            <a:fld id="{1E81A027-E3F7-4FC9-A752-E855AD4A687D}" type="slidenum">
              <a:rPr lang="en-IN" smtClean="0"/>
              <a:t>31</a:t>
            </a:fld>
            <a:endParaRPr lang="en-IN"/>
          </a:p>
        </p:txBody>
      </p:sp>
    </p:spTree>
    <p:extLst>
      <p:ext uri="{BB962C8B-B14F-4D97-AF65-F5344CB8AC3E}">
        <p14:creationId xmlns:p14="http://schemas.microsoft.com/office/powerpoint/2010/main" val="17368634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406AA-721B-1CCB-C166-45ED6F3A3702}"/>
              </a:ext>
            </a:extLst>
          </p:cNvPr>
          <p:cNvSpPr>
            <a:spLocks noGrp="1"/>
          </p:cNvSpPr>
          <p:nvPr>
            <p:ph type="title"/>
          </p:nvPr>
        </p:nvSpPr>
        <p:spPr/>
        <p:txBody>
          <a:bodyPr/>
          <a:lstStyle/>
          <a:p>
            <a:r>
              <a:rPr lang="tr-TR" altLang="en-US" dirty="0"/>
              <a:t>Unsupervised Learning</a:t>
            </a:r>
            <a:endParaRPr lang="en-IN" dirty="0"/>
          </a:p>
        </p:txBody>
      </p:sp>
      <p:sp>
        <p:nvSpPr>
          <p:cNvPr id="3" name="Content Placeholder 2">
            <a:extLst>
              <a:ext uri="{FF2B5EF4-FFF2-40B4-BE49-F238E27FC236}">
                <a16:creationId xmlns:a16="http://schemas.microsoft.com/office/drawing/2014/main" id="{9CFC8F5B-4937-AFF5-0630-69B5BB333CBB}"/>
              </a:ext>
            </a:extLst>
          </p:cNvPr>
          <p:cNvSpPr>
            <a:spLocks noGrp="1"/>
          </p:cNvSpPr>
          <p:nvPr>
            <p:ph idx="1"/>
          </p:nvPr>
        </p:nvSpPr>
        <p:spPr/>
        <p:txBody>
          <a:bodyPr>
            <a:normAutofit fontScale="92500" lnSpcReduction="20000"/>
          </a:bodyPr>
          <a:lstStyle/>
          <a:p>
            <a:r>
              <a:rPr lang="en-US" sz="3200" b="0" i="0" dirty="0">
                <a:solidFill>
                  <a:srgbClr val="292929"/>
                </a:solidFill>
                <a:effectLst/>
              </a:rPr>
              <a:t>When we have unclassified and unlabeled data, the system attempts to uncover patterns from the data . </a:t>
            </a:r>
          </a:p>
          <a:p>
            <a:r>
              <a:rPr lang="en-US" sz="3200" b="0" i="0" dirty="0">
                <a:solidFill>
                  <a:srgbClr val="292929"/>
                </a:solidFill>
                <a:effectLst/>
              </a:rPr>
              <a:t>There is no label or target given for the examples. </a:t>
            </a:r>
          </a:p>
          <a:p>
            <a:r>
              <a:rPr lang="en-US" sz="3200" b="0" i="0" dirty="0">
                <a:solidFill>
                  <a:srgbClr val="292929"/>
                </a:solidFill>
                <a:effectLst/>
              </a:rPr>
              <a:t>One common task is to group similar examples together called clustering.</a:t>
            </a:r>
            <a:endParaRPr lang="en-IN" altLang="en-US" sz="3200" dirty="0"/>
          </a:p>
          <a:p>
            <a:r>
              <a:rPr lang="tr-TR" altLang="en-US" sz="2800" dirty="0"/>
              <a:t>Example applications</a:t>
            </a:r>
          </a:p>
          <a:p>
            <a:pPr lvl="1"/>
            <a:r>
              <a:rPr lang="tr-TR" altLang="en-US" sz="3200" dirty="0"/>
              <a:t>Customer segmentation in CRM</a:t>
            </a:r>
          </a:p>
          <a:p>
            <a:pPr lvl="1"/>
            <a:r>
              <a:rPr lang="tr-TR" altLang="en-US" sz="3200" dirty="0"/>
              <a:t>Image compression: Color quantization</a:t>
            </a:r>
          </a:p>
          <a:p>
            <a:pPr lvl="1"/>
            <a:r>
              <a:rPr lang="tr-TR" altLang="en-US" sz="3200" dirty="0"/>
              <a:t>Bioinformatics: Learning motifs</a:t>
            </a:r>
          </a:p>
          <a:p>
            <a:endParaRPr lang="en-IN" sz="2800" dirty="0"/>
          </a:p>
          <a:p>
            <a:endParaRPr lang="en-IN" dirty="0"/>
          </a:p>
        </p:txBody>
      </p:sp>
      <p:sp>
        <p:nvSpPr>
          <p:cNvPr id="4" name="Footer Placeholder 3">
            <a:extLst>
              <a:ext uri="{FF2B5EF4-FFF2-40B4-BE49-F238E27FC236}">
                <a16:creationId xmlns:a16="http://schemas.microsoft.com/office/drawing/2014/main" id="{5166E876-4ADB-FE10-998A-5D83F382A399}"/>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E0DC2BE7-64AD-C58D-AFDB-0C9DA655819D}"/>
              </a:ext>
            </a:extLst>
          </p:cNvPr>
          <p:cNvSpPr>
            <a:spLocks noGrp="1"/>
          </p:cNvSpPr>
          <p:nvPr>
            <p:ph type="sldNum" sz="quarter" idx="12"/>
          </p:nvPr>
        </p:nvSpPr>
        <p:spPr/>
        <p:txBody>
          <a:bodyPr/>
          <a:lstStyle/>
          <a:p>
            <a:fld id="{1E81A027-E3F7-4FC9-A752-E855AD4A687D}" type="slidenum">
              <a:rPr lang="en-IN" smtClean="0"/>
              <a:t>32</a:t>
            </a:fld>
            <a:endParaRPr lang="en-IN"/>
          </a:p>
        </p:txBody>
      </p:sp>
    </p:spTree>
    <p:extLst>
      <p:ext uri="{BB962C8B-B14F-4D97-AF65-F5344CB8AC3E}">
        <p14:creationId xmlns:p14="http://schemas.microsoft.com/office/powerpoint/2010/main" val="26610739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6CD2B-13D1-C51E-FCB5-E431CB94CCC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F726E1F-53ED-63C2-0C1E-D5D578BA2500}"/>
              </a:ext>
            </a:extLst>
          </p:cNvPr>
          <p:cNvSpPr>
            <a:spLocks noGrp="1"/>
          </p:cNvSpPr>
          <p:nvPr>
            <p:ph idx="1"/>
          </p:nvPr>
        </p:nvSpPr>
        <p:spPr/>
        <p:txBody>
          <a:bodyPr/>
          <a:lstStyle/>
          <a:p>
            <a:r>
              <a:rPr lang="en-US" sz="3200" b="0" i="0" dirty="0">
                <a:solidFill>
                  <a:srgbClr val="3D3D3D"/>
                </a:solidFill>
                <a:effectLst/>
              </a:rPr>
              <a:t>Unsupervised learning models are used for three main tasks: </a:t>
            </a:r>
          </a:p>
          <a:p>
            <a:pPr lvl="1"/>
            <a:r>
              <a:rPr lang="en-US" sz="2800" dirty="0"/>
              <a:t>clustering: group data according to "distance"</a:t>
            </a:r>
          </a:p>
          <a:p>
            <a:pPr lvl="1"/>
            <a:r>
              <a:rPr lang="en-US" sz="2800" dirty="0"/>
              <a:t>association: find frequent co-occurrences</a:t>
            </a:r>
          </a:p>
          <a:p>
            <a:pPr lvl="1"/>
            <a:r>
              <a:rPr lang="en-US" sz="2800" dirty="0"/>
              <a:t>link prediction: discover relationships in data</a:t>
            </a:r>
          </a:p>
          <a:p>
            <a:pPr lvl="1"/>
            <a:r>
              <a:rPr lang="en-US" sz="2800" dirty="0"/>
              <a:t>data reduction: project features to fewer features</a:t>
            </a:r>
          </a:p>
          <a:p>
            <a:endParaRPr lang="en-IN" dirty="0"/>
          </a:p>
        </p:txBody>
      </p:sp>
      <p:sp>
        <p:nvSpPr>
          <p:cNvPr id="4" name="Footer Placeholder 3">
            <a:extLst>
              <a:ext uri="{FF2B5EF4-FFF2-40B4-BE49-F238E27FC236}">
                <a16:creationId xmlns:a16="http://schemas.microsoft.com/office/drawing/2014/main" id="{F15B3DC0-3A71-9134-2A79-4E09A391940B}"/>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11060C5F-93AE-4F93-0409-CFE6A7839004}"/>
              </a:ext>
            </a:extLst>
          </p:cNvPr>
          <p:cNvSpPr>
            <a:spLocks noGrp="1"/>
          </p:cNvSpPr>
          <p:nvPr>
            <p:ph type="sldNum" sz="quarter" idx="12"/>
          </p:nvPr>
        </p:nvSpPr>
        <p:spPr/>
        <p:txBody>
          <a:bodyPr/>
          <a:lstStyle/>
          <a:p>
            <a:fld id="{1E81A027-E3F7-4FC9-A752-E855AD4A687D}" type="slidenum">
              <a:rPr lang="en-IN" smtClean="0"/>
              <a:t>33</a:t>
            </a:fld>
            <a:endParaRPr lang="en-IN"/>
          </a:p>
        </p:txBody>
      </p:sp>
    </p:spTree>
    <p:extLst>
      <p:ext uri="{BB962C8B-B14F-4D97-AF65-F5344CB8AC3E}">
        <p14:creationId xmlns:p14="http://schemas.microsoft.com/office/powerpoint/2010/main" val="31220140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A2A0E-FD7A-F82B-4FF9-7668F687D1D0}"/>
              </a:ext>
            </a:extLst>
          </p:cNvPr>
          <p:cNvSpPr>
            <a:spLocks noGrp="1"/>
          </p:cNvSpPr>
          <p:nvPr>
            <p:ph type="title"/>
          </p:nvPr>
        </p:nvSpPr>
        <p:spPr/>
        <p:txBody>
          <a:bodyPr/>
          <a:lstStyle/>
          <a:p>
            <a:r>
              <a:rPr lang="en-IN" i="0" dirty="0">
                <a:solidFill>
                  <a:srgbClr val="3D3D3D"/>
                </a:solidFill>
                <a:effectLst/>
              </a:rPr>
              <a:t>Clustering </a:t>
            </a:r>
            <a:endParaRPr lang="en-IN" dirty="0">
              <a:solidFill>
                <a:schemeClr val="tx1"/>
              </a:solidFill>
            </a:endParaRPr>
          </a:p>
        </p:txBody>
      </p:sp>
      <p:sp>
        <p:nvSpPr>
          <p:cNvPr id="3" name="Content Placeholder 2">
            <a:extLst>
              <a:ext uri="{FF2B5EF4-FFF2-40B4-BE49-F238E27FC236}">
                <a16:creationId xmlns:a16="http://schemas.microsoft.com/office/drawing/2014/main" id="{767BBCE3-32FF-64E7-0C36-A05ED66C1774}"/>
              </a:ext>
            </a:extLst>
          </p:cNvPr>
          <p:cNvSpPr>
            <a:spLocks noGrp="1"/>
          </p:cNvSpPr>
          <p:nvPr>
            <p:ph idx="1"/>
          </p:nvPr>
        </p:nvSpPr>
        <p:spPr/>
        <p:txBody>
          <a:bodyPr>
            <a:normAutofit/>
          </a:bodyPr>
          <a:lstStyle/>
          <a:p>
            <a:r>
              <a:rPr lang="en-US" sz="3200" b="0" i="0" dirty="0">
                <a:solidFill>
                  <a:srgbClr val="3D3D3D"/>
                </a:solidFill>
                <a:effectLst/>
                <a:latin typeface="IBM Plex Sans" panose="020B0503050203000203" pitchFamily="34" charset="0"/>
              </a:rPr>
              <a:t>It is a data mining technique for grouping unlabeled data based on their similarities or differences. </a:t>
            </a:r>
          </a:p>
          <a:p>
            <a:r>
              <a:rPr lang="en-US" sz="3200" b="0" i="0" dirty="0">
                <a:solidFill>
                  <a:srgbClr val="3D3D3D"/>
                </a:solidFill>
                <a:effectLst/>
                <a:latin typeface="IBM Plex Sans" panose="020B0503050203000203" pitchFamily="34" charset="0"/>
              </a:rPr>
              <a:t>For example, K-means clustering algorithms assign similar data points into groups, where the K value represents the size of the grouping and granularity. </a:t>
            </a:r>
          </a:p>
          <a:p>
            <a:r>
              <a:rPr lang="en-US" sz="3200" b="0" i="0" dirty="0">
                <a:solidFill>
                  <a:srgbClr val="3D3D3D"/>
                </a:solidFill>
                <a:effectLst/>
                <a:latin typeface="IBM Plex Sans" panose="020B0503050203000203" pitchFamily="34" charset="0"/>
              </a:rPr>
              <a:t>This technique is helpful for market segmentation, image compression, etc.</a:t>
            </a:r>
            <a:endParaRPr lang="en-IN" sz="3200" dirty="0"/>
          </a:p>
        </p:txBody>
      </p:sp>
      <p:sp>
        <p:nvSpPr>
          <p:cNvPr id="4" name="Footer Placeholder 3">
            <a:extLst>
              <a:ext uri="{FF2B5EF4-FFF2-40B4-BE49-F238E27FC236}">
                <a16:creationId xmlns:a16="http://schemas.microsoft.com/office/drawing/2014/main" id="{2EC8EFEE-3DB6-DBB0-D494-A5B5827924D5}"/>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2A142864-EB66-6FFF-54B6-61FC137155FD}"/>
              </a:ext>
            </a:extLst>
          </p:cNvPr>
          <p:cNvSpPr>
            <a:spLocks noGrp="1"/>
          </p:cNvSpPr>
          <p:nvPr>
            <p:ph type="sldNum" sz="quarter" idx="12"/>
          </p:nvPr>
        </p:nvSpPr>
        <p:spPr/>
        <p:txBody>
          <a:bodyPr/>
          <a:lstStyle/>
          <a:p>
            <a:fld id="{1E81A027-E3F7-4FC9-A752-E855AD4A687D}" type="slidenum">
              <a:rPr lang="en-IN" smtClean="0"/>
              <a:t>34</a:t>
            </a:fld>
            <a:endParaRPr lang="en-IN"/>
          </a:p>
        </p:txBody>
      </p:sp>
    </p:spTree>
    <p:extLst>
      <p:ext uri="{BB962C8B-B14F-4D97-AF65-F5344CB8AC3E}">
        <p14:creationId xmlns:p14="http://schemas.microsoft.com/office/powerpoint/2010/main" val="37215900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EB8E8-4B4A-076E-5CFF-0978E0ED320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D5C2F44-4369-524C-D096-BAD2A0027C49}"/>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92E67C7F-6D80-56CF-F0AC-E1754A3DF455}"/>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C0D10255-0BD2-415B-C2AE-62A470D76442}"/>
              </a:ext>
            </a:extLst>
          </p:cNvPr>
          <p:cNvSpPr>
            <a:spLocks noGrp="1"/>
          </p:cNvSpPr>
          <p:nvPr>
            <p:ph type="sldNum" sz="quarter" idx="12"/>
          </p:nvPr>
        </p:nvSpPr>
        <p:spPr/>
        <p:txBody>
          <a:bodyPr/>
          <a:lstStyle/>
          <a:p>
            <a:fld id="{1E81A027-E3F7-4FC9-A752-E855AD4A687D}" type="slidenum">
              <a:rPr lang="en-IN" smtClean="0"/>
              <a:t>35</a:t>
            </a:fld>
            <a:endParaRPr lang="en-IN"/>
          </a:p>
        </p:txBody>
      </p:sp>
      <p:pic>
        <p:nvPicPr>
          <p:cNvPr id="6" name="Picture 5">
            <a:extLst>
              <a:ext uri="{FF2B5EF4-FFF2-40B4-BE49-F238E27FC236}">
                <a16:creationId xmlns:a16="http://schemas.microsoft.com/office/drawing/2014/main" id="{6D548D45-E6D6-6BE1-9B34-846EB8D0007C}"/>
              </a:ext>
            </a:extLst>
          </p:cNvPr>
          <p:cNvPicPr>
            <a:picLocks noChangeAspect="1"/>
          </p:cNvPicPr>
          <p:nvPr/>
        </p:nvPicPr>
        <p:blipFill>
          <a:blip r:embed="rId2"/>
          <a:stretch>
            <a:fillRect/>
          </a:stretch>
        </p:blipFill>
        <p:spPr>
          <a:xfrm>
            <a:off x="475861" y="249039"/>
            <a:ext cx="10674497" cy="6039794"/>
          </a:xfrm>
          <a:prstGeom prst="rect">
            <a:avLst/>
          </a:prstGeom>
        </p:spPr>
      </p:pic>
    </p:spTree>
    <p:extLst>
      <p:ext uri="{BB962C8B-B14F-4D97-AF65-F5344CB8AC3E}">
        <p14:creationId xmlns:p14="http://schemas.microsoft.com/office/powerpoint/2010/main" val="27108885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906C1-62F9-6523-7D2B-81806EFABDB3}"/>
              </a:ext>
            </a:extLst>
          </p:cNvPr>
          <p:cNvSpPr>
            <a:spLocks noGrp="1"/>
          </p:cNvSpPr>
          <p:nvPr>
            <p:ph type="title"/>
          </p:nvPr>
        </p:nvSpPr>
        <p:spPr/>
        <p:txBody>
          <a:bodyPr/>
          <a:lstStyle/>
          <a:p>
            <a:r>
              <a:rPr lang="en-IN" i="0" dirty="0">
                <a:solidFill>
                  <a:srgbClr val="273239"/>
                </a:solidFill>
                <a:effectLst/>
              </a:rPr>
              <a:t>Dimensionality Reduction</a:t>
            </a:r>
            <a:endParaRPr lang="en-IN" dirty="0"/>
          </a:p>
        </p:txBody>
      </p:sp>
      <p:sp>
        <p:nvSpPr>
          <p:cNvPr id="3" name="Content Placeholder 2">
            <a:extLst>
              <a:ext uri="{FF2B5EF4-FFF2-40B4-BE49-F238E27FC236}">
                <a16:creationId xmlns:a16="http://schemas.microsoft.com/office/drawing/2014/main" id="{13843E44-9A59-23EF-CE64-B4D158D1947A}"/>
              </a:ext>
            </a:extLst>
          </p:cNvPr>
          <p:cNvSpPr>
            <a:spLocks noGrp="1"/>
          </p:cNvSpPr>
          <p:nvPr>
            <p:ph idx="1"/>
          </p:nvPr>
        </p:nvSpPr>
        <p:spPr/>
        <p:txBody>
          <a:bodyPr>
            <a:normAutofit/>
          </a:bodyPr>
          <a:lstStyle/>
          <a:p>
            <a:r>
              <a:rPr lang="en-US" sz="2800" b="0" i="0" dirty="0">
                <a:solidFill>
                  <a:srgbClr val="3D3D3D"/>
                </a:solidFill>
                <a:effectLst/>
                <a:latin typeface="IBM Plex Sans" panose="020B0503050203000203" pitchFamily="34" charset="0"/>
              </a:rPr>
              <a:t>It is a learning technique used when the number of features  (or dimensions) in a given dataset is too high. </a:t>
            </a:r>
          </a:p>
          <a:p>
            <a:r>
              <a:rPr lang="en-US" sz="2800" b="0" i="0" dirty="0">
                <a:solidFill>
                  <a:srgbClr val="3D3D3D"/>
                </a:solidFill>
                <a:effectLst/>
                <a:latin typeface="IBM Plex Sans" panose="020B0503050203000203" pitchFamily="34" charset="0"/>
              </a:rPr>
              <a:t>It reduces the number of data inputs to a manageable size while also preserving the data integrity. </a:t>
            </a:r>
          </a:p>
          <a:p>
            <a:r>
              <a:rPr lang="en-US" sz="2800" b="0" i="0" dirty="0">
                <a:solidFill>
                  <a:srgbClr val="3D3D3D"/>
                </a:solidFill>
                <a:effectLst/>
                <a:latin typeface="IBM Plex Sans" panose="020B0503050203000203" pitchFamily="34" charset="0"/>
              </a:rPr>
              <a:t>Often, this technique is used in the preprocessing data stage, such as when autoencoders remove noise from visual data to improve picture quality.</a:t>
            </a:r>
            <a:endParaRPr lang="en-IN" sz="2800" dirty="0"/>
          </a:p>
        </p:txBody>
      </p:sp>
      <p:sp>
        <p:nvSpPr>
          <p:cNvPr id="4" name="Footer Placeholder 3">
            <a:extLst>
              <a:ext uri="{FF2B5EF4-FFF2-40B4-BE49-F238E27FC236}">
                <a16:creationId xmlns:a16="http://schemas.microsoft.com/office/drawing/2014/main" id="{7A22CCEC-7950-0E80-B450-B5CFCEA4DF4B}"/>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564A5A85-2678-E85A-31AA-367B5FBC075B}"/>
              </a:ext>
            </a:extLst>
          </p:cNvPr>
          <p:cNvSpPr>
            <a:spLocks noGrp="1"/>
          </p:cNvSpPr>
          <p:nvPr>
            <p:ph type="sldNum" sz="quarter" idx="12"/>
          </p:nvPr>
        </p:nvSpPr>
        <p:spPr/>
        <p:txBody>
          <a:bodyPr/>
          <a:lstStyle/>
          <a:p>
            <a:fld id="{1E81A027-E3F7-4FC9-A752-E855AD4A687D}" type="slidenum">
              <a:rPr lang="en-IN" smtClean="0"/>
              <a:t>36</a:t>
            </a:fld>
            <a:endParaRPr lang="en-IN"/>
          </a:p>
        </p:txBody>
      </p:sp>
    </p:spTree>
    <p:extLst>
      <p:ext uri="{BB962C8B-B14F-4D97-AF65-F5344CB8AC3E}">
        <p14:creationId xmlns:p14="http://schemas.microsoft.com/office/powerpoint/2010/main" val="31862608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3FE31-8FDC-97BC-FAEC-CF91C64353B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0553C9-E819-E3D0-EA46-B461CF6A408F}"/>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CE8111EB-C01C-FA5B-8941-62C67B31FCCB}"/>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015412D5-D392-20B7-639A-682D53ADADC3}"/>
              </a:ext>
            </a:extLst>
          </p:cNvPr>
          <p:cNvSpPr>
            <a:spLocks noGrp="1"/>
          </p:cNvSpPr>
          <p:nvPr>
            <p:ph type="sldNum" sz="quarter" idx="12"/>
          </p:nvPr>
        </p:nvSpPr>
        <p:spPr/>
        <p:txBody>
          <a:bodyPr/>
          <a:lstStyle/>
          <a:p>
            <a:fld id="{1E81A027-E3F7-4FC9-A752-E855AD4A687D}" type="slidenum">
              <a:rPr lang="en-IN" smtClean="0"/>
              <a:t>37</a:t>
            </a:fld>
            <a:endParaRPr lang="en-IN"/>
          </a:p>
        </p:txBody>
      </p:sp>
      <p:pic>
        <p:nvPicPr>
          <p:cNvPr id="7" name="Picture 6">
            <a:extLst>
              <a:ext uri="{FF2B5EF4-FFF2-40B4-BE49-F238E27FC236}">
                <a16:creationId xmlns:a16="http://schemas.microsoft.com/office/drawing/2014/main" id="{B26CDD7C-4961-AF9A-0725-87AE2C3DF001}"/>
              </a:ext>
            </a:extLst>
          </p:cNvPr>
          <p:cNvPicPr>
            <a:picLocks noChangeAspect="1"/>
          </p:cNvPicPr>
          <p:nvPr/>
        </p:nvPicPr>
        <p:blipFill>
          <a:blip r:embed="rId2"/>
          <a:stretch>
            <a:fillRect/>
          </a:stretch>
        </p:blipFill>
        <p:spPr>
          <a:xfrm>
            <a:off x="2220894" y="1199957"/>
            <a:ext cx="7750212" cy="4458086"/>
          </a:xfrm>
          <a:prstGeom prst="rect">
            <a:avLst/>
          </a:prstGeom>
        </p:spPr>
      </p:pic>
    </p:spTree>
    <p:extLst>
      <p:ext uri="{BB962C8B-B14F-4D97-AF65-F5344CB8AC3E}">
        <p14:creationId xmlns:p14="http://schemas.microsoft.com/office/powerpoint/2010/main" val="31719074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16D2B-01A1-CC81-1C38-484A384D3EF1}"/>
              </a:ext>
            </a:extLst>
          </p:cNvPr>
          <p:cNvSpPr>
            <a:spLocks noGrp="1"/>
          </p:cNvSpPr>
          <p:nvPr>
            <p:ph type="title"/>
          </p:nvPr>
        </p:nvSpPr>
        <p:spPr/>
        <p:txBody>
          <a:bodyPr/>
          <a:lstStyle/>
          <a:p>
            <a:r>
              <a:rPr lang="en-IN" i="0" dirty="0">
                <a:solidFill>
                  <a:srgbClr val="3D3D3D"/>
                </a:solidFill>
                <a:effectLst/>
              </a:rPr>
              <a:t>Association </a:t>
            </a:r>
            <a:endParaRPr lang="en-IN" dirty="0"/>
          </a:p>
        </p:txBody>
      </p:sp>
      <p:sp>
        <p:nvSpPr>
          <p:cNvPr id="3" name="Content Placeholder 2">
            <a:extLst>
              <a:ext uri="{FF2B5EF4-FFF2-40B4-BE49-F238E27FC236}">
                <a16:creationId xmlns:a16="http://schemas.microsoft.com/office/drawing/2014/main" id="{33BDA74D-C345-A053-7416-643A98D53D56}"/>
              </a:ext>
            </a:extLst>
          </p:cNvPr>
          <p:cNvSpPr>
            <a:spLocks noGrp="1"/>
          </p:cNvSpPr>
          <p:nvPr>
            <p:ph idx="1"/>
          </p:nvPr>
        </p:nvSpPr>
        <p:spPr/>
        <p:txBody>
          <a:bodyPr/>
          <a:lstStyle/>
          <a:p>
            <a:r>
              <a:rPr lang="en-US" b="0" i="0" dirty="0">
                <a:solidFill>
                  <a:srgbClr val="3D3D3D"/>
                </a:solidFill>
                <a:effectLst/>
                <a:latin typeface="IBM Plex Sans" panose="020B0503050203000203" pitchFamily="34" charset="0"/>
              </a:rPr>
              <a:t>uses different rules to find relationships between variables in a given dataset. </a:t>
            </a:r>
          </a:p>
          <a:p>
            <a:r>
              <a:rPr lang="en-US" b="0" i="0" dirty="0">
                <a:solidFill>
                  <a:srgbClr val="3D3D3D"/>
                </a:solidFill>
                <a:effectLst/>
                <a:latin typeface="IBM Plex Sans" panose="020B0503050203000203" pitchFamily="34" charset="0"/>
              </a:rPr>
              <a:t>These methods are frequently used for market basket analysis and recommendation engines, along the lines of “Customers Who Bought This Item Also Bought” recommendations.</a:t>
            </a:r>
            <a:endParaRPr lang="en-IN" dirty="0"/>
          </a:p>
          <a:p>
            <a:endParaRPr lang="en-IN" dirty="0"/>
          </a:p>
        </p:txBody>
      </p:sp>
      <p:sp>
        <p:nvSpPr>
          <p:cNvPr id="4" name="Footer Placeholder 3">
            <a:extLst>
              <a:ext uri="{FF2B5EF4-FFF2-40B4-BE49-F238E27FC236}">
                <a16:creationId xmlns:a16="http://schemas.microsoft.com/office/drawing/2014/main" id="{6B92D3BE-87FF-C4F1-CA5B-059226602E90}"/>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DB5EB7EB-45B9-B75B-E9AF-6BDD21E0E7AA}"/>
              </a:ext>
            </a:extLst>
          </p:cNvPr>
          <p:cNvSpPr>
            <a:spLocks noGrp="1"/>
          </p:cNvSpPr>
          <p:nvPr>
            <p:ph type="sldNum" sz="quarter" idx="12"/>
          </p:nvPr>
        </p:nvSpPr>
        <p:spPr/>
        <p:txBody>
          <a:bodyPr/>
          <a:lstStyle/>
          <a:p>
            <a:fld id="{1E81A027-E3F7-4FC9-A752-E855AD4A687D}" type="slidenum">
              <a:rPr lang="en-IN" smtClean="0"/>
              <a:t>38</a:t>
            </a:fld>
            <a:endParaRPr lang="en-IN"/>
          </a:p>
        </p:txBody>
      </p:sp>
    </p:spTree>
    <p:extLst>
      <p:ext uri="{BB962C8B-B14F-4D97-AF65-F5344CB8AC3E}">
        <p14:creationId xmlns:p14="http://schemas.microsoft.com/office/powerpoint/2010/main" val="37489824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8F64E-0E4E-E385-987E-20A28D50A94D}"/>
              </a:ext>
            </a:extLst>
          </p:cNvPr>
          <p:cNvSpPr>
            <a:spLocks noGrp="1"/>
          </p:cNvSpPr>
          <p:nvPr>
            <p:ph type="title"/>
          </p:nvPr>
        </p:nvSpPr>
        <p:spPr/>
        <p:txBody>
          <a:bodyPr/>
          <a:lstStyle/>
          <a:p>
            <a:r>
              <a:rPr lang="en-IN" dirty="0"/>
              <a:t>REINFORCEMENT LEARNING</a:t>
            </a:r>
          </a:p>
        </p:txBody>
      </p:sp>
      <p:sp>
        <p:nvSpPr>
          <p:cNvPr id="3" name="Content Placeholder 2">
            <a:extLst>
              <a:ext uri="{FF2B5EF4-FFF2-40B4-BE49-F238E27FC236}">
                <a16:creationId xmlns:a16="http://schemas.microsoft.com/office/drawing/2014/main" id="{C22CA82D-229B-4B8F-1085-6B37A9E56EE6}"/>
              </a:ext>
            </a:extLst>
          </p:cNvPr>
          <p:cNvSpPr>
            <a:spLocks noGrp="1"/>
          </p:cNvSpPr>
          <p:nvPr>
            <p:ph idx="1"/>
          </p:nvPr>
        </p:nvSpPr>
        <p:spPr>
          <a:xfrm>
            <a:off x="126896" y="1892387"/>
            <a:ext cx="8028059" cy="4023360"/>
          </a:xfrm>
        </p:spPr>
        <p:txBody>
          <a:bodyPr>
            <a:normAutofit fontScale="92500"/>
          </a:bodyPr>
          <a:lstStyle/>
          <a:p>
            <a:r>
              <a:rPr lang="en-US" sz="2800" dirty="0"/>
              <a:t>Agent learns from a series of reinforcements rewards or punishments.</a:t>
            </a:r>
          </a:p>
          <a:p>
            <a:r>
              <a:rPr lang="en-US" sz="2800" dirty="0"/>
              <a:t>For example, the lack of a tip at the end of the journey gives the taxi agent an indication that it did something wrong. </a:t>
            </a:r>
          </a:p>
          <a:p>
            <a:r>
              <a:rPr lang="en-US" sz="2800" dirty="0"/>
              <a:t>The two points for a win at the end of a chess game tells the agent it did something right. </a:t>
            </a:r>
          </a:p>
          <a:p>
            <a:r>
              <a:rPr lang="en-US" sz="2800" dirty="0"/>
              <a:t>It is up to the agent to decide which of the actions prior to the reinforcement were most responsible for it.</a:t>
            </a:r>
            <a:endParaRPr lang="en-IN" sz="2800" dirty="0"/>
          </a:p>
        </p:txBody>
      </p:sp>
      <p:sp>
        <p:nvSpPr>
          <p:cNvPr id="4" name="Footer Placeholder 3">
            <a:extLst>
              <a:ext uri="{FF2B5EF4-FFF2-40B4-BE49-F238E27FC236}">
                <a16:creationId xmlns:a16="http://schemas.microsoft.com/office/drawing/2014/main" id="{E044A22E-F4F7-2251-E0EB-75D187ED95B0}"/>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DFA3CB81-760F-88BE-2C23-B874B33AF1AF}"/>
              </a:ext>
            </a:extLst>
          </p:cNvPr>
          <p:cNvSpPr>
            <a:spLocks noGrp="1"/>
          </p:cNvSpPr>
          <p:nvPr>
            <p:ph type="sldNum" sz="quarter" idx="12"/>
          </p:nvPr>
        </p:nvSpPr>
        <p:spPr/>
        <p:txBody>
          <a:bodyPr/>
          <a:lstStyle/>
          <a:p>
            <a:fld id="{1E81A027-E3F7-4FC9-A752-E855AD4A687D}" type="slidenum">
              <a:rPr lang="en-IN" smtClean="0"/>
              <a:t>39</a:t>
            </a:fld>
            <a:endParaRPr lang="en-IN"/>
          </a:p>
        </p:txBody>
      </p:sp>
      <p:pic>
        <p:nvPicPr>
          <p:cNvPr id="6" name="Picture 2">
            <a:extLst>
              <a:ext uri="{FF2B5EF4-FFF2-40B4-BE49-F238E27FC236}">
                <a16:creationId xmlns:a16="http://schemas.microsoft.com/office/drawing/2014/main" id="{DE338F79-9182-F6A3-EAB8-70C4C9B97E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0804" y="2103392"/>
            <a:ext cx="3201679" cy="3095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8338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6C849-A0A1-79D9-1F28-5C6FF816872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86216CE-F4EF-CC84-021E-E2781CE1106C}"/>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C9956CED-81B9-8633-EF56-C372F99845F5}"/>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A2020A26-B0DD-5A3E-A4AE-0D3267C16849}"/>
              </a:ext>
            </a:extLst>
          </p:cNvPr>
          <p:cNvSpPr>
            <a:spLocks noGrp="1"/>
          </p:cNvSpPr>
          <p:nvPr>
            <p:ph type="sldNum" sz="quarter" idx="12"/>
          </p:nvPr>
        </p:nvSpPr>
        <p:spPr/>
        <p:txBody>
          <a:bodyPr/>
          <a:lstStyle/>
          <a:p>
            <a:fld id="{1E81A027-E3F7-4FC9-A752-E855AD4A687D}" type="slidenum">
              <a:rPr lang="en-IN" smtClean="0"/>
              <a:t>40</a:t>
            </a:fld>
            <a:endParaRPr lang="en-IN"/>
          </a:p>
        </p:txBody>
      </p:sp>
      <p:pic>
        <p:nvPicPr>
          <p:cNvPr id="7" name="Picture 6">
            <a:extLst>
              <a:ext uri="{FF2B5EF4-FFF2-40B4-BE49-F238E27FC236}">
                <a16:creationId xmlns:a16="http://schemas.microsoft.com/office/drawing/2014/main" id="{2B74B054-E64D-3A81-28DB-0EB56EDCFBFF}"/>
              </a:ext>
            </a:extLst>
          </p:cNvPr>
          <p:cNvPicPr>
            <a:picLocks noChangeAspect="1"/>
          </p:cNvPicPr>
          <p:nvPr/>
        </p:nvPicPr>
        <p:blipFill>
          <a:blip r:embed="rId2"/>
          <a:stretch>
            <a:fillRect/>
          </a:stretch>
        </p:blipFill>
        <p:spPr>
          <a:xfrm>
            <a:off x="-32557" y="877078"/>
            <a:ext cx="10868608" cy="4525674"/>
          </a:xfrm>
          <a:prstGeom prst="rect">
            <a:avLst/>
          </a:prstGeom>
        </p:spPr>
      </p:pic>
    </p:spTree>
    <p:extLst>
      <p:ext uri="{BB962C8B-B14F-4D97-AF65-F5344CB8AC3E}">
        <p14:creationId xmlns:p14="http://schemas.microsoft.com/office/powerpoint/2010/main" val="41971976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63684-42A8-6C7F-4498-34C9DC73D616}"/>
              </a:ext>
            </a:extLst>
          </p:cNvPr>
          <p:cNvSpPr>
            <a:spLocks noGrp="1"/>
          </p:cNvSpPr>
          <p:nvPr>
            <p:ph type="title"/>
          </p:nvPr>
        </p:nvSpPr>
        <p:spPr/>
        <p:txBody>
          <a:bodyPr/>
          <a:lstStyle/>
          <a:p>
            <a:r>
              <a:rPr lang="en-IN" dirty="0"/>
              <a:t>semi-supervised learning</a:t>
            </a:r>
          </a:p>
        </p:txBody>
      </p:sp>
      <p:sp>
        <p:nvSpPr>
          <p:cNvPr id="3" name="Content Placeholder 2">
            <a:extLst>
              <a:ext uri="{FF2B5EF4-FFF2-40B4-BE49-F238E27FC236}">
                <a16:creationId xmlns:a16="http://schemas.microsoft.com/office/drawing/2014/main" id="{7114AB31-6EB3-2F60-820A-4C20EE1E6DC2}"/>
              </a:ext>
            </a:extLst>
          </p:cNvPr>
          <p:cNvSpPr>
            <a:spLocks noGrp="1"/>
          </p:cNvSpPr>
          <p:nvPr>
            <p:ph idx="1"/>
          </p:nvPr>
        </p:nvSpPr>
        <p:spPr/>
        <p:txBody>
          <a:bodyPr/>
          <a:lstStyle/>
          <a:p>
            <a:r>
              <a:rPr lang="en-US" dirty="0"/>
              <a:t>In semi-supervised learning we are given a few labeled examples and must make what we can of a large collection of unlabeled examples. </a:t>
            </a:r>
          </a:p>
          <a:p>
            <a:r>
              <a:rPr lang="en-US" dirty="0"/>
              <a:t>Even the labels themselves may not be the oracular truths that we hope for. </a:t>
            </a:r>
          </a:p>
          <a:p>
            <a:r>
              <a:rPr lang="en-US" dirty="0"/>
              <a:t>Imagine that you are trying to build a system to guess a person’s age from a photo.</a:t>
            </a:r>
          </a:p>
          <a:p>
            <a:pPr lvl="1"/>
            <a:r>
              <a:rPr lang="en-US" dirty="0"/>
              <a:t>You gather some labeled examples by snapping pictures of people and asking their age. That’s supervised learning. </a:t>
            </a:r>
          </a:p>
          <a:p>
            <a:pPr lvl="1"/>
            <a:r>
              <a:rPr lang="en-US" dirty="0"/>
              <a:t>But in reality some of the people lied about their age. </a:t>
            </a:r>
          </a:p>
          <a:p>
            <a:pPr lvl="1"/>
            <a:r>
              <a:rPr lang="en-US" dirty="0"/>
              <a:t>It’s not just that there is random noise in the data; rather the inaccuracies are systematic, and to uncover them is an unsupervised learning problem involving images, self-reported ages, and true (unknown) ages. </a:t>
            </a:r>
          </a:p>
          <a:p>
            <a:pPr lvl="1"/>
            <a:r>
              <a:rPr lang="en-US" dirty="0"/>
              <a:t>Thus, both noise and lack of labels create a continuum between supervised and unsupervised learning</a:t>
            </a:r>
            <a:endParaRPr lang="en-IN" dirty="0"/>
          </a:p>
        </p:txBody>
      </p:sp>
      <p:sp>
        <p:nvSpPr>
          <p:cNvPr id="4" name="Footer Placeholder 3">
            <a:extLst>
              <a:ext uri="{FF2B5EF4-FFF2-40B4-BE49-F238E27FC236}">
                <a16:creationId xmlns:a16="http://schemas.microsoft.com/office/drawing/2014/main" id="{6D411369-8F8D-1EEC-8D83-46E7CB4A05C3}"/>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F2D51DA5-2A50-75DF-5775-25664B517E17}"/>
              </a:ext>
            </a:extLst>
          </p:cNvPr>
          <p:cNvSpPr>
            <a:spLocks noGrp="1"/>
          </p:cNvSpPr>
          <p:nvPr>
            <p:ph type="sldNum" sz="quarter" idx="12"/>
          </p:nvPr>
        </p:nvSpPr>
        <p:spPr/>
        <p:txBody>
          <a:bodyPr/>
          <a:lstStyle/>
          <a:p>
            <a:fld id="{1E81A027-E3F7-4FC9-A752-E855AD4A687D}" type="slidenum">
              <a:rPr lang="en-IN" smtClean="0"/>
              <a:t>41</a:t>
            </a:fld>
            <a:endParaRPr lang="en-IN"/>
          </a:p>
        </p:txBody>
      </p:sp>
    </p:spTree>
    <p:extLst>
      <p:ext uri="{BB962C8B-B14F-4D97-AF65-F5344CB8AC3E}">
        <p14:creationId xmlns:p14="http://schemas.microsoft.com/office/powerpoint/2010/main" val="39257298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D566B-B926-C4A8-4629-C319DB2AB37F}"/>
              </a:ext>
            </a:extLst>
          </p:cNvPr>
          <p:cNvSpPr>
            <a:spLocks noGrp="1"/>
          </p:cNvSpPr>
          <p:nvPr>
            <p:ph type="title"/>
          </p:nvPr>
        </p:nvSpPr>
        <p:spPr/>
        <p:txBody>
          <a:bodyPr/>
          <a:lstStyle/>
          <a:p>
            <a:r>
              <a:rPr lang="en-IN" dirty="0"/>
              <a:t>SUPERVISED LEARNING </a:t>
            </a:r>
          </a:p>
        </p:txBody>
      </p:sp>
      <p:sp>
        <p:nvSpPr>
          <p:cNvPr id="3" name="Content Placeholder 2">
            <a:extLst>
              <a:ext uri="{FF2B5EF4-FFF2-40B4-BE49-F238E27FC236}">
                <a16:creationId xmlns:a16="http://schemas.microsoft.com/office/drawing/2014/main" id="{C05F0889-D8AE-8001-2AC2-A0890F846492}"/>
              </a:ext>
            </a:extLst>
          </p:cNvPr>
          <p:cNvSpPr>
            <a:spLocks noGrp="1"/>
          </p:cNvSpPr>
          <p:nvPr>
            <p:ph idx="1"/>
          </p:nvPr>
        </p:nvSpPr>
        <p:spPr/>
        <p:txBody>
          <a:bodyPr>
            <a:normAutofit/>
          </a:bodyPr>
          <a:lstStyle/>
          <a:p>
            <a:r>
              <a:rPr lang="en-US" sz="2800" dirty="0"/>
              <a:t>The task of supervised learning is this</a:t>
            </a:r>
          </a:p>
          <a:p>
            <a:r>
              <a:rPr lang="en-US" sz="2800" dirty="0"/>
              <a:t>Given a training set of N example input–output pairs </a:t>
            </a:r>
          </a:p>
          <a:p>
            <a:r>
              <a:rPr lang="en-US" sz="2800" dirty="0"/>
              <a:t>(x1, y1),(x2, y2),...(</a:t>
            </a:r>
            <a:r>
              <a:rPr lang="en-US" sz="2800" dirty="0" err="1"/>
              <a:t>xN</a:t>
            </a:r>
            <a:r>
              <a:rPr lang="en-US" sz="2800" dirty="0"/>
              <a:t> , </a:t>
            </a:r>
            <a:r>
              <a:rPr lang="en-US" sz="2800" dirty="0" err="1"/>
              <a:t>yN</a:t>
            </a:r>
            <a:r>
              <a:rPr lang="en-US" sz="2800" dirty="0"/>
              <a:t> ) ,</a:t>
            </a:r>
          </a:p>
          <a:p>
            <a:r>
              <a:rPr lang="en-US" sz="2800" dirty="0"/>
              <a:t> where each </a:t>
            </a:r>
            <a:r>
              <a:rPr lang="en-US" sz="2800" dirty="0" err="1"/>
              <a:t>y</a:t>
            </a:r>
            <a:r>
              <a:rPr lang="en-US" sz="2800" baseline="-25000" dirty="0" err="1"/>
              <a:t>j</a:t>
            </a:r>
            <a:r>
              <a:rPr lang="en-US" sz="2800" dirty="0"/>
              <a:t> was generated by an unknown function </a:t>
            </a:r>
            <a:r>
              <a:rPr lang="en-US" sz="2800" dirty="0">
                <a:solidFill>
                  <a:srgbClr val="FF0000"/>
                </a:solidFill>
              </a:rPr>
              <a:t>y = f(x), </a:t>
            </a:r>
          </a:p>
          <a:p>
            <a:r>
              <a:rPr lang="en-US" sz="2800" dirty="0">
                <a:solidFill>
                  <a:srgbClr val="FF0000"/>
                </a:solidFill>
              </a:rPr>
              <a:t>discover a function h that approximates the true function f.</a:t>
            </a:r>
          </a:p>
          <a:p>
            <a:r>
              <a:rPr lang="en-US" sz="2800" dirty="0"/>
              <a:t>Here x and y can be any value; they need not be numbers. </a:t>
            </a:r>
          </a:p>
          <a:p>
            <a:r>
              <a:rPr lang="en-US" sz="2800" dirty="0">
                <a:solidFill>
                  <a:srgbClr val="FF0000"/>
                </a:solidFill>
              </a:rPr>
              <a:t>The function h is a hypothesis</a:t>
            </a:r>
          </a:p>
        </p:txBody>
      </p:sp>
      <p:sp>
        <p:nvSpPr>
          <p:cNvPr id="4" name="Footer Placeholder 3">
            <a:extLst>
              <a:ext uri="{FF2B5EF4-FFF2-40B4-BE49-F238E27FC236}">
                <a16:creationId xmlns:a16="http://schemas.microsoft.com/office/drawing/2014/main" id="{E930B0C2-CDBD-DA07-C3E6-04C3654B9F1B}"/>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92D82EDE-C24C-B6EF-9522-E424C535A4EE}"/>
              </a:ext>
            </a:extLst>
          </p:cNvPr>
          <p:cNvSpPr>
            <a:spLocks noGrp="1"/>
          </p:cNvSpPr>
          <p:nvPr>
            <p:ph type="sldNum" sz="quarter" idx="12"/>
          </p:nvPr>
        </p:nvSpPr>
        <p:spPr/>
        <p:txBody>
          <a:bodyPr/>
          <a:lstStyle/>
          <a:p>
            <a:fld id="{1E81A027-E3F7-4FC9-A752-E855AD4A687D}" type="slidenum">
              <a:rPr lang="en-IN" smtClean="0"/>
              <a:t>42</a:t>
            </a:fld>
            <a:endParaRPr lang="en-IN"/>
          </a:p>
        </p:txBody>
      </p:sp>
    </p:spTree>
    <p:extLst>
      <p:ext uri="{BB962C8B-B14F-4D97-AF65-F5344CB8AC3E}">
        <p14:creationId xmlns:p14="http://schemas.microsoft.com/office/powerpoint/2010/main" val="12736251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B482D-D55C-5433-A825-EEB58417162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28BC52F-B92B-57BD-3FB1-FD510C6D85E4}"/>
              </a:ext>
            </a:extLst>
          </p:cNvPr>
          <p:cNvSpPr>
            <a:spLocks noGrp="1"/>
          </p:cNvSpPr>
          <p:nvPr>
            <p:ph idx="1"/>
          </p:nvPr>
        </p:nvSpPr>
        <p:spPr/>
        <p:txBody>
          <a:bodyPr>
            <a:normAutofit fontScale="92500"/>
          </a:bodyPr>
          <a:lstStyle/>
          <a:p>
            <a:r>
              <a:rPr lang="en-US" sz="2800" dirty="0"/>
              <a:t>Learning is a search through the space of possible hypotheses for one that will perform well, even on new examples beyond the training set.</a:t>
            </a:r>
          </a:p>
          <a:p>
            <a:r>
              <a:rPr lang="en-US" sz="2800" dirty="0"/>
              <a:t> To measure the accuracy of a hypothesis we give it a test set of examples that are distinct from the training set</a:t>
            </a:r>
          </a:p>
          <a:p>
            <a:r>
              <a:rPr lang="en-IN" sz="2800" dirty="0"/>
              <a:t>a hypothesis</a:t>
            </a:r>
            <a:r>
              <a:rPr lang="en-US" sz="2800" dirty="0"/>
              <a:t> generalizes well if it correctly predicts the value of y for novel examples. </a:t>
            </a:r>
          </a:p>
          <a:p>
            <a:r>
              <a:rPr lang="en-US" sz="2800" dirty="0"/>
              <a:t>Sometimes the function f is stochastic it is not strictly a function of x, and what we have to learn is a conditional probability distribution, P(Y | x).</a:t>
            </a:r>
            <a:endParaRPr lang="en-IN" sz="3200" dirty="0"/>
          </a:p>
          <a:p>
            <a:endParaRPr lang="en-IN" sz="2800" dirty="0"/>
          </a:p>
        </p:txBody>
      </p:sp>
      <p:sp>
        <p:nvSpPr>
          <p:cNvPr id="4" name="Footer Placeholder 3">
            <a:extLst>
              <a:ext uri="{FF2B5EF4-FFF2-40B4-BE49-F238E27FC236}">
                <a16:creationId xmlns:a16="http://schemas.microsoft.com/office/drawing/2014/main" id="{ECBDB245-0E5C-1302-E23A-B2F740263BDC}"/>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891DE058-0561-4CB1-82CF-51986700ECF1}"/>
              </a:ext>
            </a:extLst>
          </p:cNvPr>
          <p:cNvSpPr>
            <a:spLocks noGrp="1"/>
          </p:cNvSpPr>
          <p:nvPr>
            <p:ph type="sldNum" sz="quarter" idx="12"/>
          </p:nvPr>
        </p:nvSpPr>
        <p:spPr/>
        <p:txBody>
          <a:bodyPr/>
          <a:lstStyle/>
          <a:p>
            <a:fld id="{1E81A027-E3F7-4FC9-A752-E855AD4A687D}" type="slidenum">
              <a:rPr lang="en-IN" smtClean="0"/>
              <a:t>43</a:t>
            </a:fld>
            <a:endParaRPr lang="en-IN"/>
          </a:p>
        </p:txBody>
      </p:sp>
    </p:spTree>
    <p:extLst>
      <p:ext uri="{BB962C8B-B14F-4D97-AF65-F5344CB8AC3E}">
        <p14:creationId xmlns:p14="http://schemas.microsoft.com/office/powerpoint/2010/main" val="12648766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D26A9-BEE9-3087-CD10-906ADF1CEC57}"/>
              </a:ext>
            </a:extLst>
          </p:cNvPr>
          <p:cNvSpPr>
            <a:spLocks noGrp="1"/>
          </p:cNvSpPr>
          <p:nvPr>
            <p:ph type="title"/>
          </p:nvPr>
        </p:nvSpPr>
        <p:spPr/>
        <p:txBody>
          <a:bodyPr/>
          <a:lstStyle/>
          <a:p>
            <a:r>
              <a:rPr lang="en-IN" dirty="0"/>
              <a:t>CLASSIFICATION AND REGRESSION</a:t>
            </a:r>
          </a:p>
        </p:txBody>
      </p:sp>
      <p:sp>
        <p:nvSpPr>
          <p:cNvPr id="3" name="Content Placeholder 2">
            <a:extLst>
              <a:ext uri="{FF2B5EF4-FFF2-40B4-BE49-F238E27FC236}">
                <a16:creationId xmlns:a16="http://schemas.microsoft.com/office/drawing/2014/main" id="{8BBC4F55-1097-2224-EB67-326394A53DEE}"/>
              </a:ext>
            </a:extLst>
          </p:cNvPr>
          <p:cNvSpPr>
            <a:spLocks noGrp="1"/>
          </p:cNvSpPr>
          <p:nvPr>
            <p:ph idx="1"/>
          </p:nvPr>
        </p:nvSpPr>
        <p:spPr/>
        <p:txBody>
          <a:bodyPr>
            <a:normAutofit/>
          </a:bodyPr>
          <a:lstStyle/>
          <a:p>
            <a:r>
              <a:rPr lang="en-US" sz="2800" dirty="0"/>
              <a:t>When the output y is one of a finite set of values (such as sunny, cloudy or rainy), the learning problem is called classification, and is called Boolean or binary classification if there are only two values. </a:t>
            </a:r>
          </a:p>
          <a:p>
            <a:r>
              <a:rPr lang="en-US" sz="2800" dirty="0"/>
              <a:t>When y is a number (such as tomorrow’s temperature), the REGRESSION learning problem is called regression</a:t>
            </a:r>
            <a:endParaRPr lang="en-IN" sz="2800" dirty="0"/>
          </a:p>
        </p:txBody>
      </p:sp>
      <p:sp>
        <p:nvSpPr>
          <p:cNvPr id="4" name="Footer Placeholder 3">
            <a:extLst>
              <a:ext uri="{FF2B5EF4-FFF2-40B4-BE49-F238E27FC236}">
                <a16:creationId xmlns:a16="http://schemas.microsoft.com/office/drawing/2014/main" id="{B17C8B35-95E3-9F5C-1A86-1A7D41A98499}"/>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7DCAC43F-EE68-7219-444B-FB35DA6B09D4}"/>
              </a:ext>
            </a:extLst>
          </p:cNvPr>
          <p:cNvSpPr>
            <a:spLocks noGrp="1"/>
          </p:cNvSpPr>
          <p:nvPr>
            <p:ph type="sldNum" sz="quarter" idx="12"/>
          </p:nvPr>
        </p:nvSpPr>
        <p:spPr/>
        <p:txBody>
          <a:bodyPr/>
          <a:lstStyle/>
          <a:p>
            <a:fld id="{1E81A027-E3F7-4FC9-A752-E855AD4A687D}" type="slidenum">
              <a:rPr lang="en-IN" smtClean="0"/>
              <a:t>44</a:t>
            </a:fld>
            <a:endParaRPr lang="en-IN"/>
          </a:p>
        </p:txBody>
      </p:sp>
    </p:spTree>
    <p:extLst>
      <p:ext uri="{BB962C8B-B14F-4D97-AF65-F5344CB8AC3E}">
        <p14:creationId xmlns:p14="http://schemas.microsoft.com/office/powerpoint/2010/main" val="14919319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58FB4-9AEF-E5BA-5FFF-EFAE10BFEC6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F4AE403-85A1-B1A3-8BF1-462310A0BA30}"/>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5C041DC9-6E17-EE10-9433-443EC8367196}"/>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329ED1EF-1B38-24D4-C4E1-87DDADC4BDDD}"/>
              </a:ext>
            </a:extLst>
          </p:cNvPr>
          <p:cNvSpPr>
            <a:spLocks noGrp="1"/>
          </p:cNvSpPr>
          <p:nvPr>
            <p:ph type="sldNum" sz="quarter" idx="12"/>
          </p:nvPr>
        </p:nvSpPr>
        <p:spPr/>
        <p:txBody>
          <a:bodyPr/>
          <a:lstStyle/>
          <a:p>
            <a:fld id="{1E81A027-E3F7-4FC9-A752-E855AD4A687D}" type="slidenum">
              <a:rPr lang="en-IN" smtClean="0"/>
              <a:t>45</a:t>
            </a:fld>
            <a:endParaRPr lang="en-IN"/>
          </a:p>
        </p:txBody>
      </p:sp>
      <p:pic>
        <p:nvPicPr>
          <p:cNvPr id="7" name="Picture 6">
            <a:extLst>
              <a:ext uri="{FF2B5EF4-FFF2-40B4-BE49-F238E27FC236}">
                <a16:creationId xmlns:a16="http://schemas.microsoft.com/office/drawing/2014/main" id="{7F400C62-FAB9-F080-772A-6366F2D42E4A}"/>
              </a:ext>
            </a:extLst>
          </p:cNvPr>
          <p:cNvPicPr>
            <a:picLocks noChangeAspect="1"/>
          </p:cNvPicPr>
          <p:nvPr/>
        </p:nvPicPr>
        <p:blipFill>
          <a:blip r:embed="rId2"/>
          <a:stretch>
            <a:fillRect/>
          </a:stretch>
        </p:blipFill>
        <p:spPr>
          <a:xfrm>
            <a:off x="-10966" y="106496"/>
            <a:ext cx="12154074" cy="5510533"/>
          </a:xfrm>
          <a:prstGeom prst="rect">
            <a:avLst/>
          </a:prstGeom>
        </p:spPr>
      </p:pic>
    </p:spTree>
    <p:extLst>
      <p:ext uri="{BB962C8B-B14F-4D97-AF65-F5344CB8AC3E}">
        <p14:creationId xmlns:p14="http://schemas.microsoft.com/office/powerpoint/2010/main" val="19256961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35D2C-390C-3095-A45B-95BE1D3A14E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23480B4-A110-536A-C43A-1A20D47029A5}"/>
              </a:ext>
            </a:extLst>
          </p:cNvPr>
          <p:cNvSpPr>
            <a:spLocks noGrp="1"/>
          </p:cNvSpPr>
          <p:nvPr>
            <p:ph idx="1"/>
          </p:nvPr>
        </p:nvSpPr>
        <p:spPr/>
        <p:txBody>
          <a:bodyPr/>
          <a:lstStyle/>
          <a:p>
            <a:r>
              <a:rPr lang="en-US" dirty="0"/>
              <a:t>fitting a function of a single variable to some data points. </a:t>
            </a:r>
          </a:p>
          <a:p>
            <a:r>
              <a:rPr lang="en-US" dirty="0"/>
              <a:t>The examples are points in the (x, y) plane, where y = f(x). </a:t>
            </a:r>
          </a:p>
          <a:p>
            <a:r>
              <a:rPr lang="en-US" dirty="0"/>
              <a:t>We don’t know what f is, but we will approximate it with a function h selected from a </a:t>
            </a:r>
            <a:r>
              <a:rPr lang="en-US" dirty="0">
                <a:solidFill>
                  <a:srgbClr val="FF0000"/>
                </a:solidFill>
              </a:rPr>
              <a:t>hypothesis space, H</a:t>
            </a:r>
            <a:r>
              <a:rPr lang="en-US" dirty="0"/>
              <a:t>, </a:t>
            </a:r>
          </a:p>
          <a:p>
            <a:r>
              <a:rPr lang="en-US" dirty="0"/>
              <a:t>which for this example we will take to be the set of polynomials, such as </a:t>
            </a:r>
            <a:r>
              <a:rPr lang="en-US" dirty="0">
                <a:solidFill>
                  <a:srgbClr val="FF0000"/>
                </a:solidFill>
              </a:rPr>
              <a:t>x</a:t>
            </a:r>
            <a:r>
              <a:rPr lang="en-US" baseline="30000" dirty="0">
                <a:solidFill>
                  <a:srgbClr val="FF0000"/>
                </a:solidFill>
              </a:rPr>
              <a:t>5</a:t>
            </a:r>
            <a:r>
              <a:rPr lang="en-US" dirty="0">
                <a:solidFill>
                  <a:srgbClr val="FF0000"/>
                </a:solidFill>
              </a:rPr>
              <a:t>+3x</a:t>
            </a:r>
            <a:r>
              <a:rPr lang="en-US" baseline="30000" dirty="0">
                <a:solidFill>
                  <a:srgbClr val="FF0000"/>
                </a:solidFill>
              </a:rPr>
              <a:t>2</a:t>
            </a:r>
            <a:r>
              <a:rPr lang="en-US" dirty="0">
                <a:solidFill>
                  <a:srgbClr val="FF0000"/>
                </a:solidFill>
              </a:rPr>
              <a:t>+2</a:t>
            </a:r>
            <a:endParaRPr lang="en-IN" dirty="0">
              <a:solidFill>
                <a:srgbClr val="FF0000"/>
              </a:solidFill>
            </a:endParaRPr>
          </a:p>
        </p:txBody>
      </p:sp>
      <p:sp>
        <p:nvSpPr>
          <p:cNvPr id="4" name="Footer Placeholder 3">
            <a:extLst>
              <a:ext uri="{FF2B5EF4-FFF2-40B4-BE49-F238E27FC236}">
                <a16:creationId xmlns:a16="http://schemas.microsoft.com/office/drawing/2014/main" id="{E34DA79C-70EE-8032-C29F-0C8924C27B5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87282CE3-3CFA-A3E3-6E97-AC923BB75DFA}"/>
              </a:ext>
            </a:extLst>
          </p:cNvPr>
          <p:cNvSpPr>
            <a:spLocks noGrp="1"/>
          </p:cNvSpPr>
          <p:nvPr>
            <p:ph type="sldNum" sz="quarter" idx="12"/>
          </p:nvPr>
        </p:nvSpPr>
        <p:spPr/>
        <p:txBody>
          <a:bodyPr/>
          <a:lstStyle/>
          <a:p>
            <a:fld id="{1E81A027-E3F7-4FC9-A752-E855AD4A687D}" type="slidenum">
              <a:rPr lang="en-IN" smtClean="0"/>
              <a:t>46</a:t>
            </a:fld>
            <a:endParaRPr lang="en-IN"/>
          </a:p>
        </p:txBody>
      </p:sp>
    </p:spTree>
    <p:extLst>
      <p:ext uri="{BB962C8B-B14F-4D97-AF65-F5344CB8AC3E}">
        <p14:creationId xmlns:p14="http://schemas.microsoft.com/office/powerpoint/2010/main" val="18057371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133ED-8841-1ECB-028F-6711F2EC694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914463E-6E5D-BF8C-CAFA-A10FB9F12513}"/>
              </a:ext>
            </a:extLst>
          </p:cNvPr>
          <p:cNvSpPr>
            <a:spLocks noGrp="1"/>
          </p:cNvSpPr>
          <p:nvPr>
            <p:ph idx="1"/>
          </p:nvPr>
        </p:nvSpPr>
        <p:spPr>
          <a:xfrm>
            <a:off x="1097279" y="1845734"/>
            <a:ext cx="10115203" cy="4023360"/>
          </a:xfrm>
        </p:spPr>
        <p:txBody>
          <a:bodyPr>
            <a:normAutofit/>
          </a:bodyPr>
          <a:lstStyle/>
          <a:p>
            <a:r>
              <a:rPr lang="en-US" sz="2800" dirty="0"/>
              <a:t>shows some data with an exact fit by a straight line </a:t>
            </a:r>
          </a:p>
          <a:p>
            <a:r>
              <a:rPr lang="en-US" sz="2800" dirty="0"/>
              <a:t>The line is called a consistent hypothesis because it agrees with all the data</a:t>
            </a:r>
          </a:p>
        </p:txBody>
      </p:sp>
      <p:sp>
        <p:nvSpPr>
          <p:cNvPr id="4" name="Footer Placeholder 3">
            <a:extLst>
              <a:ext uri="{FF2B5EF4-FFF2-40B4-BE49-F238E27FC236}">
                <a16:creationId xmlns:a16="http://schemas.microsoft.com/office/drawing/2014/main" id="{279F13AD-8767-F933-CB39-22929C28B5FA}"/>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A7476373-30AF-B84B-6170-8FACC989BF03}"/>
              </a:ext>
            </a:extLst>
          </p:cNvPr>
          <p:cNvSpPr>
            <a:spLocks noGrp="1"/>
          </p:cNvSpPr>
          <p:nvPr>
            <p:ph type="sldNum" sz="quarter" idx="12"/>
          </p:nvPr>
        </p:nvSpPr>
        <p:spPr/>
        <p:txBody>
          <a:bodyPr/>
          <a:lstStyle/>
          <a:p>
            <a:fld id="{1E81A027-E3F7-4FC9-A752-E855AD4A687D}" type="slidenum">
              <a:rPr lang="en-IN" smtClean="0"/>
              <a:t>47</a:t>
            </a:fld>
            <a:endParaRPr lang="en-IN"/>
          </a:p>
        </p:txBody>
      </p:sp>
      <p:pic>
        <p:nvPicPr>
          <p:cNvPr id="6" name="Picture 5">
            <a:extLst>
              <a:ext uri="{FF2B5EF4-FFF2-40B4-BE49-F238E27FC236}">
                <a16:creationId xmlns:a16="http://schemas.microsoft.com/office/drawing/2014/main" id="{91F59EDE-1A61-7DE9-AF21-8239DF69157C}"/>
              </a:ext>
            </a:extLst>
          </p:cNvPr>
          <p:cNvPicPr>
            <a:picLocks noChangeAspect="1"/>
          </p:cNvPicPr>
          <p:nvPr/>
        </p:nvPicPr>
        <p:blipFill rotWithShape="1">
          <a:blip r:embed="rId2"/>
          <a:srcRect l="3545" t="8058" r="73731" b="34542"/>
          <a:stretch/>
        </p:blipFill>
        <p:spPr>
          <a:xfrm>
            <a:off x="7604450" y="3178580"/>
            <a:ext cx="2761861" cy="3163079"/>
          </a:xfrm>
          <a:prstGeom prst="rect">
            <a:avLst/>
          </a:prstGeom>
        </p:spPr>
      </p:pic>
    </p:spTree>
    <p:extLst>
      <p:ext uri="{BB962C8B-B14F-4D97-AF65-F5344CB8AC3E}">
        <p14:creationId xmlns:p14="http://schemas.microsoft.com/office/powerpoint/2010/main" val="36626918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C041DC9-6E17-EE10-9433-443EC8367196}"/>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329ED1EF-1B38-24D4-C4E1-87DDADC4BDDD}"/>
              </a:ext>
            </a:extLst>
          </p:cNvPr>
          <p:cNvSpPr>
            <a:spLocks noGrp="1"/>
          </p:cNvSpPr>
          <p:nvPr>
            <p:ph type="sldNum" sz="quarter" idx="12"/>
          </p:nvPr>
        </p:nvSpPr>
        <p:spPr/>
        <p:txBody>
          <a:bodyPr/>
          <a:lstStyle/>
          <a:p>
            <a:fld id="{1E81A027-E3F7-4FC9-A752-E855AD4A687D}" type="slidenum">
              <a:rPr lang="en-IN" smtClean="0"/>
              <a:t>48</a:t>
            </a:fld>
            <a:endParaRPr lang="en-IN"/>
          </a:p>
        </p:txBody>
      </p:sp>
      <p:sp>
        <p:nvSpPr>
          <p:cNvPr id="3" name="Content Placeholder 2">
            <a:extLst>
              <a:ext uri="{FF2B5EF4-FFF2-40B4-BE49-F238E27FC236}">
                <a16:creationId xmlns:a16="http://schemas.microsoft.com/office/drawing/2014/main" id="{1F4AE403-85A1-B1A3-8BF1-462310A0BA30}"/>
              </a:ext>
            </a:extLst>
          </p:cNvPr>
          <p:cNvSpPr>
            <a:spLocks noGrp="1"/>
          </p:cNvSpPr>
          <p:nvPr>
            <p:ph idx="4294967295"/>
          </p:nvPr>
        </p:nvSpPr>
        <p:spPr>
          <a:xfrm>
            <a:off x="0" y="382588"/>
            <a:ext cx="8574088" cy="5486400"/>
          </a:xfrm>
        </p:spPr>
        <p:txBody>
          <a:bodyPr>
            <a:normAutofit lnSpcReduction="10000"/>
          </a:bodyPr>
          <a:lstStyle/>
          <a:p>
            <a:r>
              <a:rPr lang="en-US" sz="2800" dirty="0"/>
              <a:t>shows a </a:t>
            </a:r>
            <a:r>
              <a:rPr lang="en-US" sz="2800" dirty="0">
                <a:solidFill>
                  <a:srgbClr val="FF0000"/>
                </a:solidFill>
              </a:rPr>
              <a:t>high degree polynomial that is also consistent with the same data</a:t>
            </a:r>
            <a:r>
              <a:rPr lang="en-US" sz="2800" dirty="0"/>
              <a:t>. </a:t>
            </a:r>
          </a:p>
          <a:p>
            <a:r>
              <a:rPr lang="en-US" sz="2800" dirty="0"/>
              <a:t>This illustrates a fundamental problem in inductive learning: </a:t>
            </a:r>
            <a:r>
              <a:rPr lang="en-US" sz="2800" dirty="0">
                <a:solidFill>
                  <a:srgbClr val="00B050"/>
                </a:solidFill>
              </a:rPr>
              <a:t>how do we choose from among multiple consistent hypotheses</a:t>
            </a:r>
            <a:r>
              <a:rPr lang="en-US" sz="2800" dirty="0"/>
              <a:t>? </a:t>
            </a:r>
          </a:p>
          <a:p>
            <a:r>
              <a:rPr lang="en-US" sz="2800" dirty="0"/>
              <a:t>One answer is to </a:t>
            </a:r>
            <a:r>
              <a:rPr lang="en-US" sz="2800" dirty="0">
                <a:solidFill>
                  <a:srgbClr val="7030A0"/>
                </a:solidFill>
              </a:rPr>
              <a:t>prefer the simplest hypothesis consistent with the data</a:t>
            </a:r>
            <a:r>
              <a:rPr lang="en-US" sz="2800" dirty="0"/>
              <a:t>. </a:t>
            </a:r>
          </a:p>
          <a:p>
            <a:r>
              <a:rPr lang="en-US" sz="2800" dirty="0"/>
              <a:t>This principle is called </a:t>
            </a:r>
            <a:r>
              <a:rPr lang="en-US" sz="2800" dirty="0">
                <a:solidFill>
                  <a:srgbClr val="FF0000"/>
                </a:solidFill>
              </a:rPr>
              <a:t>Ockham’s razor</a:t>
            </a:r>
            <a:r>
              <a:rPr lang="en-US" sz="2800" dirty="0"/>
              <a:t>, after the 14th-century English philosopher William of Ockham, who used it to argue sharply against all sorts of complications. </a:t>
            </a:r>
          </a:p>
          <a:p>
            <a:r>
              <a:rPr lang="en-US" sz="2800" dirty="0"/>
              <a:t>Defining simplicity is not easy, but it seems clear that a degree-1 polynomial is simpler than a degree-7 polynomial, and thus (a) should be preferred to (b). </a:t>
            </a:r>
            <a:endParaRPr lang="en-IN" sz="2800" dirty="0"/>
          </a:p>
        </p:txBody>
      </p:sp>
      <p:pic>
        <p:nvPicPr>
          <p:cNvPr id="7" name="Picture 6">
            <a:extLst>
              <a:ext uri="{FF2B5EF4-FFF2-40B4-BE49-F238E27FC236}">
                <a16:creationId xmlns:a16="http://schemas.microsoft.com/office/drawing/2014/main" id="{7F400C62-FAB9-F080-772A-6366F2D42E4A}"/>
              </a:ext>
            </a:extLst>
          </p:cNvPr>
          <p:cNvPicPr>
            <a:picLocks noChangeAspect="1"/>
          </p:cNvPicPr>
          <p:nvPr/>
        </p:nvPicPr>
        <p:blipFill rotWithShape="1">
          <a:blip r:embed="rId2"/>
          <a:srcRect l="26576" t="7042" r="49753" b="36235"/>
          <a:stretch/>
        </p:blipFill>
        <p:spPr>
          <a:xfrm>
            <a:off x="8901404" y="93802"/>
            <a:ext cx="2876940" cy="3125757"/>
          </a:xfrm>
          <a:prstGeom prst="rect">
            <a:avLst/>
          </a:prstGeom>
        </p:spPr>
      </p:pic>
    </p:spTree>
    <p:extLst>
      <p:ext uri="{BB962C8B-B14F-4D97-AF65-F5344CB8AC3E}">
        <p14:creationId xmlns:p14="http://schemas.microsoft.com/office/powerpoint/2010/main" val="11881210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1BAFD4-E739-40E0-A426-BCF8C89FDF7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F24FB8DE-7A12-135E-4D25-1047293E6948}"/>
              </a:ext>
            </a:extLst>
          </p:cNvPr>
          <p:cNvSpPr>
            <a:spLocks noGrp="1"/>
          </p:cNvSpPr>
          <p:nvPr>
            <p:ph type="sldNum" sz="quarter" idx="12"/>
          </p:nvPr>
        </p:nvSpPr>
        <p:spPr/>
        <p:txBody>
          <a:bodyPr/>
          <a:lstStyle/>
          <a:p>
            <a:fld id="{1E81A027-E3F7-4FC9-A752-E855AD4A687D}" type="slidenum">
              <a:rPr lang="en-IN" smtClean="0"/>
              <a:t>49</a:t>
            </a:fld>
            <a:endParaRPr lang="en-IN"/>
          </a:p>
        </p:txBody>
      </p:sp>
      <p:sp>
        <p:nvSpPr>
          <p:cNvPr id="3" name="Content Placeholder 2">
            <a:extLst>
              <a:ext uri="{FF2B5EF4-FFF2-40B4-BE49-F238E27FC236}">
                <a16:creationId xmlns:a16="http://schemas.microsoft.com/office/drawing/2014/main" id="{8D811705-8B96-87B9-4B9E-B634FAD1485D}"/>
              </a:ext>
            </a:extLst>
          </p:cNvPr>
          <p:cNvSpPr>
            <a:spLocks noGrp="1"/>
          </p:cNvSpPr>
          <p:nvPr>
            <p:ph idx="4294967295"/>
          </p:nvPr>
        </p:nvSpPr>
        <p:spPr>
          <a:xfrm>
            <a:off x="183502" y="377889"/>
            <a:ext cx="8325487" cy="5556380"/>
          </a:xfrm>
        </p:spPr>
        <p:txBody>
          <a:bodyPr>
            <a:normAutofit/>
          </a:bodyPr>
          <a:lstStyle/>
          <a:p>
            <a:r>
              <a:rPr lang="en-US" sz="2800" dirty="0"/>
              <a:t>shows a second data set. </a:t>
            </a:r>
          </a:p>
          <a:p>
            <a:r>
              <a:rPr lang="en-US" sz="2800" dirty="0"/>
              <a:t>There is no consistent straight line for this data set; in fact, it requires a degree-6 polynomial for an exact fit. </a:t>
            </a:r>
          </a:p>
          <a:p>
            <a:r>
              <a:rPr lang="en-US" sz="2800" dirty="0"/>
              <a:t>There are just 7 data points, so a polynomial with 7 parameters does not seem to be finding any pattern in the data and we do not expect it to generalize well. </a:t>
            </a:r>
          </a:p>
          <a:p>
            <a:r>
              <a:rPr lang="en-US" sz="2800" dirty="0"/>
              <a:t>A straight line that is not consistent with any of the data points, but might generalize fairly well for unseen values of x, is also shown in (c). </a:t>
            </a:r>
          </a:p>
          <a:p>
            <a:r>
              <a:rPr lang="en-US" sz="2800" dirty="0"/>
              <a:t>In general, </a:t>
            </a:r>
            <a:r>
              <a:rPr lang="en-US" sz="2800" dirty="0">
                <a:solidFill>
                  <a:srgbClr val="FF0000"/>
                </a:solidFill>
              </a:rPr>
              <a:t>there is a tradeoff between complex hypotheses that fit the training data well and simpler hypotheses that may generalize better</a:t>
            </a:r>
            <a:endParaRPr lang="en-IN" sz="2800" dirty="0">
              <a:solidFill>
                <a:srgbClr val="FF0000"/>
              </a:solidFill>
            </a:endParaRPr>
          </a:p>
        </p:txBody>
      </p:sp>
      <p:pic>
        <p:nvPicPr>
          <p:cNvPr id="6" name="Picture 5">
            <a:extLst>
              <a:ext uri="{FF2B5EF4-FFF2-40B4-BE49-F238E27FC236}">
                <a16:creationId xmlns:a16="http://schemas.microsoft.com/office/drawing/2014/main" id="{E154F639-9C43-AE39-B0E3-5565D9145F72}"/>
              </a:ext>
            </a:extLst>
          </p:cNvPr>
          <p:cNvPicPr>
            <a:picLocks noChangeAspect="1"/>
          </p:cNvPicPr>
          <p:nvPr/>
        </p:nvPicPr>
        <p:blipFill rotWithShape="1">
          <a:blip r:embed="rId2"/>
          <a:srcRect l="49146" t="8397" r="25673" b="36235"/>
          <a:stretch/>
        </p:blipFill>
        <p:spPr>
          <a:xfrm>
            <a:off x="9131558" y="377889"/>
            <a:ext cx="3060442" cy="3051111"/>
          </a:xfrm>
          <a:prstGeom prst="rect">
            <a:avLst/>
          </a:prstGeom>
        </p:spPr>
      </p:pic>
    </p:spTree>
    <p:extLst>
      <p:ext uri="{BB962C8B-B14F-4D97-AF65-F5344CB8AC3E}">
        <p14:creationId xmlns:p14="http://schemas.microsoft.com/office/powerpoint/2010/main" val="14153914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DC9CA47-4C44-6A2B-AF70-91978145D4CB}"/>
              </a:ext>
            </a:extLst>
          </p:cNvPr>
          <p:cNvSpPr>
            <a:spLocks noGrp="1"/>
          </p:cNvSpPr>
          <p:nvPr>
            <p:ph type="ftr" sz="quarter" idx="11"/>
          </p:nvPr>
        </p:nvSpPr>
        <p:spPr/>
        <p:txBody>
          <a:bodyPr/>
          <a:lstStyle/>
          <a:p>
            <a:r>
              <a:rPr lang="en-IN"/>
              <a:t>DEPARTMENT OF CSE SNGCE</a:t>
            </a:r>
          </a:p>
        </p:txBody>
      </p:sp>
      <p:sp>
        <p:nvSpPr>
          <p:cNvPr id="3" name="Slide Number Placeholder 2">
            <a:extLst>
              <a:ext uri="{FF2B5EF4-FFF2-40B4-BE49-F238E27FC236}">
                <a16:creationId xmlns:a16="http://schemas.microsoft.com/office/drawing/2014/main" id="{87F667EB-69B9-7F3B-A92F-EFCAC73B6E68}"/>
              </a:ext>
            </a:extLst>
          </p:cNvPr>
          <p:cNvSpPr>
            <a:spLocks noGrp="1"/>
          </p:cNvSpPr>
          <p:nvPr>
            <p:ph type="sldNum" sz="quarter" idx="12"/>
          </p:nvPr>
        </p:nvSpPr>
        <p:spPr/>
        <p:txBody>
          <a:bodyPr/>
          <a:lstStyle/>
          <a:p>
            <a:fld id="{1E81A027-E3F7-4FC9-A752-E855AD4A687D}" type="slidenum">
              <a:rPr lang="en-IN" smtClean="0"/>
              <a:t>50</a:t>
            </a:fld>
            <a:endParaRPr lang="en-IN"/>
          </a:p>
        </p:txBody>
      </p:sp>
      <p:pic>
        <p:nvPicPr>
          <p:cNvPr id="4" name="Picture 3">
            <a:extLst>
              <a:ext uri="{FF2B5EF4-FFF2-40B4-BE49-F238E27FC236}">
                <a16:creationId xmlns:a16="http://schemas.microsoft.com/office/drawing/2014/main" id="{82B4A57F-C1A7-DF65-3CE6-85868406E582}"/>
              </a:ext>
            </a:extLst>
          </p:cNvPr>
          <p:cNvPicPr>
            <a:picLocks noChangeAspect="1"/>
          </p:cNvPicPr>
          <p:nvPr/>
        </p:nvPicPr>
        <p:blipFill rotWithShape="1">
          <a:blip r:embed="rId2"/>
          <a:srcRect l="73635" t="7888" r="3257" b="36743"/>
          <a:stretch/>
        </p:blipFill>
        <p:spPr>
          <a:xfrm>
            <a:off x="8938726" y="541177"/>
            <a:ext cx="2808515" cy="3051110"/>
          </a:xfrm>
          <a:prstGeom prst="rect">
            <a:avLst/>
          </a:prstGeom>
        </p:spPr>
      </p:pic>
      <p:sp>
        <p:nvSpPr>
          <p:cNvPr id="5" name="TextBox 4">
            <a:extLst>
              <a:ext uri="{FF2B5EF4-FFF2-40B4-BE49-F238E27FC236}">
                <a16:creationId xmlns:a16="http://schemas.microsoft.com/office/drawing/2014/main" id="{B6E9C4A3-51D1-E84F-EC53-8F73B7D35BB9}"/>
              </a:ext>
            </a:extLst>
          </p:cNvPr>
          <p:cNvSpPr txBox="1"/>
          <p:nvPr/>
        </p:nvSpPr>
        <p:spPr>
          <a:xfrm>
            <a:off x="811763" y="681134"/>
            <a:ext cx="7856376" cy="4832092"/>
          </a:xfrm>
          <a:prstGeom prst="rect">
            <a:avLst/>
          </a:prstGeom>
          <a:noFill/>
        </p:spPr>
        <p:txBody>
          <a:bodyPr wrap="square" rtlCol="0">
            <a:spAutoFit/>
          </a:bodyPr>
          <a:lstStyle/>
          <a:p>
            <a:r>
              <a:rPr lang="en-IN" sz="2800" dirty="0"/>
              <a:t>we expand the </a:t>
            </a:r>
            <a:r>
              <a:rPr lang="en-US" sz="2800" dirty="0">
                <a:solidFill>
                  <a:srgbClr val="00B050"/>
                </a:solidFill>
              </a:rPr>
              <a:t>hypothesis space H to allow polynomials over both x and sin(x), </a:t>
            </a:r>
            <a:r>
              <a:rPr lang="en-US" sz="2800" dirty="0"/>
              <a:t>and find that the data in (c) can be </a:t>
            </a:r>
            <a:r>
              <a:rPr lang="en-US" sz="2800" dirty="0">
                <a:solidFill>
                  <a:srgbClr val="0070C0"/>
                </a:solidFill>
              </a:rPr>
              <a:t>fitted exactly by a simple function of the form </a:t>
            </a:r>
            <a:r>
              <a:rPr lang="en-US" sz="2800" dirty="0">
                <a:solidFill>
                  <a:srgbClr val="FF0000"/>
                </a:solidFill>
              </a:rPr>
              <a:t>ax + b + c sin(x). </a:t>
            </a:r>
          </a:p>
          <a:p>
            <a:r>
              <a:rPr lang="en-US" sz="2800" dirty="0"/>
              <a:t>This shows the importance of the choice of </a:t>
            </a:r>
            <a:r>
              <a:rPr lang="en-US" sz="2800" dirty="0">
                <a:solidFill>
                  <a:srgbClr val="7030A0"/>
                </a:solidFill>
              </a:rPr>
              <a:t>hypothesis space</a:t>
            </a:r>
            <a:r>
              <a:rPr lang="en-US" sz="2800" dirty="0"/>
              <a:t>. </a:t>
            </a:r>
          </a:p>
          <a:p>
            <a:r>
              <a:rPr lang="en-US" sz="2800" dirty="0"/>
              <a:t>We say that a learning problem is </a:t>
            </a:r>
            <a:r>
              <a:rPr lang="en-US" sz="2800" b="1" dirty="0">
                <a:solidFill>
                  <a:srgbClr val="FF0000"/>
                </a:solidFill>
              </a:rPr>
              <a:t>realizable</a:t>
            </a:r>
            <a:r>
              <a:rPr lang="en-US" sz="2800" dirty="0"/>
              <a:t> if the hypothesis space contains the true function.</a:t>
            </a:r>
          </a:p>
          <a:p>
            <a:r>
              <a:rPr lang="en-US" sz="2800" dirty="0"/>
              <a:t>Unfortunately, </a:t>
            </a:r>
            <a:r>
              <a:rPr lang="en-US" sz="2800" dirty="0">
                <a:solidFill>
                  <a:srgbClr val="FF0000"/>
                </a:solidFill>
              </a:rPr>
              <a:t>we cannot always tell whether a given learning problem is realizable, because the true function is not known</a:t>
            </a:r>
            <a:endParaRPr lang="en-IN" sz="2800" dirty="0">
              <a:solidFill>
                <a:srgbClr val="FF0000"/>
              </a:solidFill>
            </a:endParaRPr>
          </a:p>
        </p:txBody>
      </p:sp>
    </p:spTree>
    <p:extLst>
      <p:ext uri="{BB962C8B-B14F-4D97-AF65-F5344CB8AC3E}">
        <p14:creationId xmlns:p14="http://schemas.microsoft.com/office/powerpoint/2010/main" val="37410394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E6B637-9A2B-EFE5-EC45-0366AD23EA90}"/>
              </a:ext>
            </a:extLst>
          </p:cNvPr>
          <p:cNvSpPr>
            <a:spLocks noGrp="1"/>
          </p:cNvSpPr>
          <p:nvPr>
            <p:ph type="title"/>
          </p:nvPr>
        </p:nvSpPr>
        <p:spPr/>
        <p:txBody>
          <a:bodyPr/>
          <a:lstStyle/>
          <a:p>
            <a:endParaRPr lang="en-IN"/>
          </a:p>
        </p:txBody>
      </p:sp>
      <p:sp>
        <p:nvSpPr>
          <p:cNvPr id="5" name="Content Placeholder 4">
            <a:extLst>
              <a:ext uri="{FF2B5EF4-FFF2-40B4-BE49-F238E27FC236}">
                <a16:creationId xmlns:a16="http://schemas.microsoft.com/office/drawing/2014/main" id="{FAD1AF81-0243-E482-A7B5-E01B629EB28D}"/>
              </a:ext>
            </a:extLst>
          </p:cNvPr>
          <p:cNvSpPr>
            <a:spLocks noGrp="1"/>
          </p:cNvSpPr>
          <p:nvPr>
            <p:ph idx="1"/>
          </p:nvPr>
        </p:nvSpPr>
        <p:spPr/>
        <p:txBody>
          <a:bodyPr>
            <a:normAutofit fontScale="92500" lnSpcReduction="20000"/>
          </a:bodyPr>
          <a:lstStyle/>
          <a:p>
            <a:r>
              <a:rPr lang="en-US" sz="2400" dirty="0"/>
              <a:t>Supervised learning can be done by choosing the hypothesis h</a:t>
            </a:r>
            <a:r>
              <a:rPr lang="en-US" sz="2400" baseline="30000" dirty="0"/>
              <a:t>∗</a:t>
            </a:r>
            <a:r>
              <a:rPr lang="en-US" sz="2400" dirty="0"/>
              <a:t> that is most probable given the data:</a:t>
            </a:r>
          </a:p>
          <a:p>
            <a:endParaRPr lang="en-US" sz="2400" dirty="0"/>
          </a:p>
          <a:p>
            <a:endParaRPr lang="en-US" sz="2400" dirty="0"/>
          </a:p>
          <a:p>
            <a:endParaRPr lang="en-US" sz="2400" dirty="0"/>
          </a:p>
          <a:p>
            <a:endParaRPr lang="en-US" sz="2400" dirty="0"/>
          </a:p>
          <a:p>
            <a:r>
              <a:rPr lang="en-US" sz="2400" dirty="0"/>
              <a:t>Then we can say that the </a:t>
            </a:r>
            <a:r>
              <a:rPr lang="en-US" sz="2400" dirty="0">
                <a:solidFill>
                  <a:srgbClr val="FF0000"/>
                </a:solidFill>
              </a:rPr>
              <a:t>prior probability P(h) is high for a degree-1 or -2 polynomial, lower for a degree-7 polynomial, and especially low for degree-7 polynomials with large, sharp spike</a:t>
            </a:r>
            <a:r>
              <a:rPr lang="en-US" sz="2400" dirty="0"/>
              <a:t>s as in Figure 18.1(b). </a:t>
            </a:r>
          </a:p>
          <a:p>
            <a:r>
              <a:rPr lang="en-US" sz="2400" dirty="0"/>
              <a:t>We allow unusual-looking functions when the data say we really need them, but we discourage them by giving them a low prior probability.</a:t>
            </a:r>
          </a:p>
          <a:p>
            <a:endParaRPr lang="en-IN" sz="2400" dirty="0"/>
          </a:p>
        </p:txBody>
      </p:sp>
      <p:sp>
        <p:nvSpPr>
          <p:cNvPr id="2" name="Footer Placeholder 1">
            <a:extLst>
              <a:ext uri="{FF2B5EF4-FFF2-40B4-BE49-F238E27FC236}">
                <a16:creationId xmlns:a16="http://schemas.microsoft.com/office/drawing/2014/main" id="{6917C9DC-D98F-B2F3-AB6E-B909BC628A18}"/>
              </a:ext>
            </a:extLst>
          </p:cNvPr>
          <p:cNvSpPr>
            <a:spLocks noGrp="1"/>
          </p:cNvSpPr>
          <p:nvPr>
            <p:ph type="ftr" sz="quarter" idx="11"/>
          </p:nvPr>
        </p:nvSpPr>
        <p:spPr/>
        <p:txBody>
          <a:bodyPr/>
          <a:lstStyle/>
          <a:p>
            <a:r>
              <a:rPr lang="en-IN"/>
              <a:t>DEPARTMENT OF CSE SNGCE</a:t>
            </a:r>
          </a:p>
        </p:txBody>
      </p:sp>
      <p:sp>
        <p:nvSpPr>
          <p:cNvPr id="3" name="Slide Number Placeholder 2">
            <a:extLst>
              <a:ext uri="{FF2B5EF4-FFF2-40B4-BE49-F238E27FC236}">
                <a16:creationId xmlns:a16="http://schemas.microsoft.com/office/drawing/2014/main" id="{720BB2F8-9835-5A68-9C82-EF34D6452E68}"/>
              </a:ext>
            </a:extLst>
          </p:cNvPr>
          <p:cNvSpPr>
            <a:spLocks noGrp="1"/>
          </p:cNvSpPr>
          <p:nvPr>
            <p:ph type="sldNum" sz="quarter" idx="12"/>
          </p:nvPr>
        </p:nvSpPr>
        <p:spPr/>
        <p:txBody>
          <a:bodyPr/>
          <a:lstStyle/>
          <a:p>
            <a:fld id="{1E81A027-E3F7-4FC9-A752-E855AD4A687D}" type="slidenum">
              <a:rPr lang="en-IN" smtClean="0"/>
              <a:t>51</a:t>
            </a:fld>
            <a:endParaRPr lang="en-IN"/>
          </a:p>
        </p:txBody>
      </p:sp>
      <p:pic>
        <p:nvPicPr>
          <p:cNvPr id="7" name="Picture 6">
            <a:extLst>
              <a:ext uri="{FF2B5EF4-FFF2-40B4-BE49-F238E27FC236}">
                <a16:creationId xmlns:a16="http://schemas.microsoft.com/office/drawing/2014/main" id="{E897D602-910C-165D-A792-DAA25AB67F21}"/>
              </a:ext>
            </a:extLst>
          </p:cNvPr>
          <p:cNvPicPr>
            <a:picLocks noChangeAspect="1"/>
          </p:cNvPicPr>
          <p:nvPr/>
        </p:nvPicPr>
        <p:blipFill>
          <a:blip r:embed="rId2"/>
          <a:stretch>
            <a:fillRect/>
          </a:stretch>
        </p:blipFill>
        <p:spPr>
          <a:xfrm>
            <a:off x="1759636" y="2328051"/>
            <a:ext cx="5197445" cy="1653733"/>
          </a:xfrm>
          <a:prstGeom prst="rect">
            <a:avLst/>
          </a:prstGeom>
        </p:spPr>
      </p:pic>
    </p:spTree>
    <p:extLst>
      <p:ext uri="{BB962C8B-B14F-4D97-AF65-F5344CB8AC3E}">
        <p14:creationId xmlns:p14="http://schemas.microsoft.com/office/powerpoint/2010/main" val="11884962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86B59-EDA9-B3CA-7ED2-78387A587D46}"/>
              </a:ext>
            </a:extLst>
          </p:cNvPr>
          <p:cNvSpPr>
            <a:spLocks noGrp="1"/>
          </p:cNvSpPr>
          <p:nvPr>
            <p:ph type="title"/>
          </p:nvPr>
        </p:nvSpPr>
        <p:spPr/>
        <p:txBody>
          <a:bodyPr/>
          <a:lstStyle/>
          <a:p>
            <a:r>
              <a:rPr lang="en-US" dirty="0"/>
              <a:t>Learning Decision Tree</a:t>
            </a:r>
            <a:endParaRPr lang="en-IN" dirty="0"/>
          </a:p>
        </p:txBody>
      </p:sp>
      <p:sp>
        <p:nvSpPr>
          <p:cNvPr id="3" name="Content Placeholder 2">
            <a:extLst>
              <a:ext uri="{FF2B5EF4-FFF2-40B4-BE49-F238E27FC236}">
                <a16:creationId xmlns:a16="http://schemas.microsoft.com/office/drawing/2014/main" id="{7EF3629B-F7F3-384A-3E8C-7EA060CB8581}"/>
              </a:ext>
            </a:extLst>
          </p:cNvPr>
          <p:cNvSpPr>
            <a:spLocks noGrp="1"/>
          </p:cNvSpPr>
          <p:nvPr>
            <p:ph idx="1"/>
          </p:nvPr>
        </p:nvSpPr>
        <p:spPr/>
        <p:txBody>
          <a:bodyPr>
            <a:normAutofit/>
          </a:bodyPr>
          <a:lstStyle/>
          <a:p>
            <a:r>
              <a:rPr lang="en-US" sz="2800" dirty="0"/>
              <a:t>Decision tree induction is one of the simplest and yet most successful forms of machine learning</a:t>
            </a:r>
            <a:endParaRPr lang="en-IN" sz="2800" dirty="0"/>
          </a:p>
        </p:txBody>
      </p:sp>
      <p:sp>
        <p:nvSpPr>
          <p:cNvPr id="4" name="Footer Placeholder 3">
            <a:extLst>
              <a:ext uri="{FF2B5EF4-FFF2-40B4-BE49-F238E27FC236}">
                <a16:creationId xmlns:a16="http://schemas.microsoft.com/office/drawing/2014/main" id="{B984464F-FC94-DB90-D48A-2E634057607C}"/>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703FBFA0-5AF6-CCB6-BC4B-A931B5876C7E}"/>
              </a:ext>
            </a:extLst>
          </p:cNvPr>
          <p:cNvSpPr>
            <a:spLocks noGrp="1"/>
          </p:cNvSpPr>
          <p:nvPr>
            <p:ph type="sldNum" sz="quarter" idx="12"/>
          </p:nvPr>
        </p:nvSpPr>
        <p:spPr/>
        <p:txBody>
          <a:bodyPr/>
          <a:lstStyle/>
          <a:p>
            <a:fld id="{1E81A027-E3F7-4FC9-A752-E855AD4A687D}" type="slidenum">
              <a:rPr lang="en-IN" smtClean="0"/>
              <a:t>52</a:t>
            </a:fld>
            <a:endParaRPr lang="en-IN"/>
          </a:p>
        </p:txBody>
      </p:sp>
    </p:spTree>
    <p:extLst>
      <p:ext uri="{BB962C8B-B14F-4D97-AF65-F5344CB8AC3E}">
        <p14:creationId xmlns:p14="http://schemas.microsoft.com/office/powerpoint/2010/main" val="40773426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B2055-563F-E81A-1C3C-42DEE0C4F84F}"/>
              </a:ext>
            </a:extLst>
          </p:cNvPr>
          <p:cNvSpPr>
            <a:spLocks noGrp="1"/>
          </p:cNvSpPr>
          <p:nvPr>
            <p:ph type="title"/>
          </p:nvPr>
        </p:nvSpPr>
        <p:spPr/>
        <p:txBody>
          <a:bodyPr/>
          <a:lstStyle/>
          <a:p>
            <a:r>
              <a:rPr lang="en-US" dirty="0"/>
              <a:t>What is a decision tree?</a:t>
            </a:r>
            <a:endParaRPr lang="en-IN" dirty="0"/>
          </a:p>
        </p:txBody>
      </p:sp>
      <p:sp>
        <p:nvSpPr>
          <p:cNvPr id="3" name="Content Placeholder 2">
            <a:extLst>
              <a:ext uri="{FF2B5EF4-FFF2-40B4-BE49-F238E27FC236}">
                <a16:creationId xmlns:a16="http://schemas.microsoft.com/office/drawing/2014/main" id="{2383076D-CE15-830D-30D8-829E0114A39D}"/>
              </a:ext>
            </a:extLst>
          </p:cNvPr>
          <p:cNvSpPr>
            <a:spLocks noGrp="1"/>
          </p:cNvSpPr>
          <p:nvPr>
            <p:ph idx="1"/>
          </p:nvPr>
        </p:nvSpPr>
        <p:spPr/>
        <p:txBody>
          <a:bodyPr>
            <a:normAutofit lnSpcReduction="10000"/>
          </a:bodyPr>
          <a:lstStyle/>
          <a:p>
            <a:r>
              <a:rPr lang="en-US" sz="3600" dirty="0"/>
              <a:t>Decision tree</a:t>
            </a:r>
          </a:p>
          <a:p>
            <a:pPr lvl="1"/>
            <a:r>
              <a:rPr lang="en-US" sz="3200" dirty="0"/>
              <a:t>is a function that </a:t>
            </a:r>
          </a:p>
          <a:p>
            <a:pPr lvl="2"/>
            <a:r>
              <a:rPr lang="en-US" sz="2400" dirty="0"/>
              <a:t>takes a vector of attribute values as its input, and</a:t>
            </a:r>
          </a:p>
          <a:p>
            <a:pPr lvl="2"/>
            <a:r>
              <a:rPr lang="en-US" sz="2400" dirty="0"/>
              <a:t>returns a “decision” as its output. </a:t>
            </a:r>
          </a:p>
          <a:p>
            <a:pPr lvl="2"/>
            <a:r>
              <a:rPr lang="en-US" sz="2400" dirty="0"/>
              <a:t>Both input and output values can be measured on a nominal, ordinal, interval, and ratio scales, can be discrete or continuous. </a:t>
            </a:r>
          </a:p>
          <a:p>
            <a:pPr lvl="1"/>
            <a:r>
              <a:rPr lang="en-US" sz="3200" dirty="0"/>
              <a:t>The decision is formed via a sequence of tests: </a:t>
            </a:r>
          </a:p>
          <a:p>
            <a:pPr lvl="2"/>
            <a:r>
              <a:rPr lang="en-US" sz="2400" dirty="0"/>
              <a:t>each internal node of the tree represents a test, </a:t>
            </a:r>
          </a:p>
          <a:p>
            <a:pPr lvl="2"/>
            <a:r>
              <a:rPr lang="en-US" sz="2400" dirty="0"/>
              <a:t>the branches are labeled with possible outcomes of the test, and </a:t>
            </a:r>
          </a:p>
          <a:p>
            <a:pPr lvl="2"/>
            <a:r>
              <a:rPr lang="en-US" sz="2400" dirty="0"/>
              <a:t>each leaf node represents a decision to be returned by the tree.</a:t>
            </a:r>
            <a:endParaRPr lang="en-IN" sz="2400" dirty="0"/>
          </a:p>
        </p:txBody>
      </p:sp>
      <p:sp>
        <p:nvSpPr>
          <p:cNvPr id="4" name="Footer Placeholder 3">
            <a:extLst>
              <a:ext uri="{FF2B5EF4-FFF2-40B4-BE49-F238E27FC236}">
                <a16:creationId xmlns:a16="http://schemas.microsoft.com/office/drawing/2014/main" id="{2DD13AB0-1B0C-E584-9C17-6C3A24810FF8}"/>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D80867ED-B001-26EF-EED4-089390859E43}"/>
              </a:ext>
            </a:extLst>
          </p:cNvPr>
          <p:cNvSpPr>
            <a:spLocks noGrp="1"/>
          </p:cNvSpPr>
          <p:nvPr>
            <p:ph type="sldNum" sz="quarter" idx="12"/>
          </p:nvPr>
        </p:nvSpPr>
        <p:spPr/>
        <p:txBody>
          <a:bodyPr/>
          <a:lstStyle/>
          <a:p>
            <a:fld id="{1E81A027-E3F7-4FC9-A752-E855AD4A687D}" type="slidenum">
              <a:rPr lang="en-IN" smtClean="0"/>
              <a:t>53</a:t>
            </a:fld>
            <a:endParaRPr lang="en-IN"/>
          </a:p>
        </p:txBody>
      </p:sp>
    </p:spTree>
    <p:extLst>
      <p:ext uri="{BB962C8B-B14F-4D97-AF65-F5344CB8AC3E}">
        <p14:creationId xmlns:p14="http://schemas.microsoft.com/office/powerpoint/2010/main" val="7230317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6B8DA-D9EF-F30B-4CFB-1B6F1B387D82}"/>
              </a:ext>
            </a:extLst>
          </p:cNvPr>
          <p:cNvSpPr>
            <a:spLocks noGrp="1"/>
          </p:cNvSpPr>
          <p:nvPr>
            <p:ph type="title"/>
          </p:nvPr>
        </p:nvSpPr>
        <p:spPr/>
        <p:txBody>
          <a:bodyPr/>
          <a:lstStyle/>
          <a:p>
            <a:r>
              <a:rPr lang="en-IN" dirty="0">
                <a:solidFill>
                  <a:srgbClr val="222222"/>
                </a:solidFill>
              </a:rPr>
              <a:t>T</a:t>
            </a:r>
            <a:r>
              <a:rPr lang="en-IN" b="0" i="0" dirty="0">
                <a:solidFill>
                  <a:srgbClr val="222222"/>
                </a:solidFill>
                <a:effectLst/>
              </a:rPr>
              <a:t>erminologies</a:t>
            </a:r>
            <a:endParaRPr lang="en-IN" dirty="0"/>
          </a:p>
        </p:txBody>
      </p:sp>
      <p:sp>
        <p:nvSpPr>
          <p:cNvPr id="3" name="Content Placeholder 2">
            <a:extLst>
              <a:ext uri="{FF2B5EF4-FFF2-40B4-BE49-F238E27FC236}">
                <a16:creationId xmlns:a16="http://schemas.microsoft.com/office/drawing/2014/main" id="{83E5D7E3-BA8E-7044-4180-9DFA0EDACD30}"/>
              </a:ext>
            </a:extLst>
          </p:cNvPr>
          <p:cNvSpPr>
            <a:spLocks noGrp="1"/>
          </p:cNvSpPr>
          <p:nvPr>
            <p:ph idx="1"/>
          </p:nvPr>
        </p:nvSpPr>
        <p:spPr/>
        <p:txBody>
          <a:bodyPr>
            <a:normAutofit fontScale="92500" lnSpcReduction="10000"/>
          </a:bodyPr>
          <a:lstStyle/>
          <a:p>
            <a:pPr algn="l"/>
            <a:r>
              <a:rPr lang="en-US" sz="2800" b="1" i="1" dirty="0">
                <a:solidFill>
                  <a:srgbClr val="222222"/>
                </a:solidFill>
                <a:effectLst/>
              </a:rPr>
              <a:t>Root Nodes </a:t>
            </a:r>
            <a:r>
              <a:rPr lang="en-US" sz="2800" b="0" i="0" dirty="0">
                <a:solidFill>
                  <a:srgbClr val="222222"/>
                </a:solidFill>
                <a:effectLst/>
              </a:rPr>
              <a:t>– It is the node present at the beginning of a decision tree from this node the population starts dividing according to various features.</a:t>
            </a:r>
          </a:p>
          <a:p>
            <a:pPr algn="l"/>
            <a:r>
              <a:rPr lang="en-US" sz="2800" b="1" i="1" dirty="0">
                <a:solidFill>
                  <a:srgbClr val="222222"/>
                </a:solidFill>
                <a:effectLst/>
              </a:rPr>
              <a:t>Decision Nodes</a:t>
            </a:r>
            <a:r>
              <a:rPr lang="en-US" sz="2800" b="0" i="0" dirty="0">
                <a:solidFill>
                  <a:srgbClr val="222222"/>
                </a:solidFill>
                <a:effectLst/>
              </a:rPr>
              <a:t> – the nodes we get after splitting the root nodes are called Decision Node</a:t>
            </a:r>
          </a:p>
          <a:p>
            <a:pPr algn="l"/>
            <a:r>
              <a:rPr lang="en-US" sz="2800" b="1" i="1" dirty="0">
                <a:solidFill>
                  <a:srgbClr val="222222"/>
                </a:solidFill>
                <a:effectLst/>
              </a:rPr>
              <a:t>Leaf Nodes </a:t>
            </a:r>
            <a:r>
              <a:rPr lang="en-US" sz="2800" b="0" i="0" dirty="0">
                <a:solidFill>
                  <a:srgbClr val="222222"/>
                </a:solidFill>
                <a:effectLst/>
              </a:rPr>
              <a:t>– the nodes where further splitting is not possible are called leaf nodes or terminal nodes</a:t>
            </a:r>
          </a:p>
          <a:p>
            <a:pPr algn="l"/>
            <a:r>
              <a:rPr lang="en-US" sz="2800" b="1" i="1" dirty="0">
                <a:solidFill>
                  <a:srgbClr val="222222"/>
                </a:solidFill>
                <a:effectLst/>
              </a:rPr>
              <a:t>Sub-tree</a:t>
            </a:r>
            <a:r>
              <a:rPr lang="en-US" sz="2800" b="0" i="0" dirty="0">
                <a:solidFill>
                  <a:srgbClr val="222222"/>
                </a:solidFill>
                <a:effectLst/>
              </a:rPr>
              <a:t> – just like a small portion of a graph is called sub-graph similarly a sub-section of this decision tree is called sub-tree.</a:t>
            </a:r>
          </a:p>
          <a:p>
            <a:pPr algn="l"/>
            <a:r>
              <a:rPr lang="en-US" sz="2800" b="1" i="1" dirty="0">
                <a:solidFill>
                  <a:srgbClr val="222222"/>
                </a:solidFill>
                <a:effectLst/>
              </a:rPr>
              <a:t>Pruning</a:t>
            </a:r>
            <a:r>
              <a:rPr lang="en-US" sz="2800" b="0" i="0" dirty="0">
                <a:solidFill>
                  <a:srgbClr val="222222"/>
                </a:solidFill>
                <a:effectLst/>
              </a:rPr>
              <a:t> – is nothing but cutting down some nodes to stop overfitting.</a:t>
            </a:r>
          </a:p>
          <a:p>
            <a:endParaRPr lang="en-IN" sz="2800" dirty="0"/>
          </a:p>
        </p:txBody>
      </p:sp>
      <p:sp>
        <p:nvSpPr>
          <p:cNvPr id="4" name="Footer Placeholder 3">
            <a:extLst>
              <a:ext uri="{FF2B5EF4-FFF2-40B4-BE49-F238E27FC236}">
                <a16:creationId xmlns:a16="http://schemas.microsoft.com/office/drawing/2014/main" id="{EC817107-6039-4E78-5C72-90C2C55589EC}"/>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70694138-5E9A-EF4F-89F5-F283E548FE4A}"/>
              </a:ext>
            </a:extLst>
          </p:cNvPr>
          <p:cNvSpPr>
            <a:spLocks noGrp="1"/>
          </p:cNvSpPr>
          <p:nvPr>
            <p:ph type="sldNum" sz="quarter" idx="12"/>
          </p:nvPr>
        </p:nvSpPr>
        <p:spPr/>
        <p:txBody>
          <a:bodyPr/>
          <a:lstStyle/>
          <a:p>
            <a:fld id="{1E81A027-E3F7-4FC9-A752-E855AD4A687D}" type="slidenum">
              <a:rPr lang="en-IN" smtClean="0"/>
              <a:t>54</a:t>
            </a:fld>
            <a:endParaRPr lang="en-IN"/>
          </a:p>
        </p:txBody>
      </p:sp>
    </p:spTree>
    <p:extLst>
      <p:ext uri="{BB962C8B-B14F-4D97-AF65-F5344CB8AC3E}">
        <p14:creationId xmlns:p14="http://schemas.microsoft.com/office/powerpoint/2010/main" val="36688478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5E716-C4D4-12C6-B710-E74EA3A099F1}"/>
              </a:ext>
            </a:extLst>
          </p:cNvPr>
          <p:cNvSpPr>
            <a:spLocks noGrp="1"/>
          </p:cNvSpPr>
          <p:nvPr>
            <p:ph type="title"/>
          </p:nvPr>
        </p:nvSpPr>
        <p:spPr>
          <a:xfrm>
            <a:off x="1097280" y="286603"/>
            <a:ext cx="3624010" cy="3482964"/>
          </a:xfrm>
        </p:spPr>
        <p:txBody>
          <a:bodyPr/>
          <a:lstStyle/>
          <a:p>
            <a:r>
              <a:rPr lang="en-US" dirty="0"/>
              <a:t>Example of a decision tree</a:t>
            </a:r>
            <a:endParaRPr lang="en-IN" dirty="0"/>
          </a:p>
        </p:txBody>
      </p:sp>
      <p:pic>
        <p:nvPicPr>
          <p:cNvPr id="7" name="Content Placeholder 6">
            <a:extLst>
              <a:ext uri="{FF2B5EF4-FFF2-40B4-BE49-F238E27FC236}">
                <a16:creationId xmlns:a16="http://schemas.microsoft.com/office/drawing/2014/main" id="{8A70F2B1-F4FD-EE57-A6B0-56A9F036967F}"/>
              </a:ext>
            </a:extLst>
          </p:cNvPr>
          <p:cNvPicPr>
            <a:picLocks noGrp="1" noChangeAspect="1"/>
          </p:cNvPicPr>
          <p:nvPr>
            <p:ph idx="1"/>
          </p:nvPr>
        </p:nvPicPr>
        <p:blipFill>
          <a:blip r:embed="rId2"/>
          <a:stretch>
            <a:fillRect/>
          </a:stretch>
        </p:blipFill>
        <p:spPr>
          <a:xfrm>
            <a:off x="4900639" y="307910"/>
            <a:ext cx="7216700" cy="5803641"/>
          </a:xfrm>
        </p:spPr>
      </p:pic>
      <p:sp>
        <p:nvSpPr>
          <p:cNvPr id="4" name="Footer Placeholder 3">
            <a:extLst>
              <a:ext uri="{FF2B5EF4-FFF2-40B4-BE49-F238E27FC236}">
                <a16:creationId xmlns:a16="http://schemas.microsoft.com/office/drawing/2014/main" id="{2FEC2604-7A54-C3F2-D383-B50978B82165}"/>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40267557-EBC8-2631-44C2-8F2786096807}"/>
              </a:ext>
            </a:extLst>
          </p:cNvPr>
          <p:cNvSpPr>
            <a:spLocks noGrp="1"/>
          </p:cNvSpPr>
          <p:nvPr>
            <p:ph type="sldNum" sz="quarter" idx="12"/>
          </p:nvPr>
        </p:nvSpPr>
        <p:spPr/>
        <p:txBody>
          <a:bodyPr/>
          <a:lstStyle/>
          <a:p>
            <a:fld id="{1E81A027-E3F7-4FC9-A752-E855AD4A687D}" type="slidenum">
              <a:rPr lang="en-IN" smtClean="0"/>
              <a:t>55</a:t>
            </a:fld>
            <a:endParaRPr lang="en-IN"/>
          </a:p>
        </p:txBody>
      </p:sp>
    </p:spTree>
    <p:extLst>
      <p:ext uri="{BB962C8B-B14F-4D97-AF65-F5344CB8AC3E}">
        <p14:creationId xmlns:p14="http://schemas.microsoft.com/office/powerpoint/2010/main" val="650688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115EB-02CA-5523-6C7F-60E0A39FE35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E130D31-F65D-A450-B898-AF9FD6FB162B}"/>
              </a:ext>
            </a:extLst>
          </p:cNvPr>
          <p:cNvSpPr>
            <a:spLocks noGrp="1"/>
          </p:cNvSpPr>
          <p:nvPr>
            <p:ph idx="1"/>
          </p:nvPr>
        </p:nvSpPr>
        <p:spPr/>
        <p:txBody>
          <a:bodyPr>
            <a:normAutofit/>
          </a:bodyPr>
          <a:lstStyle/>
          <a:p>
            <a:r>
              <a:rPr lang="en-US" sz="2800" b="0" i="0" dirty="0">
                <a:solidFill>
                  <a:srgbClr val="222222"/>
                </a:solidFill>
                <a:effectLst/>
                <a:latin typeface="Lato" panose="020F0502020204030203" pitchFamily="34" charset="0"/>
              </a:rPr>
              <a:t>Decision trees are upside down which means the root is at the top and then this root is split into various several nodes. </a:t>
            </a:r>
          </a:p>
          <a:p>
            <a:r>
              <a:rPr lang="en-US" sz="2800" b="0" i="0" dirty="0">
                <a:solidFill>
                  <a:srgbClr val="222222"/>
                </a:solidFill>
                <a:effectLst/>
                <a:latin typeface="Lato" panose="020F0502020204030203" pitchFamily="34" charset="0"/>
              </a:rPr>
              <a:t>Decision trees are nothing but a bunch of if-else statements in layman terms.</a:t>
            </a:r>
          </a:p>
          <a:p>
            <a:r>
              <a:rPr lang="en-US" sz="2800" b="0" i="0" dirty="0">
                <a:solidFill>
                  <a:srgbClr val="222222"/>
                </a:solidFill>
                <a:effectLst/>
                <a:latin typeface="Lato" panose="020F0502020204030203" pitchFamily="34" charset="0"/>
              </a:rPr>
              <a:t>It checks if the condition is true and if it is then it goes to the next node attached to that decision.</a:t>
            </a:r>
            <a:endParaRPr lang="en-IN" sz="2800" dirty="0"/>
          </a:p>
        </p:txBody>
      </p:sp>
      <p:sp>
        <p:nvSpPr>
          <p:cNvPr id="4" name="Footer Placeholder 3">
            <a:extLst>
              <a:ext uri="{FF2B5EF4-FFF2-40B4-BE49-F238E27FC236}">
                <a16:creationId xmlns:a16="http://schemas.microsoft.com/office/drawing/2014/main" id="{22EE08E6-8D4D-1BE7-D6E2-C8D7754D8422}"/>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8C71D880-BCFF-EC60-E40C-2704CD99CEC6}"/>
              </a:ext>
            </a:extLst>
          </p:cNvPr>
          <p:cNvSpPr>
            <a:spLocks noGrp="1"/>
          </p:cNvSpPr>
          <p:nvPr>
            <p:ph type="sldNum" sz="quarter" idx="12"/>
          </p:nvPr>
        </p:nvSpPr>
        <p:spPr/>
        <p:txBody>
          <a:bodyPr/>
          <a:lstStyle/>
          <a:p>
            <a:fld id="{1E81A027-E3F7-4FC9-A752-E855AD4A687D}" type="slidenum">
              <a:rPr lang="en-IN" smtClean="0"/>
              <a:t>56</a:t>
            </a:fld>
            <a:endParaRPr lang="en-IN"/>
          </a:p>
        </p:txBody>
      </p:sp>
    </p:spTree>
    <p:extLst>
      <p:ext uri="{BB962C8B-B14F-4D97-AF65-F5344CB8AC3E}">
        <p14:creationId xmlns:p14="http://schemas.microsoft.com/office/powerpoint/2010/main" val="231887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9C8174-A975-10E3-82DC-137AFB643BB1}"/>
              </a:ext>
            </a:extLst>
          </p:cNvPr>
          <p:cNvSpPr>
            <a:spLocks noGrp="1"/>
          </p:cNvSpPr>
          <p:nvPr>
            <p:ph idx="1"/>
          </p:nvPr>
        </p:nvSpPr>
        <p:spPr>
          <a:xfrm>
            <a:off x="1097280" y="513184"/>
            <a:ext cx="10058400" cy="5355910"/>
          </a:xfrm>
        </p:spPr>
        <p:txBody>
          <a:bodyPr/>
          <a:lstStyle/>
          <a:p>
            <a:r>
              <a:rPr lang="en-US" b="0" i="0" dirty="0">
                <a:solidFill>
                  <a:srgbClr val="222222"/>
                </a:solidFill>
                <a:effectLst/>
                <a:latin typeface="Lato" panose="020F0502020204030203" pitchFamily="34" charset="0"/>
              </a:rPr>
              <a:t>In the below diagram the tree will first ask what is the weather?</a:t>
            </a:r>
          </a:p>
          <a:p>
            <a:r>
              <a:rPr lang="en-US" b="0" i="0" dirty="0">
                <a:solidFill>
                  <a:srgbClr val="222222"/>
                </a:solidFill>
                <a:effectLst/>
                <a:latin typeface="Lato" panose="020F0502020204030203" pitchFamily="34" charset="0"/>
              </a:rPr>
              <a:t> Is it sunny, cloudy, or rainy? If yes then it will go to the next feature which is humidity and wind. It will again check if there is a strong wind or weak, if it’s a weak wind and it’s rainy then the person may go and play.</a:t>
            </a:r>
            <a:endParaRPr lang="en-IN" dirty="0"/>
          </a:p>
        </p:txBody>
      </p:sp>
      <p:sp>
        <p:nvSpPr>
          <p:cNvPr id="4" name="Footer Placeholder 3">
            <a:extLst>
              <a:ext uri="{FF2B5EF4-FFF2-40B4-BE49-F238E27FC236}">
                <a16:creationId xmlns:a16="http://schemas.microsoft.com/office/drawing/2014/main" id="{6226FDB2-CEEA-29F4-813B-1790B1BDA8C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467188C4-A7FF-A073-5054-A8196FAB9402}"/>
              </a:ext>
            </a:extLst>
          </p:cNvPr>
          <p:cNvSpPr>
            <a:spLocks noGrp="1"/>
          </p:cNvSpPr>
          <p:nvPr>
            <p:ph type="sldNum" sz="quarter" idx="12"/>
          </p:nvPr>
        </p:nvSpPr>
        <p:spPr/>
        <p:txBody>
          <a:bodyPr/>
          <a:lstStyle/>
          <a:p>
            <a:fld id="{1E81A027-E3F7-4FC9-A752-E855AD4A687D}" type="slidenum">
              <a:rPr lang="en-IN" smtClean="0"/>
              <a:t>57</a:t>
            </a:fld>
            <a:endParaRPr lang="en-IN"/>
          </a:p>
        </p:txBody>
      </p:sp>
      <p:pic>
        <p:nvPicPr>
          <p:cNvPr id="7" name="Picture 6">
            <a:extLst>
              <a:ext uri="{FF2B5EF4-FFF2-40B4-BE49-F238E27FC236}">
                <a16:creationId xmlns:a16="http://schemas.microsoft.com/office/drawing/2014/main" id="{F7A13A73-BD11-C0A8-6111-D01C44630FB6}"/>
              </a:ext>
            </a:extLst>
          </p:cNvPr>
          <p:cNvPicPr>
            <a:picLocks noChangeAspect="1"/>
          </p:cNvPicPr>
          <p:nvPr/>
        </p:nvPicPr>
        <p:blipFill>
          <a:blip r:embed="rId2"/>
          <a:stretch>
            <a:fillRect/>
          </a:stretch>
        </p:blipFill>
        <p:spPr>
          <a:xfrm>
            <a:off x="177361" y="1950453"/>
            <a:ext cx="9446048" cy="4509332"/>
          </a:xfrm>
          <a:prstGeom prst="rect">
            <a:avLst/>
          </a:prstGeom>
        </p:spPr>
      </p:pic>
      <p:sp>
        <p:nvSpPr>
          <p:cNvPr id="9" name="TextBox 8">
            <a:extLst>
              <a:ext uri="{FF2B5EF4-FFF2-40B4-BE49-F238E27FC236}">
                <a16:creationId xmlns:a16="http://schemas.microsoft.com/office/drawing/2014/main" id="{F1E9204C-B85B-0323-7D24-3D70F287574C}"/>
              </a:ext>
            </a:extLst>
          </p:cNvPr>
          <p:cNvSpPr txBox="1"/>
          <p:nvPr/>
        </p:nvSpPr>
        <p:spPr>
          <a:xfrm>
            <a:off x="8683611" y="1950453"/>
            <a:ext cx="3331028" cy="2308324"/>
          </a:xfrm>
          <a:prstGeom prst="rect">
            <a:avLst/>
          </a:prstGeom>
          <a:noFill/>
        </p:spPr>
        <p:txBody>
          <a:bodyPr wrap="square">
            <a:spAutoFit/>
          </a:bodyPr>
          <a:lstStyle/>
          <a:p>
            <a:r>
              <a:rPr lang="en-US" sz="2400" b="0" i="0" dirty="0">
                <a:solidFill>
                  <a:srgbClr val="222222"/>
                </a:solidFill>
                <a:effectLst/>
              </a:rPr>
              <a:t>We see that if the </a:t>
            </a:r>
            <a:r>
              <a:rPr lang="en-US" sz="2400" b="0" i="1" dirty="0">
                <a:solidFill>
                  <a:srgbClr val="222222"/>
                </a:solidFill>
                <a:effectLst/>
              </a:rPr>
              <a:t>weather is cloudy</a:t>
            </a:r>
            <a:r>
              <a:rPr lang="en-US" sz="2400" b="0" i="0" dirty="0">
                <a:solidFill>
                  <a:srgbClr val="222222"/>
                </a:solidFill>
                <a:effectLst/>
              </a:rPr>
              <a:t> then we must go to play. </a:t>
            </a:r>
          </a:p>
          <a:p>
            <a:r>
              <a:rPr lang="en-US" sz="2400" b="0" i="0" dirty="0">
                <a:solidFill>
                  <a:srgbClr val="222222"/>
                </a:solidFill>
                <a:effectLst/>
              </a:rPr>
              <a:t>Why didn’t it split more? Why did it stop there?</a:t>
            </a:r>
            <a:endParaRPr lang="en-IN" sz="2400" dirty="0"/>
          </a:p>
        </p:txBody>
      </p:sp>
    </p:spTree>
    <p:extLst>
      <p:ext uri="{BB962C8B-B14F-4D97-AF65-F5344CB8AC3E}">
        <p14:creationId xmlns:p14="http://schemas.microsoft.com/office/powerpoint/2010/main" val="8425389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B76-E9D6-12F9-DD6F-1C38B9D765E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0601C37-5FAE-3465-7B6F-5BEC4AF3C41B}"/>
              </a:ext>
            </a:extLst>
          </p:cNvPr>
          <p:cNvSpPr>
            <a:spLocks noGrp="1"/>
          </p:cNvSpPr>
          <p:nvPr>
            <p:ph idx="1"/>
          </p:nvPr>
        </p:nvSpPr>
        <p:spPr/>
        <p:txBody>
          <a:bodyPr>
            <a:normAutofit/>
          </a:bodyPr>
          <a:lstStyle/>
          <a:p>
            <a:r>
              <a:rPr lang="en-US" sz="2400" b="0" i="0" dirty="0">
                <a:solidFill>
                  <a:srgbClr val="222222"/>
                </a:solidFill>
                <a:effectLst/>
              </a:rPr>
              <a:t>To answer this question, we need to know about few more concepts like entropy, information gain, and Gini index. </a:t>
            </a:r>
          </a:p>
          <a:p>
            <a:r>
              <a:rPr lang="en-US" sz="2400" b="0" i="0" dirty="0">
                <a:solidFill>
                  <a:srgbClr val="222222"/>
                </a:solidFill>
                <a:effectLst/>
              </a:rPr>
              <a:t>But in simple terms, I can say here that the output for the training dataset is always yes for cloudy weather, since there is no disorderliness here we don’t need to split the node further.</a:t>
            </a:r>
          </a:p>
          <a:p>
            <a:r>
              <a:rPr lang="en-US" sz="2400" dirty="0"/>
              <a:t>The goal of machine learning is to decrease uncertainty or disorders from the dataset and for this, we use decision trees.</a:t>
            </a:r>
          </a:p>
          <a:p>
            <a:r>
              <a:rPr lang="en-US" sz="2400" dirty="0"/>
              <a:t>Now you must be thinking how do I know what should be the root node? what should be the decision node? when should I stop splitting? To decide this, there is a metric called “Entropy” which is the amount of uncertainty in the dataset.</a:t>
            </a:r>
            <a:endParaRPr lang="en-IN" sz="2400" dirty="0"/>
          </a:p>
        </p:txBody>
      </p:sp>
      <p:sp>
        <p:nvSpPr>
          <p:cNvPr id="4" name="Footer Placeholder 3">
            <a:extLst>
              <a:ext uri="{FF2B5EF4-FFF2-40B4-BE49-F238E27FC236}">
                <a16:creationId xmlns:a16="http://schemas.microsoft.com/office/drawing/2014/main" id="{85965AF1-2316-AF82-A4CB-C05E131324AB}"/>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F6E467E9-B565-078D-D325-26518EB7D9A3}"/>
              </a:ext>
            </a:extLst>
          </p:cNvPr>
          <p:cNvSpPr>
            <a:spLocks noGrp="1"/>
          </p:cNvSpPr>
          <p:nvPr>
            <p:ph type="sldNum" sz="quarter" idx="12"/>
          </p:nvPr>
        </p:nvSpPr>
        <p:spPr/>
        <p:txBody>
          <a:bodyPr/>
          <a:lstStyle/>
          <a:p>
            <a:fld id="{1E81A027-E3F7-4FC9-A752-E855AD4A687D}" type="slidenum">
              <a:rPr lang="en-IN" smtClean="0"/>
              <a:t>58</a:t>
            </a:fld>
            <a:endParaRPr lang="en-IN"/>
          </a:p>
        </p:txBody>
      </p:sp>
    </p:spTree>
    <p:extLst>
      <p:ext uri="{BB962C8B-B14F-4D97-AF65-F5344CB8AC3E}">
        <p14:creationId xmlns:p14="http://schemas.microsoft.com/office/powerpoint/2010/main" val="33452041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694EC-8A2F-0701-E78A-9B12AA6470B2}"/>
              </a:ext>
            </a:extLst>
          </p:cNvPr>
          <p:cNvSpPr>
            <a:spLocks noGrp="1"/>
          </p:cNvSpPr>
          <p:nvPr>
            <p:ph type="title"/>
          </p:nvPr>
        </p:nvSpPr>
        <p:spPr/>
        <p:txBody>
          <a:bodyPr/>
          <a:lstStyle/>
          <a:p>
            <a:r>
              <a:rPr lang="en-IN" dirty="0"/>
              <a:t>Entropy</a:t>
            </a:r>
          </a:p>
        </p:txBody>
      </p:sp>
      <p:sp>
        <p:nvSpPr>
          <p:cNvPr id="3" name="Content Placeholder 2">
            <a:extLst>
              <a:ext uri="{FF2B5EF4-FFF2-40B4-BE49-F238E27FC236}">
                <a16:creationId xmlns:a16="http://schemas.microsoft.com/office/drawing/2014/main" id="{12661122-D660-0879-CD3E-B30B14332D2B}"/>
              </a:ext>
            </a:extLst>
          </p:cNvPr>
          <p:cNvSpPr>
            <a:spLocks noGrp="1"/>
          </p:cNvSpPr>
          <p:nvPr>
            <p:ph idx="1"/>
          </p:nvPr>
        </p:nvSpPr>
        <p:spPr/>
        <p:txBody>
          <a:bodyPr>
            <a:normAutofit fontScale="92500" lnSpcReduction="10000"/>
          </a:bodyPr>
          <a:lstStyle/>
          <a:p>
            <a:pPr algn="l"/>
            <a:r>
              <a:rPr lang="en-US" sz="2800" b="0" i="0" dirty="0">
                <a:solidFill>
                  <a:srgbClr val="222222"/>
                </a:solidFill>
                <a:effectLst/>
                <a:latin typeface="Lato" panose="020F0502020204030203" pitchFamily="34" charset="0"/>
              </a:rPr>
              <a:t>Entropy is nothing but the uncertainty in our dataset or measure of disorder. Let me try to explain this with the help of an example.</a:t>
            </a:r>
          </a:p>
          <a:p>
            <a:pPr algn="l"/>
            <a:r>
              <a:rPr lang="en-US" sz="2800" b="0" i="0" dirty="0">
                <a:solidFill>
                  <a:srgbClr val="222222"/>
                </a:solidFill>
                <a:effectLst/>
                <a:latin typeface="Lato" panose="020F0502020204030203" pitchFamily="34" charset="0"/>
              </a:rPr>
              <a:t>Suppose you have a group of friends who decides which movie they can watch together on Sunday. </a:t>
            </a:r>
          </a:p>
          <a:p>
            <a:pPr lvl="1"/>
            <a:r>
              <a:rPr lang="en-US" sz="2400" b="0" i="0" dirty="0">
                <a:solidFill>
                  <a:srgbClr val="222222"/>
                </a:solidFill>
                <a:effectLst/>
                <a:latin typeface="Lato" panose="020F0502020204030203" pitchFamily="34" charset="0"/>
              </a:rPr>
              <a:t>There are 2 choices for movies, one is </a:t>
            </a:r>
            <a:r>
              <a:rPr lang="en-US" sz="2400" b="1" i="1" dirty="0">
                <a:solidFill>
                  <a:srgbClr val="222222"/>
                </a:solidFill>
                <a:effectLst/>
                <a:latin typeface="Lato" panose="020F0502020204030203" pitchFamily="34" charset="0"/>
              </a:rPr>
              <a:t>“Lucy”</a:t>
            </a:r>
            <a:r>
              <a:rPr lang="en-US" sz="2400" b="0" i="0" dirty="0">
                <a:solidFill>
                  <a:srgbClr val="222222"/>
                </a:solidFill>
                <a:effectLst/>
                <a:latin typeface="Lato" panose="020F0502020204030203" pitchFamily="34" charset="0"/>
              </a:rPr>
              <a:t> and the second is </a:t>
            </a:r>
            <a:r>
              <a:rPr lang="en-US" sz="2400" b="1" i="1" dirty="0">
                <a:solidFill>
                  <a:srgbClr val="222222"/>
                </a:solidFill>
                <a:effectLst/>
                <a:latin typeface="Lato" panose="020F0502020204030203" pitchFamily="34" charset="0"/>
              </a:rPr>
              <a:t>“Titanic”</a:t>
            </a:r>
            <a:r>
              <a:rPr lang="en-US" sz="2400" b="0" i="0" dirty="0">
                <a:solidFill>
                  <a:srgbClr val="222222"/>
                </a:solidFill>
                <a:effectLst/>
                <a:latin typeface="Lato" panose="020F0502020204030203" pitchFamily="34" charset="0"/>
              </a:rPr>
              <a:t> and now everyone has to tell their choice. </a:t>
            </a:r>
          </a:p>
          <a:p>
            <a:pPr lvl="1"/>
            <a:r>
              <a:rPr lang="en-US" sz="2400" b="0" i="0" dirty="0">
                <a:solidFill>
                  <a:srgbClr val="222222"/>
                </a:solidFill>
                <a:effectLst/>
                <a:latin typeface="Lato" panose="020F0502020204030203" pitchFamily="34" charset="0"/>
              </a:rPr>
              <a:t>After everyone gives their answer we see that </a:t>
            </a:r>
            <a:r>
              <a:rPr lang="en-US" sz="2400" b="0" i="1" dirty="0">
                <a:solidFill>
                  <a:srgbClr val="222222"/>
                </a:solidFill>
                <a:effectLst/>
                <a:latin typeface="Lato" panose="020F0502020204030203" pitchFamily="34" charset="0"/>
              </a:rPr>
              <a:t>“Lucy” gets 4 votes</a:t>
            </a:r>
            <a:r>
              <a:rPr lang="en-US" sz="2400" b="0" i="0" dirty="0">
                <a:solidFill>
                  <a:srgbClr val="222222"/>
                </a:solidFill>
                <a:effectLst/>
                <a:latin typeface="Lato" panose="020F0502020204030203" pitchFamily="34" charset="0"/>
              </a:rPr>
              <a:t> and </a:t>
            </a:r>
            <a:r>
              <a:rPr lang="en-US" sz="2400" b="0" i="1" dirty="0">
                <a:solidFill>
                  <a:srgbClr val="222222"/>
                </a:solidFill>
                <a:effectLst/>
                <a:latin typeface="Lato" panose="020F0502020204030203" pitchFamily="34" charset="0"/>
              </a:rPr>
              <a:t>“Titanic” gets 5 votes</a:t>
            </a:r>
            <a:r>
              <a:rPr lang="en-US" sz="2400" b="0" i="0" dirty="0">
                <a:solidFill>
                  <a:srgbClr val="222222"/>
                </a:solidFill>
                <a:effectLst/>
                <a:latin typeface="Lato" panose="020F0502020204030203" pitchFamily="34" charset="0"/>
              </a:rPr>
              <a:t>. </a:t>
            </a:r>
          </a:p>
          <a:p>
            <a:pPr lvl="1"/>
            <a:r>
              <a:rPr lang="en-US" sz="2400" b="0" i="0" dirty="0">
                <a:solidFill>
                  <a:srgbClr val="222222"/>
                </a:solidFill>
                <a:effectLst/>
                <a:latin typeface="Lato" panose="020F0502020204030203" pitchFamily="34" charset="0"/>
              </a:rPr>
              <a:t>Which movie do we watch now? </a:t>
            </a:r>
          </a:p>
          <a:p>
            <a:pPr lvl="1"/>
            <a:r>
              <a:rPr lang="en-US" sz="2400" b="0" i="0" dirty="0">
                <a:solidFill>
                  <a:srgbClr val="222222"/>
                </a:solidFill>
                <a:effectLst/>
                <a:latin typeface="Lato" panose="020F0502020204030203" pitchFamily="34" charset="0"/>
              </a:rPr>
              <a:t>Isn’t it hard to choose 1 movie now because the votes for both the movies are somewhat equal.</a:t>
            </a:r>
          </a:p>
          <a:p>
            <a:endParaRPr lang="en-IN" sz="2800" dirty="0"/>
          </a:p>
        </p:txBody>
      </p:sp>
      <p:sp>
        <p:nvSpPr>
          <p:cNvPr id="4" name="Footer Placeholder 3">
            <a:extLst>
              <a:ext uri="{FF2B5EF4-FFF2-40B4-BE49-F238E27FC236}">
                <a16:creationId xmlns:a16="http://schemas.microsoft.com/office/drawing/2014/main" id="{653A14DA-AD5E-A9EE-A2E3-89F2C45DCADA}"/>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5C282D10-B8DA-143C-CDF6-298F2FA74D84}"/>
              </a:ext>
            </a:extLst>
          </p:cNvPr>
          <p:cNvSpPr>
            <a:spLocks noGrp="1"/>
          </p:cNvSpPr>
          <p:nvPr>
            <p:ph type="sldNum" sz="quarter" idx="12"/>
          </p:nvPr>
        </p:nvSpPr>
        <p:spPr/>
        <p:txBody>
          <a:bodyPr/>
          <a:lstStyle/>
          <a:p>
            <a:fld id="{1E81A027-E3F7-4FC9-A752-E855AD4A687D}" type="slidenum">
              <a:rPr lang="en-IN" smtClean="0"/>
              <a:t>59</a:t>
            </a:fld>
            <a:endParaRPr lang="en-IN"/>
          </a:p>
        </p:txBody>
      </p:sp>
    </p:spTree>
    <p:extLst>
      <p:ext uri="{BB962C8B-B14F-4D97-AF65-F5344CB8AC3E}">
        <p14:creationId xmlns:p14="http://schemas.microsoft.com/office/powerpoint/2010/main" val="41407728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B5F65DA-FC88-2BCC-9482-4A3DAEFF089E}"/>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E1896C03-097C-2EDF-0CF0-5C573831B80D}"/>
              </a:ext>
            </a:extLst>
          </p:cNvPr>
          <p:cNvSpPr>
            <a:spLocks noGrp="1"/>
          </p:cNvSpPr>
          <p:nvPr>
            <p:ph type="sldNum" sz="quarter" idx="12"/>
          </p:nvPr>
        </p:nvSpPr>
        <p:spPr/>
        <p:txBody>
          <a:bodyPr/>
          <a:lstStyle/>
          <a:p>
            <a:fld id="{1E81A027-E3F7-4FC9-A752-E855AD4A687D}" type="slidenum">
              <a:rPr lang="en-IN" smtClean="0"/>
              <a:t>60</a:t>
            </a:fld>
            <a:endParaRPr lang="en-IN"/>
          </a:p>
        </p:txBody>
      </p:sp>
      <p:sp>
        <p:nvSpPr>
          <p:cNvPr id="3" name="Content Placeholder 2">
            <a:extLst>
              <a:ext uri="{FF2B5EF4-FFF2-40B4-BE49-F238E27FC236}">
                <a16:creationId xmlns:a16="http://schemas.microsoft.com/office/drawing/2014/main" id="{7B201BA3-9488-6544-850B-223CAAE9DA91}"/>
              </a:ext>
            </a:extLst>
          </p:cNvPr>
          <p:cNvSpPr>
            <a:spLocks noGrp="1"/>
          </p:cNvSpPr>
          <p:nvPr>
            <p:ph idx="4294967295"/>
          </p:nvPr>
        </p:nvSpPr>
        <p:spPr>
          <a:xfrm>
            <a:off x="242596" y="158621"/>
            <a:ext cx="11672596" cy="5710368"/>
          </a:xfrm>
        </p:spPr>
        <p:txBody>
          <a:bodyPr>
            <a:normAutofit/>
          </a:bodyPr>
          <a:lstStyle/>
          <a:p>
            <a:pPr algn="l"/>
            <a:r>
              <a:rPr lang="en-US" sz="2400" b="0" i="0" dirty="0">
                <a:solidFill>
                  <a:srgbClr val="222222"/>
                </a:solidFill>
                <a:effectLst/>
                <a:latin typeface="Lato" panose="020F0502020204030203" pitchFamily="34" charset="0"/>
              </a:rPr>
              <a:t>This is exactly what we call </a:t>
            </a:r>
            <a:r>
              <a:rPr lang="en-US" sz="2400" b="0" i="0" dirty="0" err="1">
                <a:solidFill>
                  <a:srgbClr val="222222"/>
                </a:solidFill>
                <a:effectLst/>
                <a:latin typeface="Lato" panose="020F0502020204030203" pitchFamily="34" charset="0"/>
              </a:rPr>
              <a:t>disorderness</a:t>
            </a:r>
            <a:r>
              <a:rPr lang="en-US" sz="2400" b="0" i="0" dirty="0">
                <a:solidFill>
                  <a:srgbClr val="222222"/>
                </a:solidFill>
                <a:effectLst/>
                <a:latin typeface="Lato" panose="020F0502020204030203" pitchFamily="34" charset="0"/>
              </a:rPr>
              <a:t>, there is an equal number of votes for both the movies, and we can’t really decide which movie we should watch. </a:t>
            </a:r>
          </a:p>
          <a:p>
            <a:pPr algn="l"/>
            <a:r>
              <a:rPr lang="en-US" sz="2400" b="0" i="0" dirty="0">
                <a:solidFill>
                  <a:srgbClr val="222222"/>
                </a:solidFill>
                <a:effectLst/>
                <a:latin typeface="Lato" panose="020F0502020204030203" pitchFamily="34" charset="0"/>
              </a:rPr>
              <a:t>It would have been much easier if the votes for “Lucy” were 8 and for “Titanic” it was 2. </a:t>
            </a:r>
          </a:p>
          <a:p>
            <a:pPr algn="l"/>
            <a:r>
              <a:rPr lang="en-US" sz="2400" b="0" i="0" dirty="0">
                <a:solidFill>
                  <a:srgbClr val="222222"/>
                </a:solidFill>
                <a:effectLst/>
                <a:latin typeface="Lato" panose="020F0502020204030203" pitchFamily="34" charset="0"/>
              </a:rPr>
              <a:t>Here we could easily say that the majority of votes are for “Lucy” hence everyone will be watching this movie.</a:t>
            </a:r>
          </a:p>
          <a:p>
            <a:pPr algn="l"/>
            <a:r>
              <a:rPr lang="en-US" sz="2400" b="0" i="0" dirty="0">
                <a:solidFill>
                  <a:srgbClr val="222222"/>
                </a:solidFill>
                <a:effectLst/>
                <a:latin typeface="Lato" panose="020F0502020204030203" pitchFamily="34" charset="0"/>
              </a:rPr>
              <a:t>In a decision tree, the output is mostly “yes” or “no”</a:t>
            </a:r>
          </a:p>
          <a:p>
            <a:endParaRPr lang="en-IN" sz="2400" dirty="0"/>
          </a:p>
        </p:txBody>
      </p:sp>
      <p:pic>
        <p:nvPicPr>
          <p:cNvPr id="7" name="Picture 6">
            <a:extLst>
              <a:ext uri="{FF2B5EF4-FFF2-40B4-BE49-F238E27FC236}">
                <a16:creationId xmlns:a16="http://schemas.microsoft.com/office/drawing/2014/main" id="{8BB7BA98-E8B1-BF4F-4F33-6FD610F0E276}"/>
              </a:ext>
            </a:extLst>
          </p:cNvPr>
          <p:cNvPicPr>
            <a:picLocks noChangeAspect="1"/>
          </p:cNvPicPr>
          <p:nvPr/>
        </p:nvPicPr>
        <p:blipFill>
          <a:blip r:embed="rId2"/>
          <a:stretch>
            <a:fillRect/>
          </a:stretch>
        </p:blipFill>
        <p:spPr>
          <a:xfrm>
            <a:off x="1283725" y="3288074"/>
            <a:ext cx="9437148" cy="3052398"/>
          </a:xfrm>
          <a:prstGeom prst="rect">
            <a:avLst/>
          </a:prstGeom>
        </p:spPr>
      </p:pic>
    </p:spTree>
    <p:extLst>
      <p:ext uri="{BB962C8B-B14F-4D97-AF65-F5344CB8AC3E}">
        <p14:creationId xmlns:p14="http://schemas.microsoft.com/office/powerpoint/2010/main" val="38800243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F4BFEF-6B33-A49E-A212-46093D304B1E}"/>
              </a:ext>
            </a:extLst>
          </p:cNvPr>
          <p:cNvSpPr>
            <a:spLocks noGrp="1"/>
          </p:cNvSpPr>
          <p:nvPr>
            <p:ph type="title"/>
          </p:nvPr>
        </p:nvSpPr>
        <p:spPr/>
        <p:txBody>
          <a:bodyPr/>
          <a:lstStyle/>
          <a:p>
            <a:r>
              <a:rPr lang="en-US" dirty="0"/>
              <a:t>How do Decision Trees use Entropy?</a:t>
            </a:r>
            <a:endParaRPr lang="en-IN" dirty="0"/>
          </a:p>
        </p:txBody>
      </p:sp>
      <p:sp>
        <p:nvSpPr>
          <p:cNvPr id="5" name="Content Placeholder 4">
            <a:extLst>
              <a:ext uri="{FF2B5EF4-FFF2-40B4-BE49-F238E27FC236}">
                <a16:creationId xmlns:a16="http://schemas.microsoft.com/office/drawing/2014/main" id="{177D5A02-C7B4-000D-1DFA-519EA05478E6}"/>
              </a:ext>
            </a:extLst>
          </p:cNvPr>
          <p:cNvSpPr>
            <a:spLocks noGrp="1"/>
          </p:cNvSpPr>
          <p:nvPr>
            <p:ph idx="1"/>
          </p:nvPr>
        </p:nvSpPr>
        <p:spPr/>
        <p:txBody>
          <a:bodyPr>
            <a:normAutofit fontScale="92500"/>
          </a:bodyPr>
          <a:lstStyle/>
          <a:p>
            <a:r>
              <a:rPr lang="en-US" sz="2800" dirty="0"/>
              <a:t>Entropy basically measures the impurity of a node. Impurity is the degree of randomness; it tells how random our data is. A pure sub-split means that either you should be getting “yes”, or you should be getting “no”.</a:t>
            </a:r>
          </a:p>
          <a:p>
            <a:r>
              <a:rPr lang="en-US" sz="2800" dirty="0"/>
              <a:t>Suppose a feature has 8 “yes” and 4 “no” initially, after the first split the left node gets 5 ‘yes’ and 2 ‘no’ whereas right node gets 3 ‘yes’ and 2 ‘no’.</a:t>
            </a:r>
          </a:p>
          <a:p>
            <a:r>
              <a:rPr lang="en-US" sz="2800" dirty="0"/>
              <a:t>We see here the split is not pure, why? Because we can still see some negative classes in both the nodes. In order to make a decision tree, we need to calculate the impurity of each split, and when the purity is 100%, we make it as a leaf node.</a:t>
            </a:r>
            <a:endParaRPr lang="en-IN" sz="2800" dirty="0"/>
          </a:p>
        </p:txBody>
      </p:sp>
      <p:sp>
        <p:nvSpPr>
          <p:cNvPr id="2" name="Footer Placeholder 1">
            <a:extLst>
              <a:ext uri="{FF2B5EF4-FFF2-40B4-BE49-F238E27FC236}">
                <a16:creationId xmlns:a16="http://schemas.microsoft.com/office/drawing/2014/main" id="{1E954929-2156-96AC-3D9F-7ADC2451AC34}"/>
              </a:ext>
            </a:extLst>
          </p:cNvPr>
          <p:cNvSpPr>
            <a:spLocks noGrp="1"/>
          </p:cNvSpPr>
          <p:nvPr>
            <p:ph type="ftr" sz="quarter" idx="11"/>
          </p:nvPr>
        </p:nvSpPr>
        <p:spPr/>
        <p:txBody>
          <a:bodyPr/>
          <a:lstStyle/>
          <a:p>
            <a:r>
              <a:rPr lang="en-IN"/>
              <a:t>DEPARTMENT OF CSE SNGCE</a:t>
            </a:r>
          </a:p>
        </p:txBody>
      </p:sp>
      <p:sp>
        <p:nvSpPr>
          <p:cNvPr id="3" name="Slide Number Placeholder 2">
            <a:extLst>
              <a:ext uri="{FF2B5EF4-FFF2-40B4-BE49-F238E27FC236}">
                <a16:creationId xmlns:a16="http://schemas.microsoft.com/office/drawing/2014/main" id="{131A8555-F669-0049-C69D-506636453CA3}"/>
              </a:ext>
            </a:extLst>
          </p:cNvPr>
          <p:cNvSpPr>
            <a:spLocks noGrp="1"/>
          </p:cNvSpPr>
          <p:nvPr>
            <p:ph type="sldNum" sz="quarter" idx="12"/>
          </p:nvPr>
        </p:nvSpPr>
        <p:spPr/>
        <p:txBody>
          <a:bodyPr/>
          <a:lstStyle/>
          <a:p>
            <a:fld id="{1E81A027-E3F7-4FC9-A752-E855AD4A687D}" type="slidenum">
              <a:rPr lang="en-IN" smtClean="0"/>
              <a:t>61</a:t>
            </a:fld>
            <a:endParaRPr lang="en-IN"/>
          </a:p>
        </p:txBody>
      </p:sp>
    </p:spTree>
    <p:extLst>
      <p:ext uri="{BB962C8B-B14F-4D97-AF65-F5344CB8AC3E}">
        <p14:creationId xmlns:p14="http://schemas.microsoft.com/office/powerpoint/2010/main" val="17175655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60EEFA6-A95F-469A-F080-AF2E8E764ED2}"/>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24B7D499-669A-1E7C-348B-BDFB94E26F0A}"/>
              </a:ext>
            </a:extLst>
          </p:cNvPr>
          <p:cNvSpPr>
            <a:spLocks noGrp="1"/>
          </p:cNvSpPr>
          <p:nvPr>
            <p:ph type="sldNum" sz="quarter" idx="12"/>
          </p:nvPr>
        </p:nvSpPr>
        <p:spPr/>
        <p:txBody>
          <a:bodyPr/>
          <a:lstStyle/>
          <a:p>
            <a:fld id="{1E81A027-E3F7-4FC9-A752-E855AD4A687D}" type="slidenum">
              <a:rPr lang="en-IN" smtClean="0"/>
              <a:t>62</a:t>
            </a:fld>
            <a:endParaRPr lang="en-IN"/>
          </a:p>
        </p:txBody>
      </p:sp>
      <p:sp>
        <p:nvSpPr>
          <p:cNvPr id="7" name="TextBox 6">
            <a:extLst>
              <a:ext uri="{FF2B5EF4-FFF2-40B4-BE49-F238E27FC236}">
                <a16:creationId xmlns:a16="http://schemas.microsoft.com/office/drawing/2014/main" id="{3ABB7080-F7EA-C137-E340-C2566DEFE3A2}"/>
              </a:ext>
            </a:extLst>
          </p:cNvPr>
          <p:cNvSpPr txBox="1"/>
          <p:nvPr/>
        </p:nvSpPr>
        <p:spPr>
          <a:xfrm>
            <a:off x="1275961" y="399958"/>
            <a:ext cx="10144708" cy="369332"/>
          </a:xfrm>
          <a:prstGeom prst="rect">
            <a:avLst/>
          </a:prstGeom>
          <a:noFill/>
        </p:spPr>
        <p:txBody>
          <a:bodyPr wrap="square">
            <a:spAutoFit/>
          </a:bodyPr>
          <a:lstStyle/>
          <a:p>
            <a:r>
              <a:rPr lang="en-US" b="0" i="0" dirty="0">
                <a:solidFill>
                  <a:srgbClr val="222222"/>
                </a:solidFill>
                <a:effectLst/>
                <a:latin typeface="Lato" panose="020F0502020204030203" pitchFamily="34" charset="0"/>
              </a:rPr>
              <a:t>To check the impurity of feature 2 and feature 3 we will take the help for Entropy formula.</a:t>
            </a:r>
            <a:endParaRPr lang="en-IN" dirty="0"/>
          </a:p>
        </p:txBody>
      </p:sp>
      <p:pic>
        <p:nvPicPr>
          <p:cNvPr id="9" name="Picture 8">
            <a:extLst>
              <a:ext uri="{FF2B5EF4-FFF2-40B4-BE49-F238E27FC236}">
                <a16:creationId xmlns:a16="http://schemas.microsoft.com/office/drawing/2014/main" id="{3547FE28-F8B1-8106-4DCE-C83910BD5CB0}"/>
              </a:ext>
            </a:extLst>
          </p:cNvPr>
          <p:cNvPicPr>
            <a:picLocks noChangeAspect="1"/>
          </p:cNvPicPr>
          <p:nvPr/>
        </p:nvPicPr>
        <p:blipFill>
          <a:blip r:embed="rId2"/>
          <a:stretch>
            <a:fillRect/>
          </a:stretch>
        </p:blipFill>
        <p:spPr>
          <a:xfrm>
            <a:off x="105967" y="1591253"/>
            <a:ext cx="7115275" cy="3867156"/>
          </a:xfrm>
          <a:prstGeom prst="rect">
            <a:avLst/>
          </a:prstGeom>
        </p:spPr>
      </p:pic>
      <p:sp>
        <p:nvSpPr>
          <p:cNvPr id="13" name="TextBox 12">
            <a:extLst>
              <a:ext uri="{FF2B5EF4-FFF2-40B4-BE49-F238E27FC236}">
                <a16:creationId xmlns:a16="http://schemas.microsoft.com/office/drawing/2014/main" id="{D10B1CAC-CFD1-3D73-AC8D-A5BBDA4170D6}"/>
              </a:ext>
            </a:extLst>
          </p:cNvPr>
          <p:cNvSpPr txBox="1"/>
          <p:nvPr/>
        </p:nvSpPr>
        <p:spPr>
          <a:xfrm>
            <a:off x="6687716" y="828955"/>
            <a:ext cx="2894822" cy="523220"/>
          </a:xfrm>
          <a:prstGeom prst="rect">
            <a:avLst/>
          </a:prstGeom>
          <a:noFill/>
        </p:spPr>
        <p:txBody>
          <a:bodyPr wrap="square">
            <a:spAutoFit/>
          </a:bodyPr>
          <a:lstStyle/>
          <a:p>
            <a:r>
              <a:rPr lang="en-US" sz="2800" b="0" i="0" dirty="0">
                <a:solidFill>
                  <a:srgbClr val="222222"/>
                </a:solidFill>
                <a:effectLst/>
              </a:rPr>
              <a:t>Feature 2 </a:t>
            </a:r>
            <a:endParaRPr lang="en-IN" sz="2800" dirty="0"/>
          </a:p>
        </p:txBody>
      </p:sp>
      <p:pic>
        <p:nvPicPr>
          <p:cNvPr id="15" name="Picture 14">
            <a:extLst>
              <a:ext uri="{FF2B5EF4-FFF2-40B4-BE49-F238E27FC236}">
                <a16:creationId xmlns:a16="http://schemas.microsoft.com/office/drawing/2014/main" id="{62B01315-EEBC-DB93-B181-BD8667DE294E}"/>
              </a:ext>
            </a:extLst>
          </p:cNvPr>
          <p:cNvPicPr>
            <a:picLocks noChangeAspect="1"/>
          </p:cNvPicPr>
          <p:nvPr/>
        </p:nvPicPr>
        <p:blipFill>
          <a:blip r:embed="rId3"/>
          <a:stretch>
            <a:fillRect/>
          </a:stretch>
        </p:blipFill>
        <p:spPr>
          <a:xfrm>
            <a:off x="7221242" y="1264682"/>
            <a:ext cx="4658759" cy="2449647"/>
          </a:xfrm>
          <a:prstGeom prst="rect">
            <a:avLst/>
          </a:prstGeom>
        </p:spPr>
      </p:pic>
      <p:pic>
        <p:nvPicPr>
          <p:cNvPr id="17" name="Picture 16">
            <a:extLst>
              <a:ext uri="{FF2B5EF4-FFF2-40B4-BE49-F238E27FC236}">
                <a16:creationId xmlns:a16="http://schemas.microsoft.com/office/drawing/2014/main" id="{B8788209-8D26-7220-58B1-D58C1BF9BC78}"/>
              </a:ext>
            </a:extLst>
          </p:cNvPr>
          <p:cNvPicPr>
            <a:picLocks noChangeAspect="1"/>
          </p:cNvPicPr>
          <p:nvPr/>
        </p:nvPicPr>
        <p:blipFill rotWithShape="1">
          <a:blip r:embed="rId4"/>
          <a:srcRect t="12930"/>
          <a:stretch/>
        </p:blipFill>
        <p:spPr>
          <a:xfrm>
            <a:off x="6775206" y="4097631"/>
            <a:ext cx="4645463" cy="2015414"/>
          </a:xfrm>
          <a:prstGeom prst="rect">
            <a:avLst/>
          </a:prstGeom>
        </p:spPr>
      </p:pic>
      <p:sp>
        <p:nvSpPr>
          <p:cNvPr id="18" name="TextBox 17">
            <a:extLst>
              <a:ext uri="{FF2B5EF4-FFF2-40B4-BE49-F238E27FC236}">
                <a16:creationId xmlns:a16="http://schemas.microsoft.com/office/drawing/2014/main" id="{5925784B-75E0-D529-1EF7-AECC04EEB1D8}"/>
              </a:ext>
            </a:extLst>
          </p:cNvPr>
          <p:cNvSpPr txBox="1"/>
          <p:nvPr/>
        </p:nvSpPr>
        <p:spPr>
          <a:xfrm>
            <a:off x="7061578" y="3662651"/>
            <a:ext cx="2894822" cy="523220"/>
          </a:xfrm>
          <a:prstGeom prst="rect">
            <a:avLst/>
          </a:prstGeom>
          <a:noFill/>
        </p:spPr>
        <p:txBody>
          <a:bodyPr wrap="square">
            <a:spAutoFit/>
          </a:bodyPr>
          <a:lstStyle/>
          <a:p>
            <a:r>
              <a:rPr lang="en-US" sz="2800" b="0" i="0" dirty="0">
                <a:solidFill>
                  <a:srgbClr val="222222"/>
                </a:solidFill>
                <a:effectLst/>
              </a:rPr>
              <a:t>Feature </a:t>
            </a:r>
            <a:r>
              <a:rPr lang="en-US" sz="2800" dirty="0">
                <a:solidFill>
                  <a:srgbClr val="222222"/>
                </a:solidFill>
              </a:rPr>
              <a:t>3</a:t>
            </a:r>
            <a:r>
              <a:rPr lang="en-US" sz="2800" b="0" i="0" dirty="0">
                <a:solidFill>
                  <a:srgbClr val="222222"/>
                </a:solidFill>
                <a:effectLst/>
              </a:rPr>
              <a:t> </a:t>
            </a:r>
            <a:endParaRPr lang="en-IN" sz="2800" dirty="0"/>
          </a:p>
        </p:txBody>
      </p:sp>
    </p:spTree>
    <p:extLst>
      <p:ext uri="{BB962C8B-B14F-4D97-AF65-F5344CB8AC3E}">
        <p14:creationId xmlns:p14="http://schemas.microsoft.com/office/powerpoint/2010/main" val="8911601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9102AD-92C3-D833-CE1A-24F874F8B814}"/>
              </a:ext>
            </a:extLst>
          </p:cNvPr>
          <p:cNvSpPr>
            <a:spLocks noGrp="1"/>
          </p:cNvSpPr>
          <p:nvPr>
            <p:ph type="title"/>
          </p:nvPr>
        </p:nvSpPr>
        <p:spPr/>
        <p:txBody>
          <a:bodyPr/>
          <a:lstStyle/>
          <a:p>
            <a:endParaRPr lang="en-IN" dirty="0"/>
          </a:p>
        </p:txBody>
      </p:sp>
      <p:sp>
        <p:nvSpPr>
          <p:cNvPr id="5" name="Content Placeholder 4">
            <a:extLst>
              <a:ext uri="{FF2B5EF4-FFF2-40B4-BE49-F238E27FC236}">
                <a16:creationId xmlns:a16="http://schemas.microsoft.com/office/drawing/2014/main" id="{5161DEE7-C001-2C9E-222E-9AC41D7FCA5F}"/>
              </a:ext>
            </a:extLst>
          </p:cNvPr>
          <p:cNvSpPr>
            <a:spLocks noGrp="1"/>
          </p:cNvSpPr>
          <p:nvPr>
            <p:ph idx="1"/>
          </p:nvPr>
        </p:nvSpPr>
        <p:spPr/>
        <p:txBody>
          <a:bodyPr>
            <a:normAutofit fontScale="92500" lnSpcReduction="20000"/>
          </a:bodyPr>
          <a:lstStyle/>
          <a:p>
            <a:r>
              <a:rPr lang="en-US" sz="2800" dirty="0"/>
              <a:t>We can clearly see from the tree itself that left node has low entropy or more purity than right node since left node has a greater number of “yes” and it is easy to decide here.</a:t>
            </a:r>
          </a:p>
          <a:p>
            <a:r>
              <a:rPr lang="en-US" sz="2800" dirty="0"/>
              <a:t>Always remember that the higher the Entropy, the lower will be the purity and the higher will be the impurity.</a:t>
            </a:r>
          </a:p>
          <a:p>
            <a:r>
              <a:rPr lang="en-US" sz="2800" dirty="0"/>
              <a:t>As mentioned earlier the goal of machine learning is to decrease the uncertainty or impurity in the dataset, here by using the entropy we are getting the impurity of a particular node, we don’t know if the parent entropy or the entropy of a particular node has decreased or not</a:t>
            </a:r>
          </a:p>
          <a:p>
            <a:r>
              <a:rPr lang="en-US" sz="2800" dirty="0"/>
              <a:t>For this, we bring a new metric called “Information gain” which tells us how much the parent entropy has decreased after splitting it with some feature.</a:t>
            </a:r>
            <a:endParaRPr lang="en-IN" sz="2800" dirty="0"/>
          </a:p>
        </p:txBody>
      </p:sp>
      <p:sp>
        <p:nvSpPr>
          <p:cNvPr id="2" name="Footer Placeholder 1">
            <a:extLst>
              <a:ext uri="{FF2B5EF4-FFF2-40B4-BE49-F238E27FC236}">
                <a16:creationId xmlns:a16="http://schemas.microsoft.com/office/drawing/2014/main" id="{6FFA9221-9B7C-AE22-CE06-F7542DA094EB}"/>
              </a:ext>
            </a:extLst>
          </p:cNvPr>
          <p:cNvSpPr>
            <a:spLocks noGrp="1"/>
          </p:cNvSpPr>
          <p:nvPr>
            <p:ph type="ftr" sz="quarter" idx="11"/>
          </p:nvPr>
        </p:nvSpPr>
        <p:spPr/>
        <p:txBody>
          <a:bodyPr/>
          <a:lstStyle/>
          <a:p>
            <a:r>
              <a:rPr lang="en-IN"/>
              <a:t>DEPARTMENT OF CSE SNGCE</a:t>
            </a:r>
          </a:p>
        </p:txBody>
      </p:sp>
      <p:sp>
        <p:nvSpPr>
          <p:cNvPr id="3" name="Slide Number Placeholder 2">
            <a:extLst>
              <a:ext uri="{FF2B5EF4-FFF2-40B4-BE49-F238E27FC236}">
                <a16:creationId xmlns:a16="http://schemas.microsoft.com/office/drawing/2014/main" id="{DCD6ADCF-5763-98FB-61AD-26ECF4EA4EBE}"/>
              </a:ext>
            </a:extLst>
          </p:cNvPr>
          <p:cNvSpPr>
            <a:spLocks noGrp="1"/>
          </p:cNvSpPr>
          <p:nvPr>
            <p:ph type="sldNum" sz="quarter" idx="12"/>
          </p:nvPr>
        </p:nvSpPr>
        <p:spPr/>
        <p:txBody>
          <a:bodyPr/>
          <a:lstStyle/>
          <a:p>
            <a:fld id="{1E81A027-E3F7-4FC9-A752-E855AD4A687D}" type="slidenum">
              <a:rPr lang="en-IN" smtClean="0"/>
              <a:t>63</a:t>
            </a:fld>
            <a:endParaRPr lang="en-IN"/>
          </a:p>
        </p:txBody>
      </p:sp>
    </p:spTree>
    <p:extLst>
      <p:ext uri="{BB962C8B-B14F-4D97-AF65-F5344CB8AC3E}">
        <p14:creationId xmlns:p14="http://schemas.microsoft.com/office/powerpoint/2010/main" val="21861124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16115-B32D-06AE-B008-7D8EAC08E345}"/>
              </a:ext>
            </a:extLst>
          </p:cNvPr>
          <p:cNvSpPr>
            <a:spLocks noGrp="1"/>
          </p:cNvSpPr>
          <p:nvPr>
            <p:ph type="title"/>
          </p:nvPr>
        </p:nvSpPr>
        <p:spPr/>
        <p:txBody>
          <a:bodyPr/>
          <a:lstStyle/>
          <a:p>
            <a:r>
              <a:rPr lang="en-IN" dirty="0"/>
              <a:t>Information Gain</a:t>
            </a:r>
          </a:p>
        </p:txBody>
      </p:sp>
      <p:sp>
        <p:nvSpPr>
          <p:cNvPr id="3" name="Content Placeholder 2">
            <a:extLst>
              <a:ext uri="{FF2B5EF4-FFF2-40B4-BE49-F238E27FC236}">
                <a16:creationId xmlns:a16="http://schemas.microsoft.com/office/drawing/2014/main" id="{DFB9CE9D-F2A7-AA47-A9D9-94ED531D239B}"/>
              </a:ext>
            </a:extLst>
          </p:cNvPr>
          <p:cNvSpPr>
            <a:spLocks noGrp="1"/>
          </p:cNvSpPr>
          <p:nvPr>
            <p:ph idx="1"/>
          </p:nvPr>
        </p:nvSpPr>
        <p:spPr>
          <a:xfrm>
            <a:off x="1066800" y="1855065"/>
            <a:ext cx="10058400" cy="4023360"/>
          </a:xfrm>
        </p:spPr>
        <p:txBody>
          <a:bodyPr/>
          <a:lstStyle/>
          <a:p>
            <a:r>
              <a:rPr lang="en-US" b="0" i="0" dirty="0">
                <a:solidFill>
                  <a:srgbClr val="222222"/>
                </a:solidFill>
                <a:effectLst/>
                <a:latin typeface="Lato" panose="020F0502020204030203" pitchFamily="34" charset="0"/>
              </a:rPr>
              <a:t>Information gain measures the reduction of uncertainty given some feature and it is also a deciding factor for which attribute should be selected as a decision node or root node.</a:t>
            </a:r>
          </a:p>
          <a:p>
            <a:endParaRPr lang="en-US" dirty="0">
              <a:solidFill>
                <a:srgbClr val="222222"/>
              </a:solidFill>
              <a:latin typeface="Lato" panose="020F0502020204030203" pitchFamily="34" charset="0"/>
            </a:endParaRPr>
          </a:p>
          <a:p>
            <a:endParaRPr lang="en-US" b="0" i="0" dirty="0">
              <a:solidFill>
                <a:srgbClr val="222222"/>
              </a:solidFill>
              <a:effectLst/>
              <a:latin typeface="Lato" panose="020F0502020204030203" pitchFamily="34" charset="0"/>
            </a:endParaRPr>
          </a:p>
          <a:p>
            <a:endParaRPr lang="en-US" dirty="0">
              <a:solidFill>
                <a:srgbClr val="222222"/>
              </a:solidFill>
              <a:latin typeface="Lato" panose="020F0502020204030203" pitchFamily="34" charset="0"/>
            </a:endParaRPr>
          </a:p>
          <a:p>
            <a:r>
              <a:rPr lang="en-US" b="0" i="0" dirty="0">
                <a:solidFill>
                  <a:srgbClr val="222222"/>
                </a:solidFill>
                <a:effectLst/>
                <a:latin typeface="Lato" panose="020F0502020204030203" pitchFamily="34" charset="0"/>
              </a:rPr>
              <a:t>It is just entropy of the full dataset – entropy of the dataset given some feature.</a:t>
            </a:r>
          </a:p>
          <a:p>
            <a:endParaRPr lang="en-IN" dirty="0"/>
          </a:p>
        </p:txBody>
      </p:sp>
      <p:sp>
        <p:nvSpPr>
          <p:cNvPr id="4" name="Footer Placeholder 3">
            <a:extLst>
              <a:ext uri="{FF2B5EF4-FFF2-40B4-BE49-F238E27FC236}">
                <a16:creationId xmlns:a16="http://schemas.microsoft.com/office/drawing/2014/main" id="{F359E039-61A0-6725-45B8-DC8EE767C53B}"/>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71C132BA-C178-91BA-2DB1-D338C532DE8D}"/>
              </a:ext>
            </a:extLst>
          </p:cNvPr>
          <p:cNvSpPr>
            <a:spLocks noGrp="1"/>
          </p:cNvSpPr>
          <p:nvPr>
            <p:ph type="sldNum" sz="quarter" idx="12"/>
          </p:nvPr>
        </p:nvSpPr>
        <p:spPr/>
        <p:txBody>
          <a:bodyPr/>
          <a:lstStyle/>
          <a:p>
            <a:fld id="{1E81A027-E3F7-4FC9-A752-E855AD4A687D}" type="slidenum">
              <a:rPr lang="en-IN" smtClean="0"/>
              <a:t>64</a:t>
            </a:fld>
            <a:endParaRPr lang="en-IN"/>
          </a:p>
        </p:txBody>
      </p:sp>
      <p:pic>
        <p:nvPicPr>
          <p:cNvPr id="2050" name="Picture 2" descr="information gain Decision tree algorithm">
            <a:extLst>
              <a:ext uri="{FF2B5EF4-FFF2-40B4-BE49-F238E27FC236}">
                <a16:creationId xmlns:a16="http://schemas.microsoft.com/office/drawing/2014/main" id="{97198981-CA0F-E6C0-617B-1285048E0F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2724" y="2476403"/>
            <a:ext cx="8242312" cy="835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64188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8DABE-EF27-3320-EA92-EEDFEBA4B6DC}"/>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895AF8E4-CF51-56FE-F605-DB3447E2D2DD}"/>
              </a:ext>
            </a:extLst>
          </p:cNvPr>
          <p:cNvSpPr>
            <a:spLocks noGrp="1"/>
          </p:cNvSpPr>
          <p:nvPr>
            <p:ph idx="1"/>
          </p:nvPr>
        </p:nvSpPr>
        <p:spPr/>
        <p:txBody>
          <a:bodyPr/>
          <a:lstStyle/>
          <a:p>
            <a:pPr algn="l"/>
            <a:r>
              <a:rPr lang="en-US" b="0" i="0" dirty="0">
                <a:solidFill>
                  <a:srgbClr val="222222"/>
                </a:solidFill>
                <a:effectLst/>
                <a:latin typeface="Lato" panose="020F0502020204030203" pitchFamily="34" charset="0"/>
              </a:rPr>
              <a:t>Suppose our entire population has a total of 30 instances. The dataset is to predict whether the person will go to the gym or not. Let’s say 16 people go to the gym and 14 people don’t</a:t>
            </a:r>
          </a:p>
          <a:p>
            <a:pPr algn="l"/>
            <a:r>
              <a:rPr lang="en-US" b="0" i="0" dirty="0">
                <a:solidFill>
                  <a:srgbClr val="222222"/>
                </a:solidFill>
                <a:effectLst/>
                <a:latin typeface="Lato" panose="020F0502020204030203" pitchFamily="34" charset="0"/>
              </a:rPr>
              <a:t>Now we have two features to predict whether he/she will go to the gym or not.</a:t>
            </a:r>
          </a:p>
          <a:p>
            <a:pPr algn="l"/>
            <a:r>
              <a:rPr lang="en-US" b="0" i="0" dirty="0">
                <a:solidFill>
                  <a:srgbClr val="222222"/>
                </a:solidFill>
                <a:effectLst/>
                <a:latin typeface="Lato" panose="020F0502020204030203" pitchFamily="34" charset="0"/>
              </a:rPr>
              <a:t>Feature 1 is </a:t>
            </a:r>
            <a:r>
              <a:rPr lang="en-US" b="1" i="0" dirty="0">
                <a:solidFill>
                  <a:srgbClr val="222222"/>
                </a:solidFill>
                <a:effectLst/>
                <a:latin typeface="Lato" panose="020F0502020204030203" pitchFamily="34" charset="0"/>
              </a:rPr>
              <a:t>“Energy”</a:t>
            </a:r>
            <a:r>
              <a:rPr lang="en-US" b="0" i="0" dirty="0">
                <a:solidFill>
                  <a:srgbClr val="222222"/>
                </a:solidFill>
                <a:effectLst/>
                <a:latin typeface="Lato" panose="020F0502020204030203" pitchFamily="34" charset="0"/>
              </a:rPr>
              <a:t> which takes two values </a:t>
            </a:r>
            <a:r>
              <a:rPr lang="en-US" b="0" i="1" dirty="0">
                <a:solidFill>
                  <a:srgbClr val="222222"/>
                </a:solidFill>
                <a:effectLst/>
                <a:latin typeface="Lato" panose="020F0502020204030203" pitchFamily="34" charset="0"/>
              </a:rPr>
              <a:t>“high” and “low”</a:t>
            </a:r>
            <a:endParaRPr lang="en-US" b="0" i="0" dirty="0">
              <a:solidFill>
                <a:srgbClr val="222222"/>
              </a:solidFill>
              <a:effectLst/>
              <a:latin typeface="Lato" panose="020F0502020204030203" pitchFamily="34" charset="0"/>
            </a:endParaRPr>
          </a:p>
          <a:p>
            <a:pPr algn="l"/>
            <a:r>
              <a:rPr lang="en-US" b="0" i="0" dirty="0">
                <a:solidFill>
                  <a:srgbClr val="222222"/>
                </a:solidFill>
                <a:effectLst/>
                <a:latin typeface="Lato" panose="020F0502020204030203" pitchFamily="34" charset="0"/>
              </a:rPr>
              <a:t>Feature 2 is </a:t>
            </a:r>
            <a:r>
              <a:rPr lang="en-US" b="1" i="0" dirty="0">
                <a:solidFill>
                  <a:srgbClr val="222222"/>
                </a:solidFill>
                <a:effectLst/>
                <a:latin typeface="Lato" panose="020F0502020204030203" pitchFamily="34" charset="0"/>
              </a:rPr>
              <a:t>“Motivation”</a:t>
            </a:r>
            <a:r>
              <a:rPr lang="en-US" b="0" i="0" dirty="0">
                <a:solidFill>
                  <a:srgbClr val="222222"/>
                </a:solidFill>
                <a:effectLst/>
                <a:latin typeface="Lato" panose="020F0502020204030203" pitchFamily="34" charset="0"/>
              </a:rPr>
              <a:t> which takes 3 values </a:t>
            </a:r>
            <a:r>
              <a:rPr lang="en-US" b="0" i="1" dirty="0">
                <a:solidFill>
                  <a:srgbClr val="222222"/>
                </a:solidFill>
                <a:effectLst/>
                <a:latin typeface="Lato" panose="020F0502020204030203" pitchFamily="34" charset="0"/>
              </a:rPr>
              <a:t>“No motivation”, “Neutral” and “Highly motivated”.</a:t>
            </a:r>
            <a:endParaRPr lang="en-US" b="0" i="0" dirty="0">
              <a:solidFill>
                <a:srgbClr val="222222"/>
              </a:solidFill>
              <a:effectLst/>
              <a:latin typeface="Lato" panose="020F0502020204030203" pitchFamily="34" charset="0"/>
            </a:endParaRPr>
          </a:p>
          <a:p>
            <a:pPr algn="l"/>
            <a:r>
              <a:rPr lang="en-US" b="0" i="0" dirty="0">
                <a:solidFill>
                  <a:srgbClr val="222222"/>
                </a:solidFill>
                <a:effectLst/>
                <a:latin typeface="Lato" panose="020F0502020204030203" pitchFamily="34" charset="0"/>
              </a:rPr>
              <a:t>Let’s see how our decision tree will be made using these 2 features. We’ll use information gain to decide which feature should be the root node and which feature should be placed after the split.</a:t>
            </a:r>
          </a:p>
          <a:p>
            <a:endParaRPr lang="en-IN" dirty="0"/>
          </a:p>
        </p:txBody>
      </p:sp>
      <p:sp>
        <p:nvSpPr>
          <p:cNvPr id="4" name="Footer Placeholder 3">
            <a:extLst>
              <a:ext uri="{FF2B5EF4-FFF2-40B4-BE49-F238E27FC236}">
                <a16:creationId xmlns:a16="http://schemas.microsoft.com/office/drawing/2014/main" id="{70CB30BC-D32C-1263-DC50-A0A1BC1EA3BD}"/>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C8ABEB3E-8F90-E9DF-574E-6C23B6370D5F}"/>
              </a:ext>
            </a:extLst>
          </p:cNvPr>
          <p:cNvSpPr>
            <a:spLocks noGrp="1"/>
          </p:cNvSpPr>
          <p:nvPr>
            <p:ph type="sldNum" sz="quarter" idx="12"/>
          </p:nvPr>
        </p:nvSpPr>
        <p:spPr/>
        <p:txBody>
          <a:bodyPr/>
          <a:lstStyle/>
          <a:p>
            <a:fld id="{1E81A027-E3F7-4FC9-A752-E855AD4A687D}" type="slidenum">
              <a:rPr lang="en-IN" smtClean="0"/>
              <a:t>65</a:t>
            </a:fld>
            <a:endParaRPr lang="en-IN"/>
          </a:p>
        </p:txBody>
      </p:sp>
    </p:spTree>
    <p:extLst>
      <p:ext uri="{BB962C8B-B14F-4D97-AF65-F5344CB8AC3E}">
        <p14:creationId xmlns:p14="http://schemas.microsoft.com/office/powerpoint/2010/main" val="28602291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EC9E2-C627-62E2-39A3-03BB5E58F3AE}"/>
              </a:ext>
            </a:extLst>
          </p:cNvPr>
          <p:cNvSpPr>
            <a:spLocks noGrp="1"/>
          </p:cNvSpPr>
          <p:nvPr>
            <p:ph type="title"/>
          </p:nvPr>
        </p:nvSpPr>
        <p:spPr/>
        <p:txBody>
          <a:bodyPr/>
          <a:lstStyle/>
          <a:p>
            <a:endParaRPr lang="en-IN"/>
          </a:p>
        </p:txBody>
      </p:sp>
      <p:pic>
        <p:nvPicPr>
          <p:cNvPr id="9" name="Content Placeholder 8">
            <a:extLst>
              <a:ext uri="{FF2B5EF4-FFF2-40B4-BE49-F238E27FC236}">
                <a16:creationId xmlns:a16="http://schemas.microsoft.com/office/drawing/2014/main" id="{EAA39226-0BF9-917F-A19B-CC83ED8627F6}"/>
              </a:ext>
            </a:extLst>
          </p:cNvPr>
          <p:cNvPicPr>
            <a:picLocks noGrp="1" noChangeAspect="1"/>
          </p:cNvPicPr>
          <p:nvPr>
            <p:ph idx="1"/>
          </p:nvPr>
        </p:nvPicPr>
        <p:blipFill>
          <a:blip r:embed="rId2"/>
          <a:stretch>
            <a:fillRect/>
          </a:stretch>
        </p:blipFill>
        <p:spPr>
          <a:xfrm>
            <a:off x="0" y="3274102"/>
            <a:ext cx="8131245" cy="2751058"/>
          </a:xfrm>
        </p:spPr>
      </p:pic>
      <p:sp>
        <p:nvSpPr>
          <p:cNvPr id="4" name="Footer Placeholder 3">
            <a:extLst>
              <a:ext uri="{FF2B5EF4-FFF2-40B4-BE49-F238E27FC236}">
                <a16:creationId xmlns:a16="http://schemas.microsoft.com/office/drawing/2014/main" id="{D3D5245C-A710-3034-0B79-25793B401993}"/>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78309D6E-DA0E-8F6C-F040-17631E543255}"/>
              </a:ext>
            </a:extLst>
          </p:cNvPr>
          <p:cNvSpPr>
            <a:spLocks noGrp="1"/>
          </p:cNvSpPr>
          <p:nvPr>
            <p:ph type="sldNum" sz="quarter" idx="12"/>
          </p:nvPr>
        </p:nvSpPr>
        <p:spPr/>
        <p:txBody>
          <a:bodyPr/>
          <a:lstStyle/>
          <a:p>
            <a:fld id="{1E81A027-E3F7-4FC9-A752-E855AD4A687D}" type="slidenum">
              <a:rPr lang="en-IN" smtClean="0"/>
              <a:t>66</a:t>
            </a:fld>
            <a:endParaRPr lang="en-IN"/>
          </a:p>
        </p:txBody>
      </p:sp>
      <p:pic>
        <p:nvPicPr>
          <p:cNvPr id="7" name="Picture 6">
            <a:extLst>
              <a:ext uri="{FF2B5EF4-FFF2-40B4-BE49-F238E27FC236}">
                <a16:creationId xmlns:a16="http://schemas.microsoft.com/office/drawing/2014/main" id="{C9121024-A22D-CAEB-B483-B25C0C00A819}"/>
              </a:ext>
            </a:extLst>
          </p:cNvPr>
          <p:cNvPicPr>
            <a:picLocks noChangeAspect="1"/>
          </p:cNvPicPr>
          <p:nvPr/>
        </p:nvPicPr>
        <p:blipFill>
          <a:blip r:embed="rId3"/>
          <a:stretch>
            <a:fillRect/>
          </a:stretch>
        </p:blipFill>
        <p:spPr>
          <a:xfrm>
            <a:off x="0" y="0"/>
            <a:ext cx="6320091" cy="3274102"/>
          </a:xfrm>
          <a:prstGeom prst="rect">
            <a:avLst/>
          </a:prstGeom>
        </p:spPr>
      </p:pic>
    </p:spTree>
    <p:extLst>
      <p:ext uri="{BB962C8B-B14F-4D97-AF65-F5344CB8AC3E}">
        <p14:creationId xmlns:p14="http://schemas.microsoft.com/office/powerpoint/2010/main" val="25238324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997D1-D625-1987-1971-6FDC00DC8B7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3E88299-7DFE-A20E-1DCC-B7F9AB87300D}"/>
              </a:ext>
            </a:extLst>
          </p:cNvPr>
          <p:cNvSpPr>
            <a:spLocks noGrp="1"/>
          </p:cNvSpPr>
          <p:nvPr>
            <p:ph idx="1"/>
          </p:nvPr>
        </p:nvSpPr>
        <p:spPr/>
        <p:txBody>
          <a:bodyPr/>
          <a:lstStyle/>
          <a:p>
            <a:endParaRPr lang="en-IN" dirty="0"/>
          </a:p>
        </p:txBody>
      </p:sp>
      <p:sp>
        <p:nvSpPr>
          <p:cNvPr id="4" name="Footer Placeholder 3">
            <a:extLst>
              <a:ext uri="{FF2B5EF4-FFF2-40B4-BE49-F238E27FC236}">
                <a16:creationId xmlns:a16="http://schemas.microsoft.com/office/drawing/2014/main" id="{CE71A916-6474-DF08-6E3A-5AB4FCE433F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91CE345D-41AE-27DF-EF73-44AD9196FC79}"/>
              </a:ext>
            </a:extLst>
          </p:cNvPr>
          <p:cNvSpPr>
            <a:spLocks noGrp="1"/>
          </p:cNvSpPr>
          <p:nvPr>
            <p:ph type="sldNum" sz="quarter" idx="12"/>
          </p:nvPr>
        </p:nvSpPr>
        <p:spPr/>
        <p:txBody>
          <a:bodyPr/>
          <a:lstStyle/>
          <a:p>
            <a:fld id="{1E81A027-E3F7-4FC9-A752-E855AD4A687D}" type="slidenum">
              <a:rPr lang="en-IN" smtClean="0"/>
              <a:t>67</a:t>
            </a:fld>
            <a:endParaRPr lang="en-IN"/>
          </a:p>
        </p:txBody>
      </p:sp>
      <p:pic>
        <p:nvPicPr>
          <p:cNvPr id="6" name="Picture 5">
            <a:extLst>
              <a:ext uri="{FF2B5EF4-FFF2-40B4-BE49-F238E27FC236}">
                <a16:creationId xmlns:a16="http://schemas.microsoft.com/office/drawing/2014/main" id="{96892454-5922-ABFD-B6DC-B79E1374E72F}"/>
              </a:ext>
            </a:extLst>
          </p:cNvPr>
          <p:cNvPicPr>
            <a:picLocks noChangeAspect="1"/>
          </p:cNvPicPr>
          <p:nvPr/>
        </p:nvPicPr>
        <p:blipFill>
          <a:blip r:embed="rId2"/>
          <a:stretch>
            <a:fillRect/>
          </a:stretch>
        </p:blipFill>
        <p:spPr>
          <a:xfrm>
            <a:off x="3200400" y="2979924"/>
            <a:ext cx="8789436" cy="3591473"/>
          </a:xfrm>
          <a:prstGeom prst="rect">
            <a:avLst/>
          </a:prstGeom>
        </p:spPr>
      </p:pic>
      <p:pic>
        <p:nvPicPr>
          <p:cNvPr id="7" name="Picture 6">
            <a:extLst>
              <a:ext uri="{FF2B5EF4-FFF2-40B4-BE49-F238E27FC236}">
                <a16:creationId xmlns:a16="http://schemas.microsoft.com/office/drawing/2014/main" id="{B6115C47-242F-8657-6EE8-82D9F1B6828A}"/>
              </a:ext>
            </a:extLst>
          </p:cNvPr>
          <p:cNvPicPr>
            <a:picLocks noChangeAspect="1"/>
          </p:cNvPicPr>
          <p:nvPr/>
        </p:nvPicPr>
        <p:blipFill>
          <a:blip r:embed="rId3"/>
          <a:stretch>
            <a:fillRect/>
          </a:stretch>
        </p:blipFill>
        <p:spPr>
          <a:xfrm>
            <a:off x="1" y="0"/>
            <a:ext cx="5150498" cy="2668198"/>
          </a:xfrm>
          <a:prstGeom prst="rect">
            <a:avLst/>
          </a:prstGeom>
        </p:spPr>
      </p:pic>
      <p:pic>
        <p:nvPicPr>
          <p:cNvPr id="8" name="Content Placeholder 8">
            <a:extLst>
              <a:ext uri="{FF2B5EF4-FFF2-40B4-BE49-F238E27FC236}">
                <a16:creationId xmlns:a16="http://schemas.microsoft.com/office/drawing/2014/main" id="{4FCDD72F-0F4A-FD50-CA2C-C66297B6BDA0}"/>
              </a:ext>
            </a:extLst>
          </p:cNvPr>
          <p:cNvPicPr>
            <a:picLocks noChangeAspect="1"/>
          </p:cNvPicPr>
          <p:nvPr/>
        </p:nvPicPr>
        <p:blipFill>
          <a:blip r:embed="rId4"/>
          <a:stretch>
            <a:fillRect/>
          </a:stretch>
        </p:blipFill>
        <p:spPr>
          <a:xfrm>
            <a:off x="5096252" y="33090"/>
            <a:ext cx="6634114" cy="2244531"/>
          </a:xfrm>
          <a:prstGeom prst="rect">
            <a:avLst/>
          </a:prstGeom>
        </p:spPr>
      </p:pic>
    </p:spTree>
    <p:extLst>
      <p:ext uri="{BB962C8B-B14F-4D97-AF65-F5344CB8AC3E}">
        <p14:creationId xmlns:p14="http://schemas.microsoft.com/office/powerpoint/2010/main" val="13723164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5646-EFBE-10AB-F56E-ADBB5B4F6AE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1642AB2-8113-65D9-5177-35CFCCCCFF36}"/>
              </a:ext>
            </a:extLst>
          </p:cNvPr>
          <p:cNvSpPr>
            <a:spLocks noGrp="1"/>
          </p:cNvSpPr>
          <p:nvPr>
            <p:ph idx="1"/>
          </p:nvPr>
        </p:nvSpPr>
        <p:spPr/>
        <p:txBody>
          <a:bodyPr/>
          <a:lstStyle/>
          <a:p>
            <a:pPr algn="l"/>
            <a:r>
              <a:rPr lang="en-US" b="0" i="0" dirty="0">
                <a:solidFill>
                  <a:srgbClr val="222222"/>
                </a:solidFill>
                <a:effectLst/>
                <a:latin typeface="Lato" panose="020F0502020204030203" pitchFamily="34" charset="0"/>
              </a:rPr>
              <a:t>Our parent entropy was near 0.99 and after looking at this value of information gain, we can say that the entropy of the dataset will decrease by 0.37 if we make “Energy” as our root node.</a:t>
            </a:r>
          </a:p>
          <a:p>
            <a:pPr algn="l"/>
            <a:r>
              <a:rPr lang="en-US" b="0" i="0" dirty="0">
                <a:solidFill>
                  <a:srgbClr val="222222"/>
                </a:solidFill>
                <a:effectLst/>
                <a:latin typeface="Lato" panose="020F0502020204030203" pitchFamily="34" charset="0"/>
              </a:rPr>
              <a:t>Similarly, we will do this with the other feature “Motivation” and calculate its information gain.</a:t>
            </a:r>
          </a:p>
          <a:p>
            <a:endParaRPr lang="en-IN" dirty="0"/>
          </a:p>
        </p:txBody>
      </p:sp>
      <p:sp>
        <p:nvSpPr>
          <p:cNvPr id="4" name="Footer Placeholder 3">
            <a:extLst>
              <a:ext uri="{FF2B5EF4-FFF2-40B4-BE49-F238E27FC236}">
                <a16:creationId xmlns:a16="http://schemas.microsoft.com/office/drawing/2014/main" id="{671A0E4D-DC81-AF6E-383E-D21A1F45BBEF}"/>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9329F26A-CB93-A76F-4A0F-473C843ADA9F}"/>
              </a:ext>
            </a:extLst>
          </p:cNvPr>
          <p:cNvSpPr>
            <a:spLocks noGrp="1"/>
          </p:cNvSpPr>
          <p:nvPr>
            <p:ph type="sldNum" sz="quarter" idx="12"/>
          </p:nvPr>
        </p:nvSpPr>
        <p:spPr/>
        <p:txBody>
          <a:bodyPr/>
          <a:lstStyle/>
          <a:p>
            <a:fld id="{1E81A027-E3F7-4FC9-A752-E855AD4A687D}" type="slidenum">
              <a:rPr lang="en-IN" smtClean="0"/>
              <a:t>68</a:t>
            </a:fld>
            <a:endParaRPr lang="en-IN"/>
          </a:p>
        </p:txBody>
      </p:sp>
    </p:spTree>
    <p:extLst>
      <p:ext uri="{BB962C8B-B14F-4D97-AF65-F5344CB8AC3E}">
        <p14:creationId xmlns:p14="http://schemas.microsoft.com/office/powerpoint/2010/main" val="328232751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C3B4D-A380-6160-3B2F-BAFC35AB6573}"/>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29CB3996-D826-7793-0168-7455B2954F27}"/>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8958D7C8-A8A6-8DA5-75B5-D2BE471D6B71}"/>
              </a:ext>
            </a:extLst>
          </p:cNvPr>
          <p:cNvSpPr>
            <a:spLocks noGrp="1"/>
          </p:cNvSpPr>
          <p:nvPr>
            <p:ph type="sldNum" sz="quarter" idx="12"/>
          </p:nvPr>
        </p:nvSpPr>
        <p:spPr/>
        <p:txBody>
          <a:bodyPr/>
          <a:lstStyle/>
          <a:p>
            <a:fld id="{1E81A027-E3F7-4FC9-A752-E855AD4A687D}" type="slidenum">
              <a:rPr lang="en-IN" smtClean="0"/>
              <a:t>69</a:t>
            </a:fld>
            <a:endParaRPr lang="en-IN"/>
          </a:p>
        </p:txBody>
      </p:sp>
      <p:pic>
        <p:nvPicPr>
          <p:cNvPr id="7" name="Picture 6">
            <a:extLst>
              <a:ext uri="{FF2B5EF4-FFF2-40B4-BE49-F238E27FC236}">
                <a16:creationId xmlns:a16="http://schemas.microsoft.com/office/drawing/2014/main" id="{CD6EE521-ED83-1C4F-E39A-D252F8E985D9}"/>
              </a:ext>
            </a:extLst>
          </p:cNvPr>
          <p:cNvPicPr>
            <a:picLocks noChangeAspect="1"/>
          </p:cNvPicPr>
          <p:nvPr/>
        </p:nvPicPr>
        <p:blipFill>
          <a:blip r:embed="rId2"/>
          <a:stretch>
            <a:fillRect/>
          </a:stretch>
        </p:blipFill>
        <p:spPr>
          <a:xfrm>
            <a:off x="0" y="-32446"/>
            <a:ext cx="5577134" cy="3461446"/>
          </a:xfrm>
          <a:prstGeom prst="rect">
            <a:avLst/>
          </a:prstGeom>
        </p:spPr>
      </p:pic>
      <p:pic>
        <p:nvPicPr>
          <p:cNvPr id="9" name="Picture 8">
            <a:extLst>
              <a:ext uri="{FF2B5EF4-FFF2-40B4-BE49-F238E27FC236}">
                <a16:creationId xmlns:a16="http://schemas.microsoft.com/office/drawing/2014/main" id="{64196F4C-6975-73EF-4C5A-3884B4D9F573}"/>
              </a:ext>
            </a:extLst>
          </p:cNvPr>
          <p:cNvPicPr>
            <a:picLocks noChangeAspect="1"/>
          </p:cNvPicPr>
          <p:nvPr/>
        </p:nvPicPr>
        <p:blipFill>
          <a:blip r:embed="rId3"/>
          <a:stretch>
            <a:fillRect/>
          </a:stretch>
        </p:blipFill>
        <p:spPr>
          <a:xfrm>
            <a:off x="3747512" y="2844050"/>
            <a:ext cx="8444489" cy="3980860"/>
          </a:xfrm>
          <a:prstGeom prst="rect">
            <a:avLst/>
          </a:prstGeom>
        </p:spPr>
      </p:pic>
    </p:spTree>
    <p:extLst>
      <p:ext uri="{BB962C8B-B14F-4D97-AF65-F5344CB8AC3E}">
        <p14:creationId xmlns:p14="http://schemas.microsoft.com/office/powerpoint/2010/main" val="38238893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856E9-9CD0-601F-B85E-7FF76738984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CDDE5FD-BD3D-3DED-B619-D7AF725C35CE}"/>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8E5819E1-76E1-462E-488D-4DEFCEFB32A7}"/>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5085AFE1-20F9-E781-2A00-16D6448973D8}"/>
              </a:ext>
            </a:extLst>
          </p:cNvPr>
          <p:cNvSpPr>
            <a:spLocks noGrp="1"/>
          </p:cNvSpPr>
          <p:nvPr>
            <p:ph type="sldNum" sz="quarter" idx="12"/>
          </p:nvPr>
        </p:nvSpPr>
        <p:spPr/>
        <p:txBody>
          <a:bodyPr/>
          <a:lstStyle/>
          <a:p>
            <a:fld id="{1E81A027-E3F7-4FC9-A752-E855AD4A687D}" type="slidenum">
              <a:rPr lang="en-IN" smtClean="0"/>
              <a:t>70</a:t>
            </a:fld>
            <a:endParaRPr lang="en-IN"/>
          </a:p>
        </p:txBody>
      </p:sp>
      <p:pic>
        <p:nvPicPr>
          <p:cNvPr id="7" name="Picture 6">
            <a:extLst>
              <a:ext uri="{FF2B5EF4-FFF2-40B4-BE49-F238E27FC236}">
                <a16:creationId xmlns:a16="http://schemas.microsoft.com/office/drawing/2014/main" id="{4E7A8CAA-014A-CE08-653C-D4F8F653C01D}"/>
              </a:ext>
            </a:extLst>
          </p:cNvPr>
          <p:cNvPicPr>
            <a:picLocks noChangeAspect="1"/>
          </p:cNvPicPr>
          <p:nvPr/>
        </p:nvPicPr>
        <p:blipFill>
          <a:blip r:embed="rId2"/>
          <a:stretch>
            <a:fillRect/>
          </a:stretch>
        </p:blipFill>
        <p:spPr>
          <a:xfrm>
            <a:off x="1999895" y="2464986"/>
            <a:ext cx="8192210" cy="1928027"/>
          </a:xfrm>
          <a:prstGeom prst="rect">
            <a:avLst/>
          </a:prstGeom>
        </p:spPr>
      </p:pic>
    </p:spTree>
    <p:extLst>
      <p:ext uri="{BB962C8B-B14F-4D97-AF65-F5344CB8AC3E}">
        <p14:creationId xmlns:p14="http://schemas.microsoft.com/office/powerpoint/2010/main" val="39077850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847D42-C78A-945F-68EC-A42AC1B632B0}"/>
              </a:ext>
            </a:extLst>
          </p:cNvPr>
          <p:cNvSpPr>
            <a:spLocks noGrp="1"/>
          </p:cNvSpPr>
          <p:nvPr>
            <p:ph idx="1"/>
          </p:nvPr>
        </p:nvSpPr>
        <p:spPr>
          <a:xfrm>
            <a:off x="1097280" y="410547"/>
            <a:ext cx="10058400" cy="5458547"/>
          </a:xfrm>
        </p:spPr>
        <p:txBody>
          <a:bodyPr>
            <a:normAutofit/>
          </a:bodyPr>
          <a:lstStyle/>
          <a:p>
            <a:r>
              <a:rPr lang="en-US" sz="2800" dirty="0"/>
              <a:t>We now see that the “Energy” feature gives more reduction which is 0.37 than the “Motivation” feature. </a:t>
            </a:r>
          </a:p>
          <a:p>
            <a:r>
              <a:rPr lang="en-US" sz="2800" dirty="0"/>
              <a:t>Hence we will select the feature which has the highest information gain and then split the node based on that feature.</a:t>
            </a:r>
            <a:endParaRPr lang="en-IN" sz="2800" dirty="0"/>
          </a:p>
        </p:txBody>
      </p:sp>
      <p:sp>
        <p:nvSpPr>
          <p:cNvPr id="4" name="Footer Placeholder 3">
            <a:extLst>
              <a:ext uri="{FF2B5EF4-FFF2-40B4-BE49-F238E27FC236}">
                <a16:creationId xmlns:a16="http://schemas.microsoft.com/office/drawing/2014/main" id="{D99DD7A7-07CA-A696-7F97-A1B0F274C893}"/>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DFBAB513-9A8D-4A2D-A630-F2B76F5E7145}"/>
              </a:ext>
            </a:extLst>
          </p:cNvPr>
          <p:cNvSpPr>
            <a:spLocks noGrp="1"/>
          </p:cNvSpPr>
          <p:nvPr>
            <p:ph type="sldNum" sz="quarter" idx="12"/>
          </p:nvPr>
        </p:nvSpPr>
        <p:spPr/>
        <p:txBody>
          <a:bodyPr/>
          <a:lstStyle/>
          <a:p>
            <a:fld id="{1E81A027-E3F7-4FC9-A752-E855AD4A687D}" type="slidenum">
              <a:rPr lang="en-IN" smtClean="0"/>
              <a:t>71</a:t>
            </a:fld>
            <a:endParaRPr lang="en-IN"/>
          </a:p>
        </p:txBody>
      </p:sp>
      <p:pic>
        <p:nvPicPr>
          <p:cNvPr id="7" name="Picture 6">
            <a:extLst>
              <a:ext uri="{FF2B5EF4-FFF2-40B4-BE49-F238E27FC236}">
                <a16:creationId xmlns:a16="http://schemas.microsoft.com/office/drawing/2014/main" id="{D222FFE1-AA9F-4749-08B3-C22D5B2B5C16}"/>
              </a:ext>
            </a:extLst>
          </p:cNvPr>
          <p:cNvPicPr>
            <a:picLocks noChangeAspect="1"/>
          </p:cNvPicPr>
          <p:nvPr/>
        </p:nvPicPr>
        <p:blipFill rotWithShape="1">
          <a:blip r:embed="rId2"/>
          <a:srcRect l="11368"/>
          <a:stretch/>
        </p:blipFill>
        <p:spPr>
          <a:xfrm>
            <a:off x="261257" y="2505914"/>
            <a:ext cx="5722776" cy="3475148"/>
          </a:xfrm>
          <a:prstGeom prst="rect">
            <a:avLst/>
          </a:prstGeom>
        </p:spPr>
      </p:pic>
      <p:sp>
        <p:nvSpPr>
          <p:cNvPr id="9" name="TextBox 8">
            <a:extLst>
              <a:ext uri="{FF2B5EF4-FFF2-40B4-BE49-F238E27FC236}">
                <a16:creationId xmlns:a16="http://schemas.microsoft.com/office/drawing/2014/main" id="{DDD64FDD-7F18-BA33-570C-DC5C4D95040A}"/>
              </a:ext>
            </a:extLst>
          </p:cNvPr>
          <p:cNvSpPr txBox="1"/>
          <p:nvPr/>
        </p:nvSpPr>
        <p:spPr>
          <a:xfrm>
            <a:off x="5894149" y="2447819"/>
            <a:ext cx="6097554" cy="3046988"/>
          </a:xfrm>
          <a:prstGeom prst="rect">
            <a:avLst/>
          </a:prstGeom>
          <a:noFill/>
        </p:spPr>
        <p:txBody>
          <a:bodyPr wrap="square">
            <a:spAutoFit/>
          </a:bodyPr>
          <a:lstStyle/>
          <a:p>
            <a:r>
              <a:rPr lang="en-US" sz="2400" b="0" i="0" dirty="0">
                <a:solidFill>
                  <a:srgbClr val="222222"/>
                </a:solidFill>
                <a:effectLst/>
              </a:rPr>
              <a:t>In this example “Energy” will be our root node and we’ll do the same for sub-nodes. </a:t>
            </a:r>
          </a:p>
          <a:p>
            <a:r>
              <a:rPr lang="en-US" sz="2400" b="0" i="0" dirty="0">
                <a:solidFill>
                  <a:srgbClr val="222222"/>
                </a:solidFill>
                <a:effectLst/>
              </a:rPr>
              <a:t>Here we can see that when the energy is “high” the entropy is low and hence we can say a person will definitely go to the gym if he has high energy, but what if the energy is low? </a:t>
            </a:r>
          </a:p>
          <a:p>
            <a:r>
              <a:rPr lang="en-US" sz="2400" b="0" i="0" dirty="0">
                <a:solidFill>
                  <a:srgbClr val="222222"/>
                </a:solidFill>
                <a:effectLst/>
              </a:rPr>
              <a:t>We will again split the node based on the new feature which is “Motivation”.</a:t>
            </a:r>
            <a:endParaRPr lang="en-IN" sz="2400" dirty="0"/>
          </a:p>
        </p:txBody>
      </p:sp>
    </p:spTree>
    <p:extLst>
      <p:ext uri="{BB962C8B-B14F-4D97-AF65-F5344CB8AC3E}">
        <p14:creationId xmlns:p14="http://schemas.microsoft.com/office/powerpoint/2010/main" val="29764498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F9067-3BA9-B3FD-00AE-D062C1824650}"/>
              </a:ext>
            </a:extLst>
          </p:cNvPr>
          <p:cNvSpPr>
            <a:spLocks noGrp="1"/>
          </p:cNvSpPr>
          <p:nvPr>
            <p:ph type="title"/>
          </p:nvPr>
        </p:nvSpPr>
        <p:spPr/>
        <p:txBody>
          <a:bodyPr/>
          <a:lstStyle/>
          <a:p>
            <a:r>
              <a:rPr lang="en-IN" dirty="0"/>
              <a:t>The decision tree representation</a:t>
            </a:r>
          </a:p>
        </p:txBody>
      </p:sp>
      <p:sp>
        <p:nvSpPr>
          <p:cNvPr id="3" name="Content Placeholder 2">
            <a:extLst>
              <a:ext uri="{FF2B5EF4-FFF2-40B4-BE49-F238E27FC236}">
                <a16:creationId xmlns:a16="http://schemas.microsoft.com/office/drawing/2014/main" id="{6BD78423-B469-983E-BAA2-719000949B1E}"/>
              </a:ext>
            </a:extLst>
          </p:cNvPr>
          <p:cNvSpPr>
            <a:spLocks noGrp="1"/>
          </p:cNvSpPr>
          <p:nvPr>
            <p:ph idx="1"/>
          </p:nvPr>
        </p:nvSpPr>
        <p:spPr/>
        <p:txBody>
          <a:bodyPr/>
          <a:lstStyle/>
          <a:p>
            <a:r>
              <a:rPr lang="en-US" dirty="0"/>
              <a:t>A decision tree represents a function that takes as input a vector of attribute values and returns a “decision”—a single output value.</a:t>
            </a:r>
          </a:p>
          <a:p>
            <a:r>
              <a:rPr lang="en-US" dirty="0"/>
              <a:t>The input and output values can be discrete or continuous</a:t>
            </a:r>
          </a:p>
          <a:p>
            <a:r>
              <a:rPr lang="en-US" dirty="0"/>
              <a:t>For now we will concentrate on problems where the inputs have discrete values and the output has exactly two possible values; </a:t>
            </a:r>
          </a:p>
          <a:p>
            <a:r>
              <a:rPr lang="en-US" dirty="0"/>
              <a:t>this is Boolean classification, where each POSITIVE example input will be classified as true (a positive example) or false (a negative example).</a:t>
            </a:r>
          </a:p>
          <a:p>
            <a:endParaRPr lang="en-IN" dirty="0"/>
          </a:p>
        </p:txBody>
      </p:sp>
      <p:sp>
        <p:nvSpPr>
          <p:cNvPr id="4" name="Footer Placeholder 3">
            <a:extLst>
              <a:ext uri="{FF2B5EF4-FFF2-40B4-BE49-F238E27FC236}">
                <a16:creationId xmlns:a16="http://schemas.microsoft.com/office/drawing/2014/main" id="{A1FC2288-D519-4697-0A07-660783FE7ADB}"/>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A8D607D5-29C9-13EF-0D59-34532B801AD9}"/>
              </a:ext>
            </a:extLst>
          </p:cNvPr>
          <p:cNvSpPr>
            <a:spLocks noGrp="1"/>
          </p:cNvSpPr>
          <p:nvPr>
            <p:ph type="sldNum" sz="quarter" idx="12"/>
          </p:nvPr>
        </p:nvSpPr>
        <p:spPr/>
        <p:txBody>
          <a:bodyPr/>
          <a:lstStyle/>
          <a:p>
            <a:fld id="{1E81A027-E3F7-4FC9-A752-E855AD4A687D}" type="slidenum">
              <a:rPr lang="en-IN" smtClean="0"/>
              <a:t>72</a:t>
            </a:fld>
            <a:endParaRPr lang="en-IN"/>
          </a:p>
        </p:txBody>
      </p:sp>
    </p:spTree>
    <p:extLst>
      <p:ext uri="{BB962C8B-B14F-4D97-AF65-F5344CB8AC3E}">
        <p14:creationId xmlns:p14="http://schemas.microsoft.com/office/powerpoint/2010/main" val="22484099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D018835-B471-A7B6-13DE-D24CB582E83A}"/>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9EAABF3B-6095-7590-6BF1-161A6F19AFF7}"/>
              </a:ext>
            </a:extLst>
          </p:cNvPr>
          <p:cNvSpPr>
            <a:spLocks noGrp="1"/>
          </p:cNvSpPr>
          <p:nvPr>
            <p:ph type="sldNum" sz="quarter" idx="12"/>
          </p:nvPr>
        </p:nvSpPr>
        <p:spPr/>
        <p:txBody>
          <a:bodyPr/>
          <a:lstStyle/>
          <a:p>
            <a:fld id="{1E81A027-E3F7-4FC9-A752-E855AD4A687D}" type="slidenum">
              <a:rPr lang="en-IN" smtClean="0"/>
              <a:t>73</a:t>
            </a:fld>
            <a:endParaRPr lang="en-IN"/>
          </a:p>
        </p:txBody>
      </p:sp>
      <p:sp>
        <p:nvSpPr>
          <p:cNvPr id="3" name="Content Placeholder 2">
            <a:extLst>
              <a:ext uri="{FF2B5EF4-FFF2-40B4-BE49-F238E27FC236}">
                <a16:creationId xmlns:a16="http://schemas.microsoft.com/office/drawing/2014/main" id="{66024661-3BC0-AFF3-77DD-B05AD281EA30}"/>
              </a:ext>
            </a:extLst>
          </p:cNvPr>
          <p:cNvSpPr>
            <a:spLocks noGrp="1"/>
          </p:cNvSpPr>
          <p:nvPr>
            <p:ph idx="4294967295"/>
          </p:nvPr>
        </p:nvSpPr>
        <p:spPr>
          <a:xfrm>
            <a:off x="494522" y="130175"/>
            <a:ext cx="7212564" cy="5738813"/>
          </a:xfrm>
        </p:spPr>
        <p:txBody>
          <a:bodyPr>
            <a:normAutofit/>
          </a:bodyPr>
          <a:lstStyle/>
          <a:p>
            <a:r>
              <a:rPr lang="en-US" sz="2800" dirty="0"/>
              <a:t>A decision tree reaches its decision by performing a sequence of tests.</a:t>
            </a:r>
          </a:p>
          <a:p>
            <a:r>
              <a:rPr lang="en-US" sz="2800" dirty="0"/>
              <a:t>Each internal node in the tree corresponds to a test of the value of one of the input attributes, Ai, and the branches from the node are labeled with the possible values of the attribute, Ai = </a:t>
            </a:r>
            <a:r>
              <a:rPr lang="en-US" sz="2800" dirty="0" err="1"/>
              <a:t>vik</a:t>
            </a:r>
            <a:r>
              <a:rPr lang="en-US" sz="2800" dirty="0"/>
              <a:t>. </a:t>
            </a:r>
          </a:p>
          <a:p>
            <a:r>
              <a:rPr lang="en-US" sz="2800" dirty="0"/>
              <a:t>Each leaf node in the tree specifies a value to be returned by the function. </a:t>
            </a:r>
          </a:p>
          <a:p>
            <a:r>
              <a:rPr lang="en-US" sz="2800" dirty="0"/>
              <a:t>The decision tree representation is natural for humans; indeed, many “How To” manuals (e.g., for car repair) are written entirely as a single decision tree stretching over hundreds of pages</a:t>
            </a:r>
            <a:endParaRPr lang="en-IN" sz="2800" dirty="0"/>
          </a:p>
        </p:txBody>
      </p:sp>
      <p:pic>
        <p:nvPicPr>
          <p:cNvPr id="1026" name="Picture 2" descr="Premium Vector | User manual with magnifying glass. user guide document and  magnifier. handbook, handbook, instruction and guidebook vector icon">
            <a:extLst>
              <a:ext uri="{FF2B5EF4-FFF2-40B4-BE49-F238E27FC236}">
                <a16:creationId xmlns:a16="http://schemas.microsoft.com/office/drawing/2014/main" id="{7F1D95F6-7D2D-9112-2E2A-B27C257DB3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6905" y="1190086"/>
            <a:ext cx="3115732" cy="3075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70809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E9FBD8-D939-0CC8-A358-BD1E026F9143}"/>
              </a:ext>
            </a:extLst>
          </p:cNvPr>
          <p:cNvSpPr>
            <a:spLocks noGrp="1"/>
          </p:cNvSpPr>
          <p:nvPr>
            <p:ph type="title"/>
          </p:nvPr>
        </p:nvSpPr>
        <p:spPr/>
        <p:txBody>
          <a:bodyPr/>
          <a:lstStyle/>
          <a:p>
            <a:r>
              <a:rPr lang="en-IN" dirty="0"/>
              <a:t>Example</a:t>
            </a:r>
          </a:p>
        </p:txBody>
      </p:sp>
      <p:sp>
        <p:nvSpPr>
          <p:cNvPr id="5" name="Content Placeholder 4">
            <a:extLst>
              <a:ext uri="{FF2B5EF4-FFF2-40B4-BE49-F238E27FC236}">
                <a16:creationId xmlns:a16="http://schemas.microsoft.com/office/drawing/2014/main" id="{FB7DF70F-DF87-CCF8-F770-D8DA998C06FE}"/>
              </a:ext>
            </a:extLst>
          </p:cNvPr>
          <p:cNvSpPr>
            <a:spLocks noGrp="1"/>
          </p:cNvSpPr>
          <p:nvPr>
            <p:ph idx="1"/>
          </p:nvPr>
        </p:nvSpPr>
        <p:spPr/>
        <p:txBody>
          <a:bodyPr>
            <a:normAutofit/>
          </a:bodyPr>
          <a:lstStyle/>
          <a:p>
            <a:r>
              <a:rPr lang="en-US" sz="2800" dirty="0"/>
              <a:t>we will build a decision tree to decide whether to wait for a table at a </a:t>
            </a:r>
            <a:r>
              <a:rPr lang="en-US" sz="2800" dirty="0">
                <a:solidFill>
                  <a:srgbClr val="FF0000"/>
                </a:solidFill>
              </a:rPr>
              <a:t>GOAL PREDICATE restaurant</a:t>
            </a:r>
            <a:r>
              <a:rPr lang="en-US" sz="2800" dirty="0"/>
              <a:t>. </a:t>
            </a:r>
          </a:p>
          <a:p>
            <a:r>
              <a:rPr lang="en-US" sz="2800" dirty="0"/>
              <a:t>The aim here is to learn a definition for the goal predicate </a:t>
            </a:r>
            <a:r>
              <a:rPr lang="en-US" sz="2800" dirty="0" err="1">
                <a:solidFill>
                  <a:srgbClr val="FF0000"/>
                </a:solidFill>
              </a:rPr>
              <a:t>WillWait</a:t>
            </a:r>
            <a:r>
              <a:rPr lang="en-US" sz="2800" dirty="0"/>
              <a:t>.</a:t>
            </a:r>
          </a:p>
          <a:p>
            <a:r>
              <a:rPr lang="en-US" sz="2800" dirty="0"/>
              <a:t> First we list the attributes that we will consider as part of the input:</a:t>
            </a:r>
            <a:endParaRPr lang="en-IN" sz="2800" dirty="0"/>
          </a:p>
        </p:txBody>
      </p:sp>
      <p:sp>
        <p:nvSpPr>
          <p:cNvPr id="2" name="Footer Placeholder 1">
            <a:extLst>
              <a:ext uri="{FF2B5EF4-FFF2-40B4-BE49-F238E27FC236}">
                <a16:creationId xmlns:a16="http://schemas.microsoft.com/office/drawing/2014/main" id="{A7587209-9F67-0F8C-C8D8-1D8E08E16775}"/>
              </a:ext>
            </a:extLst>
          </p:cNvPr>
          <p:cNvSpPr>
            <a:spLocks noGrp="1"/>
          </p:cNvSpPr>
          <p:nvPr>
            <p:ph type="ftr" sz="quarter" idx="11"/>
          </p:nvPr>
        </p:nvSpPr>
        <p:spPr/>
        <p:txBody>
          <a:bodyPr/>
          <a:lstStyle/>
          <a:p>
            <a:r>
              <a:rPr lang="en-IN"/>
              <a:t>DEPARTMENT OF CSE SNGCE</a:t>
            </a:r>
          </a:p>
        </p:txBody>
      </p:sp>
      <p:sp>
        <p:nvSpPr>
          <p:cNvPr id="3" name="Slide Number Placeholder 2">
            <a:extLst>
              <a:ext uri="{FF2B5EF4-FFF2-40B4-BE49-F238E27FC236}">
                <a16:creationId xmlns:a16="http://schemas.microsoft.com/office/drawing/2014/main" id="{3C64A433-1571-7245-5A33-D731E94D3499}"/>
              </a:ext>
            </a:extLst>
          </p:cNvPr>
          <p:cNvSpPr>
            <a:spLocks noGrp="1"/>
          </p:cNvSpPr>
          <p:nvPr>
            <p:ph type="sldNum" sz="quarter" idx="12"/>
          </p:nvPr>
        </p:nvSpPr>
        <p:spPr/>
        <p:txBody>
          <a:bodyPr/>
          <a:lstStyle/>
          <a:p>
            <a:fld id="{1E81A027-E3F7-4FC9-A752-E855AD4A687D}" type="slidenum">
              <a:rPr lang="en-IN" smtClean="0"/>
              <a:t>74</a:t>
            </a:fld>
            <a:endParaRPr lang="en-IN"/>
          </a:p>
        </p:txBody>
      </p:sp>
      <p:pic>
        <p:nvPicPr>
          <p:cNvPr id="7" name="Picture 6">
            <a:extLst>
              <a:ext uri="{FF2B5EF4-FFF2-40B4-BE49-F238E27FC236}">
                <a16:creationId xmlns:a16="http://schemas.microsoft.com/office/drawing/2014/main" id="{F5563B37-EF6C-79AC-DABA-973726566669}"/>
              </a:ext>
            </a:extLst>
          </p:cNvPr>
          <p:cNvPicPr>
            <a:picLocks noChangeAspect="1"/>
          </p:cNvPicPr>
          <p:nvPr/>
        </p:nvPicPr>
        <p:blipFill>
          <a:blip r:embed="rId2"/>
          <a:stretch>
            <a:fillRect/>
          </a:stretch>
        </p:blipFill>
        <p:spPr>
          <a:xfrm>
            <a:off x="1784441" y="3794125"/>
            <a:ext cx="7994666" cy="3030785"/>
          </a:xfrm>
          <a:prstGeom prst="rect">
            <a:avLst/>
          </a:prstGeom>
        </p:spPr>
      </p:pic>
    </p:spTree>
    <p:extLst>
      <p:ext uri="{BB962C8B-B14F-4D97-AF65-F5344CB8AC3E}">
        <p14:creationId xmlns:p14="http://schemas.microsoft.com/office/powerpoint/2010/main" val="24033498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C2255-0225-C612-4539-F00F1EC8120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CA5F097-0B73-B90E-34D8-3C38C8350D9B}"/>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2D990C7E-0726-4B50-5DE0-06B2A7C68BAD}"/>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A1C1F28D-E23B-C675-ABD3-7002C5942C1D}"/>
              </a:ext>
            </a:extLst>
          </p:cNvPr>
          <p:cNvSpPr>
            <a:spLocks noGrp="1"/>
          </p:cNvSpPr>
          <p:nvPr>
            <p:ph type="sldNum" sz="quarter" idx="12"/>
          </p:nvPr>
        </p:nvSpPr>
        <p:spPr/>
        <p:txBody>
          <a:bodyPr/>
          <a:lstStyle/>
          <a:p>
            <a:fld id="{1E81A027-E3F7-4FC9-A752-E855AD4A687D}" type="slidenum">
              <a:rPr lang="en-IN" smtClean="0"/>
              <a:t>75</a:t>
            </a:fld>
            <a:endParaRPr lang="en-IN"/>
          </a:p>
        </p:txBody>
      </p:sp>
      <p:pic>
        <p:nvPicPr>
          <p:cNvPr id="7" name="Picture 6">
            <a:extLst>
              <a:ext uri="{FF2B5EF4-FFF2-40B4-BE49-F238E27FC236}">
                <a16:creationId xmlns:a16="http://schemas.microsoft.com/office/drawing/2014/main" id="{864DC688-595B-2A8B-001D-E60D19DC82BB}"/>
              </a:ext>
            </a:extLst>
          </p:cNvPr>
          <p:cNvPicPr>
            <a:picLocks noChangeAspect="1"/>
          </p:cNvPicPr>
          <p:nvPr/>
        </p:nvPicPr>
        <p:blipFill>
          <a:blip r:embed="rId2"/>
          <a:stretch>
            <a:fillRect/>
          </a:stretch>
        </p:blipFill>
        <p:spPr>
          <a:xfrm>
            <a:off x="0" y="110490"/>
            <a:ext cx="11094720" cy="6637020"/>
          </a:xfrm>
          <a:prstGeom prst="rect">
            <a:avLst/>
          </a:prstGeom>
        </p:spPr>
      </p:pic>
    </p:spTree>
    <p:extLst>
      <p:ext uri="{BB962C8B-B14F-4D97-AF65-F5344CB8AC3E}">
        <p14:creationId xmlns:p14="http://schemas.microsoft.com/office/powerpoint/2010/main" val="10857683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80CE47C-CFE3-9523-30BA-36393054B337}"/>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3013780A-88B2-B2A3-2689-BCBAA5A5BBBE}"/>
              </a:ext>
            </a:extLst>
          </p:cNvPr>
          <p:cNvSpPr>
            <a:spLocks noGrp="1"/>
          </p:cNvSpPr>
          <p:nvPr>
            <p:ph type="sldNum" sz="quarter" idx="12"/>
          </p:nvPr>
        </p:nvSpPr>
        <p:spPr/>
        <p:txBody>
          <a:bodyPr/>
          <a:lstStyle/>
          <a:p>
            <a:fld id="{1E81A027-E3F7-4FC9-A752-E855AD4A687D}" type="slidenum">
              <a:rPr lang="en-IN" smtClean="0"/>
              <a:t>76</a:t>
            </a:fld>
            <a:endParaRPr lang="en-IN"/>
          </a:p>
        </p:txBody>
      </p:sp>
      <p:sp>
        <p:nvSpPr>
          <p:cNvPr id="3" name="Content Placeholder 2">
            <a:extLst>
              <a:ext uri="{FF2B5EF4-FFF2-40B4-BE49-F238E27FC236}">
                <a16:creationId xmlns:a16="http://schemas.microsoft.com/office/drawing/2014/main" id="{3D93A69F-8B58-57CB-1B89-69F77BF522BA}"/>
              </a:ext>
            </a:extLst>
          </p:cNvPr>
          <p:cNvSpPr>
            <a:spLocks noGrp="1"/>
          </p:cNvSpPr>
          <p:nvPr>
            <p:ph idx="4294967295"/>
          </p:nvPr>
        </p:nvSpPr>
        <p:spPr>
          <a:xfrm>
            <a:off x="643812" y="429209"/>
            <a:ext cx="11548188" cy="5439780"/>
          </a:xfrm>
        </p:spPr>
        <p:txBody>
          <a:bodyPr>
            <a:normAutofit/>
          </a:bodyPr>
          <a:lstStyle/>
          <a:p>
            <a:r>
              <a:rPr lang="en-US" sz="2800" dirty="0"/>
              <a:t>Note that every variable has a small set of possible values; </a:t>
            </a:r>
          </a:p>
          <a:p>
            <a:r>
              <a:rPr lang="en-US" sz="2800" dirty="0"/>
              <a:t>the value of </a:t>
            </a:r>
            <a:r>
              <a:rPr lang="en-US" sz="2800" dirty="0" err="1"/>
              <a:t>WaitEstimate</a:t>
            </a:r>
            <a:r>
              <a:rPr lang="en-US" sz="2800" dirty="0"/>
              <a:t>, for example, is not an integer, rather it is one of the four discrete values 0–10, 10–30, 30–60, or &gt;60. </a:t>
            </a:r>
          </a:p>
          <a:p>
            <a:r>
              <a:rPr lang="en-US" sz="2800" dirty="0"/>
              <a:t>Notice that the tree ignores the Price and Type attributes. </a:t>
            </a:r>
          </a:p>
          <a:p>
            <a:r>
              <a:rPr lang="en-US" sz="2800" dirty="0"/>
              <a:t>Examples are processed by the tree starting at the root and following the appropriate branch until a leaf is reached. </a:t>
            </a:r>
          </a:p>
          <a:p>
            <a:r>
              <a:rPr lang="en-US" sz="2800" dirty="0"/>
              <a:t>For instance, an example with Patrons = Full and </a:t>
            </a:r>
            <a:r>
              <a:rPr lang="en-US" sz="2800" dirty="0" err="1"/>
              <a:t>WaitEstimate</a:t>
            </a:r>
            <a:r>
              <a:rPr lang="en-US" sz="2800" dirty="0"/>
              <a:t> = 0–10 will be classified as positive (i.e., yes, we will wait for a table).</a:t>
            </a:r>
            <a:endParaRPr lang="en-IN" sz="2800" dirty="0"/>
          </a:p>
        </p:txBody>
      </p:sp>
    </p:spTree>
    <p:extLst>
      <p:ext uri="{BB962C8B-B14F-4D97-AF65-F5344CB8AC3E}">
        <p14:creationId xmlns:p14="http://schemas.microsoft.com/office/powerpoint/2010/main" val="383941799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D12E3-5D6F-A606-5FD9-B0498025F7D2}"/>
              </a:ext>
            </a:extLst>
          </p:cNvPr>
          <p:cNvSpPr>
            <a:spLocks noGrp="1"/>
          </p:cNvSpPr>
          <p:nvPr>
            <p:ph type="title"/>
          </p:nvPr>
        </p:nvSpPr>
        <p:spPr/>
        <p:txBody>
          <a:bodyPr/>
          <a:lstStyle/>
          <a:p>
            <a:r>
              <a:rPr lang="en-IN" dirty="0"/>
              <a:t>Expressiveness of decision trees</a:t>
            </a:r>
          </a:p>
        </p:txBody>
      </p:sp>
      <p:sp>
        <p:nvSpPr>
          <p:cNvPr id="3" name="Content Placeholder 2">
            <a:extLst>
              <a:ext uri="{FF2B5EF4-FFF2-40B4-BE49-F238E27FC236}">
                <a16:creationId xmlns:a16="http://schemas.microsoft.com/office/drawing/2014/main" id="{4A2AFEE1-39C6-EB08-13A0-A7F0157598D8}"/>
              </a:ext>
            </a:extLst>
          </p:cNvPr>
          <p:cNvSpPr>
            <a:spLocks noGrp="1"/>
          </p:cNvSpPr>
          <p:nvPr>
            <p:ph idx="1"/>
          </p:nvPr>
        </p:nvSpPr>
        <p:spPr/>
        <p:txBody>
          <a:bodyPr>
            <a:normAutofit fontScale="92500"/>
          </a:bodyPr>
          <a:lstStyle/>
          <a:p>
            <a:r>
              <a:rPr lang="en-US" sz="2400" dirty="0"/>
              <a:t>A Boolean decision tree is logically equivalent to the assertion that the goal attribute is true if and only if the input attributes satisfy one of the paths leading to a leaf with value true. </a:t>
            </a:r>
          </a:p>
          <a:p>
            <a:r>
              <a:rPr lang="en-US" sz="2400" dirty="0"/>
              <a:t>Writing this out in propositional logic, we have Goal ⇔ (Path1 ∨ Path2 ∨···) , </a:t>
            </a:r>
          </a:p>
          <a:p>
            <a:r>
              <a:rPr lang="en-US" sz="2400" dirty="0"/>
              <a:t>where each Path is a conjunction of attribute-value tests required to follow that path.</a:t>
            </a:r>
          </a:p>
          <a:p>
            <a:r>
              <a:rPr lang="en-US" sz="2400" dirty="0"/>
              <a:t>Thus, the whole expression is equivalent to disjunctive normal form, </a:t>
            </a:r>
            <a:r>
              <a:rPr lang="en-IN" sz="2400" dirty="0"/>
              <a:t>which means</a:t>
            </a:r>
            <a:r>
              <a:rPr lang="en-US" sz="2400" dirty="0"/>
              <a:t> that any function in propositional logic can be expressed as a decision tree.</a:t>
            </a:r>
          </a:p>
          <a:p>
            <a:r>
              <a:rPr lang="en-US" sz="2400" dirty="0"/>
              <a:t>As an example, the rightmost path in Figure is </a:t>
            </a:r>
          </a:p>
          <a:p>
            <a:pPr lvl="1"/>
            <a:r>
              <a:rPr lang="en-US" sz="2600" dirty="0"/>
              <a:t>Path = (Patrons = Full ∧ </a:t>
            </a:r>
            <a:r>
              <a:rPr lang="en-US" sz="2600" dirty="0" err="1"/>
              <a:t>WaitEstimate</a:t>
            </a:r>
            <a:r>
              <a:rPr lang="en-US" sz="2600" dirty="0"/>
              <a:t> = 0–10) .</a:t>
            </a:r>
            <a:endParaRPr lang="en-IN" sz="2600" dirty="0"/>
          </a:p>
        </p:txBody>
      </p:sp>
      <p:sp>
        <p:nvSpPr>
          <p:cNvPr id="4" name="Footer Placeholder 3">
            <a:extLst>
              <a:ext uri="{FF2B5EF4-FFF2-40B4-BE49-F238E27FC236}">
                <a16:creationId xmlns:a16="http://schemas.microsoft.com/office/drawing/2014/main" id="{5B1E7AF6-6208-FF58-8176-CDE0E283B859}"/>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4A705E6D-114D-3449-FF0A-7833A8D94A56}"/>
              </a:ext>
            </a:extLst>
          </p:cNvPr>
          <p:cNvSpPr>
            <a:spLocks noGrp="1"/>
          </p:cNvSpPr>
          <p:nvPr>
            <p:ph type="sldNum" sz="quarter" idx="12"/>
          </p:nvPr>
        </p:nvSpPr>
        <p:spPr/>
        <p:txBody>
          <a:bodyPr/>
          <a:lstStyle/>
          <a:p>
            <a:fld id="{1E81A027-E3F7-4FC9-A752-E855AD4A687D}" type="slidenum">
              <a:rPr lang="en-IN" smtClean="0"/>
              <a:t>77</a:t>
            </a:fld>
            <a:endParaRPr lang="en-IN"/>
          </a:p>
        </p:txBody>
      </p:sp>
    </p:spTree>
    <p:extLst>
      <p:ext uri="{BB962C8B-B14F-4D97-AF65-F5344CB8AC3E}">
        <p14:creationId xmlns:p14="http://schemas.microsoft.com/office/powerpoint/2010/main" val="34865490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AA71E-84F5-5714-32C5-100B601D4DF1}"/>
              </a:ext>
            </a:extLst>
          </p:cNvPr>
          <p:cNvSpPr>
            <a:spLocks noGrp="1"/>
          </p:cNvSpPr>
          <p:nvPr>
            <p:ph type="title"/>
          </p:nvPr>
        </p:nvSpPr>
        <p:spPr/>
        <p:txBody>
          <a:bodyPr/>
          <a:lstStyle/>
          <a:p>
            <a:r>
              <a:rPr lang="en-US" dirty="0"/>
              <a:t>Inducing decision trees from examples</a:t>
            </a:r>
            <a:endParaRPr lang="en-IN" dirty="0"/>
          </a:p>
        </p:txBody>
      </p:sp>
      <p:sp>
        <p:nvSpPr>
          <p:cNvPr id="3" name="Content Placeholder 2">
            <a:extLst>
              <a:ext uri="{FF2B5EF4-FFF2-40B4-BE49-F238E27FC236}">
                <a16:creationId xmlns:a16="http://schemas.microsoft.com/office/drawing/2014/main" id="{6FE6DDAA-027C-5363-0A18-DE24C5A3058D}"/>
              </a:ext>
            </a:extLst>
          </p:cNvPr>
          <p:cNvSpPr>
            <a:spLocks noGrp="1"/>
          </p:cNvSpPr>
          <p:nvPr>
            <p:ph idx="1"/>
          </p:nvPr>
        </p:nvSpPr>
        <p:spPr/>
        <p:txBody>
          <a:bodyPr/>
          <a:lstStyle/>
          <a:p>
            <a:r>
              <a:rPr lang="en-US" dirty="0"/>
              <a:t>An example for a Boolean decision tree consists of an (x, y) pair, where x is a vector of values for the input attributes, and y is a single Boolean output value.</a:t>
            </a:r>
          </a:p>
          <a:p>
            <a:r>
              <a:rPr lang="en-US" dirty="0"/>
              <a:t>The positive examples are the ones in which the goal </a:t>
            </a:r>
            <a:r>
              <a:rPr lang="en-US" dirty="0" err="1"/>
              <a:t>WillWait</a:t>
            </a:r>
            <a:r>
              <a:rPr lang="en-US" dirty="0"/>
              <a:t> is true (x1, x3,...); the negative examples are the ones in which it is false (x2, x5,...).</a:t>
            </a:r>
          </a:p>
          <a:p>
            <a:r>
              <a:rPr lang="en-US" dirty="0"/>
              <a:t> </a:t>
            </a:r>
            <a:endParaRPr lang="en-IN" dirty="0"/>
          </a:p>
        </p:txBody>
      </p:sp>
      <p:sp>
        <p:nvSpPr>
          <p:cNvPr id="4" name="Footer Placeholder 3">
            <a:extLst>
              <a:ext uri="{FF2B5EF4-FFF2-40B4-BE49-F238E27FC236}">
                <a16:creationId xmlns:a16="http://schemas.microsoft.com/office/drawing/2014/main" id="{3A239375-2DD5-16BD-DB92-EDB7D7EFBD58}"/>
              </a:ext>
            </a:extLst>
          </p:cNvPr>
          <p:cNvSpPr>
            <a:spLocks noGrp="1"/>
          </p:cNvSpPr>
          <p:nvPr>
            <p:ph type="ftr" sz="quarter" idx="11"/>
          </p:nvPr>
        </p:nvSpPr>
        <p:spPr/>
        <p:txBody>
          <a:bodyPr/>
          <a:lstStyle/>
          <a:p>
            <a:r>
              <a:rPr lang="en-IN" dirty="0"/>
              <a:t>DEPARTMENT OF CSE SNGCE</a:t>
            </a:r>
          </a:p>
        </p:txBody>
      </p:sp>
      <p:sp>
        <p:nvSpPr>
          <p:cNvPr id="5" name="Slide Number Placeholder 4">
            <a:extLst>
              <a:ext uri="{FF2B5EF4-FFF2-40B4-BE49-F238E27FC236}">
                <a16:creationId xmlns:a16="http://schemas.microsoft.com/office/drawing/2014/main" id="{C5932B9A-425D-CBA8-47E6-7FE21F7D6878}"/>
              </a:ext>
            </a:extLst>
          </p:cNvPr>
          <p:cNvSpPr>
            <a:spLocks noGrp="1"/>
          </p:cNvSpPr>
          <p:nvPr>
            <p:ph type="sldNum" sz="quarter" idx="12"/>
          </p:nvPr>
        </p:nvSpPr>
        <p:spPr/>
        <p:txBody>
          <a:bodyPr/>
          <a:lstStyle/>
          <a:p>
            <a:fld id="{1E81A027-E3F7-4FC9-A752-E855AD4A687D}" type="slidenum">
              <a:rPr lang="en-IN" smtClean="0"/>
              <a:t>78</a:t>
            </a:fld>
            <a:endParaRPr lang="en-IN"/>
          </a:p>
        </p:txBody>
      </p:sp>
    </p:spTree>
    <p:extLst>
      <p:ext uri="{BB962C8B-B14F-4D97-AF65-F5344CB8AC3E}">
        <p14:creationId xmlns:p14="http://schemas.microsoft.com/office/powerpoint/2010/main" val="27006527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89D057-C992-B031-6D10-5C00A8259D70}"/>
              </a:ext>
            </a:extLst>
          </p:cNvPr>
          <p:cNvSpPr>
            <a:spLocks noGrp="1"/>
          </p:cNvSpPr>
          <p:nvPr>
            <p:ph idx="1"/>
          </p:nvPr>
        </p:nvSpPr>
        <p:spPr>
          <a:xfrm>
            <a:off x="1097280" y="121298"/>
            <a:ext cx="10058400" cy="5747796"/>
          </a:xfrm>
        </p:spPr>
        <p:txBody>
          <a:bodyPr>
            <a:normAutofit/>
          </a:bodyPr>
          <a:lstStyle/>
          <a:p>
            <a:r>
              <a:rPr lang="en-US" sz="2800" dirty="0"/>
              <a:t>A training set of 12 examples is shown below</a:t>
            </a:r>
            <a:endParaRPr lang="en-IN" sz="2800" dirty="0"/>
          </a:p>
        </p:txBody>
      </p:sp>
      <p:sp>
        <p:nvSpPr>
          <p:cNvPr id="4" name="Footer Placeholder 3">
            <a:extLst>
              <a:ext uri="{FF2B5EF4-FFF2-40B4-BE49-F238E27FC236}">
                <a16:creationId xmlns:a16="http://schemas.microsoft.com/office/drawing/2014/main" id="{D879595F-382E-826E-629D-0F9FA24B81F7}"/>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F19D46FA-7B6A-6187-EF14-BA4EBB28B7EB}"/>
              </a:ext>
            </a:extLst>
          </p:cNvPr>
          <p:cNvSpPr>
            <a:spLocks noGrp="1"/>
          </p:cNvSpPr>
          <p:nvPr>
            <p:ph type="sldNum" sz="quarter" idx="12"/>
          </p:nvPr>
        </p:nvSpPr>
        <p:spPr/>
        <p:txBody>
          <a:bodyPr/>
          <a:lstStyle/>
          <a:p>
            <a:fld id="{1E81A027-E3F7-4FC9-A752-E855AD4A687D}" type="slidenum">
              <a:rPr lang="en-IN" smtClean="0"/>
              <a:t>79</a:t>
            </a:fld>
            <a:endParaRPr lang="en-IN"/>
          </a:p>
        </p:txBody>
      </p:sp>
      <p:pic>
        <p:nvPicPr>
          <p:cNvPr id="6" name="Picture 5">
            <a:extLst>
              <a:ext uri="{FF2B5EF4-FFF2-40B4-BE49-F238E27FC236}">
                <a16:creationId xmlns:a16="http://schemas.microsoft.com/office/drawing/2014/main" id="{14D20DA4-8D56-FC3C-04F2-065C8F5EF7E1}"/>
              </a:ext>
            </a:extLst>
          </p:cNvPr>
          <p:cNvPicPr>
            <a:picLocks noChangeAspect="1"/>
          </p:cNvPicPr>
          <p:nvPr/>
        </p:nvPicPr>
        <p:blipFill>
          <a:blip r:embed="rId2"/>
          <a:stretch>
            <a:fillRect/>
          </a:stretch>
        </p:blipFill>
        <p:spPr>
          <a:xfrm>
            <a:off x="476017" y="566660"/>
            <a:ext cx="10080453" cy="5302434"/>
          </a:xfrm>
          <a:prstGeom prst="rect">
            <a:avLst/>
          </a:prstGeom>
        </p:spPr>
      </p:pic>
    </p:spTree>
    <p:extLst>
      <p:ext uri="{BB962C8B-B14F-4D97-AF65-F5344CB8AC3E}">
        <p14:creationId xmlns:p14="http://schemas.microsoft.com/office/powerpoint/2010/main" val="29240598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EA19E-8E51-049B-126F-594BC611D4A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5AB225A-DC0C-68C8-0B9D-DEE1D2319F70}"/>
              </a:ext>
            </a:extLst>
          </p:cNvPr>
          <p:cNvSpPr>
            <a:spLocks noGrp="1"/>
          </p:cNvSpPr>
          <p:nvPr>
            <p:ph idx="1"/>
          </p:nvPr>
        </p:nvSpPr>
        <p:spPr/>
        <p:txBody>
          <a:bodyPr>
            <a:normAutofit fontScale="92500" lnSpcReduction="20000"/>
          </a:bodyPr>
          <a:lstStyle/>
          <a:p>
            <a:r>
              <a:rPr lang="en-US" sz="2800" dirty="0"/>
              <a:t>We want a tree that is consistent with the examples and is as small as possible. </a:t>
            </a:r>
          </a:p>
          <a:p>
            <a:r>
              <a:rPr lang="en-US" sz="2800" dirty="0"/>
              <a:t>Unfortunately, no matter how we measure size, it is an intractable problem to find the smallest consistent tree; there is no way to efficiently search through the 2</a:t>
            </a:r>
            <a:r>
              <a:rPr lang="en-US" sz="2800" baseline="30000" dirty="0"/>
              <a:t>2</a:t>
            </a:r>
            <a:r>
              <a:rPr lang="en-US" sz="2800" baseline="60000" dirty="0"/>
              <a:t>n </a:t>
            </a:r>
            <a:r>
              <a:rPr lang="en-US" sz="2800" dirty="0"/>
              <a:t>trees. </a:t>
            </a:r>
          </a:p>
          <a:p>
            <a:r>
              <a:rPr lang="en-US" sz="2800" dirty="0"/>
              <a:t>With some simple heuristics, however, we can find a good approximate solution: a small (but not smallest) consistent tree. </a:t>
            </a:r>
          </a:p>
          <a:p>
            <a:r>
              <a:rPr lang="en-US" sz="2800" dirty="0"/>
              <a:t>The DECISION-TREE-LEARNING algorithm adopts a greedy divide-and-conquer strategy: always test the most important attribute first.</a:t>
            </a:r>
          </a:p>
          <a:p>
            <a:r>
              <a:rPr lang="en-US" sz="2400" dirty="0"/>
              <a:t>This test divides the problem up into smaller subproblems that can then be solved recursively</a:t>
            </a:r>
            <a:endParaRPr lang="en-IN" sz="2800" dirty="0"/>
          </a:p>
        </p:txBody>
      </p:sp>
      <p:sp>
        <p:nvSpPr>
          <p:cNvPr id="4" name="Footer Placeholder 3">
            <a:extLst>
              <a:ext uri="{FF2B5EF4-FFF2-40B4-BE49-F238E27FC236}">
                <a16:creationId xmlns:a16="http://schemas.microsoft.com/office/drawing/2014/main" id="{20B190A1-A054-933E-9405-E53AC0738D34}"/>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56423091-0D3D-3F55-C13F-5BDD71A5ADB8}"/>
              </a:ext>
            </a:extLst>
          </p:cNvPr>
          <p:cNvSpPr>
            <a:spLocks noGrp="1"/>
          </p:cNvSpPr>
          <p:nvPr>
            <p:ph type="sldNum" sz="quarter" idx="12"/>
          </p:nvPr>
        </p:nvSpPr>
        <p:spPr/>
        <p:txBody>
          <a:bodyPr/>
          <a:lstStyle/>
          <a:p>
            <a:fld id="{1E81A027-E3F7-4FC9-A752-E855AD4A687D}" type="slidenum">
              <a:rPr lang="en-IN" smtClean="0"/>
              <a:t>80</a:t>
            </a:fld>
            <a:endParaRPr lang="en-IN"/>
          </a:p>
        </p:txBody>
      </p:sp>
    </p:spTree>
    <p:extLst>
      <p:ext uri="{BB962C8B-B14F-4D97-AF65-F5344CB8AC3E}">
        <p14:creationId xmlns:p14="http://schemas.microsoft.com/office/powerpoint/2010/main" val="235645786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E3568-6AB4-234A-1430-A3F07FB2F9B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A15B266-1636-1EF3-E5C3-E36D1AF4A575}"/>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D8E918C1-80E4-CEEE-4D6B-51B09B8A5D29}"/>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98F7BF3D-AE5F-DEA5-5330-95357DB430B3}"/>
              </a:ext>
            </a:extLst>
          </p:cNvPr>
          <p:cNvSpPr>
            <a:spLocks noGrp="1"/>
          </p:cNvSpPr>
          <p:nvPr>
            <p:ph type="sldNum" sz="quarter" idx="12"/>
          </p:nvPr>
        </p:nvSpPr>
        <p:spPr/>
        <p:txBody>
          <a:bodyPr/>
          <a:lstStyle/>
          <a:p>
            <a:fld id="{1E81A027-E3F7-4FC9-A752-E855AD4A687D}" type="slidenum">
              <a:rPr lang="en-IN" smtClean="0"/>
              <a:t>81</a:t>
            </a:fld>
            <a:endParaRPr lang="en-IN"/>
          </a:p>
        </p:txBody>
      </p:sp>
      <p:pic>
        <p:nvPicPr>
          <p:cNvPr id="7" name="Picture 6">
            <a:extLst>
              <a:ext uri="{FF2B5EF4-FFF2-40B4-BE49-F238E27FC236}">
                <a16:creationId xmlns:a16="http://schemas.microsoft.com/office/drawing/2014/main" id="{DEB46CA5-794F-52D7-4033-ECED41DFDA1C}"/>
              </a:ext>
            </a:extLst>
          </p:cNvPr>
          <p:cNvPicPr>
            <a:picLocks noChangeAspect="1"/>
          </p:cNvPicPr>
          <p:nvPr/>
        </p:nvPicPr>
        <p:blipFill>
          <a:blip r:embed="rId2"/>
          <a:stretch>
            <a:fillRect/>
          </a:stretch>
        </p:blipFill>
        <p:spPr>
          <a:xfrm>
            <a:off x="0" y="0"/>
            <a:ext cx="10916816" cy="6847822"/>
          </a:xfrm>
          <a:prstGeom prst="rect">
            <a:avLst/>
          </a:prstGeom>
        </p:spPr>
      </p:pic>
    </p:spTree>
    <p:extLst>
      <p:ext uri="{BB962C8B-B14F-4D97-AF65-F5344CB8AC3E}">
        <p14:creationId xmlns:p14="http://schemas.microsoft.com/office/powerpoint/2010/main" val="40432951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8307A-A7C2-B82B-7E0F-CF14F289BF1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493055C-6DC7-396E-DF23-453B58ED6599}"/>
              </a:ext>
            </a:extLst>
          </p:cNvPr>
          <p:cNvSpPr>
            <a:spLocks noGrp="1"/>
          </p:cNvSpPr>
          <p:nvPr>
            <p:ph idx="1"/>
          </p:nvPr>
        </p:nvSpPr>
        <p:spPr/>
        <p:txBody>
          <a:bodyPr>
            <a:normAutofit fontScale="92500" lnSpcReduction="20000"/>
          </a:bodyPr>
          <a:lstStyle/>
          <a:p>
            <a:r>
              <a:rPr lang="en-US" sz="2800" dirty="0"/>
              <a:t>Figure shows that Type is a poor attribute, because it leaves us with four possible outcomes, each of which has the same number of positive as negative examples.</a:t>
            </a:r>
          </a:p>
          <a:p>
            <a:r>
              <a:rPr lang="en-US" sz="2800" dirty="0"/>
              <a:t>On the other hand, in (b) we see that Patrons is a fairly important attribute, because if the value is None or Some, then we are left with example sets for which we can answer definitively (No and Yes, respectively). </a:t>
            </a:r>
          </a:p>
          <a:p>
            <a:r>
              <a:rPr lang="en-US" sz="2800" dirty="0"/>
              <a:t>If the value is Full, we are left with a mixed set of examples. </a:t>
            </a:r>
          </a:p>
          <a:p>
            <a:r>
              <a:rPr lang="en-US" sz="2800" dirty="0"/>
              <a:t>In general, after the first attribute test splits up the examples, each outcome is a new decision tree learning problem in itself, with fewer examples and one less attribute.</a:t>
            </a:r>
            <a:endParaRPr lang="en-IN" sz="2800" dirty="0"/>
          </a:p>
        </p:txBody>
      </p:sp>
      <p:sp>
        <p:nvSpPr>
          <p:cNvPr id="4" name="Footer Placeholder 3">
            <a:extLst>
              <a:ext uri="{FF2B5EF4-FFF2-40B4-BE49-F238E27FC236}">
                <a16:creationId xmlns:a16="http://schemas.microsoft.com/office/drawing/2014/main" id="{239708F6-A8BE-89E2-59A2-05EF55553AFE}"/>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5A515BDB-46C2-A441-E947-41789F3BB7C0}"/>
              </a:ext>
            </a:extLst>
          </p:cNvPr>
          <p:cNvSpPr>
            <a:spLocks noGrp="1"/>
          </p:cNvSpPr>
          <p:nvPr>
            <p:ph type="sldNum" sz="quarter" idx="12"/>
          </p:nvPr>
        </p:nvSpPr>
        <p:spPr/>
        <p:txBody>
          <a:bodyPr/>
          <a:lstStyle/>
          <a:p>
            <a:fld id="{1E81A027-E3F7-4FC9-A752-E855AD4A687D}" type="slidenum">
              <a:rPr lang="en-IN" smtClean="0"/>
              <a:t>82</a:t>
            </a:fld>
            <a:endParaRPr lang="en-IN"/>
          </a:p>
        </p:txBody>
      </p:sp>
    </p:spTree>
    <p:extLst>
      <p:ext uri="{BB962C8B-B14F-4D97-AF65-F5344CB8AC3E}">
        <p14:creationId xmlns:p14="http://schemas.microsoft.com/office/powerpoint/2010/main" val="362291710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5C8A2-CEFD-4B74-2EE8-61272C466989}"/>
              </a:ext>
            </a:extLst>
          </p:cNvPr>
          <p:cNvSpPr>
            <a:spLocks noGrp="1"/>
          </p:cNvSpPr>
          <p:nvPr>
            <p:ph type="title"/>
          </p:nvPr>
        </p:nvSpPr>
        <p:spPr/>
        <p:txBody>
          <a:bodyPr/>
          <a:lstStyle/>
          <a:p>
            <a:r>
              <a:rPr lang="en-US" dirty="0"/>
              <a:t>There are four cases to consider for these recursive problems:</a:t>
            </a:r>
            <a:endParaRPr lang="en-IN" dirty="0"/>
          </a:p>
        </p:txBody>
      </p:sp>
      <p:sp>
        <p:nvSpPr>
          <p:cNvPr id="3" name="Content Placeholder 2">
            <a:extLst>
              <a:ext uri="{FF2B5EF4-FFF2-40B4-BE49-F238E27FC236}">
                <a16:creationId xmlns:a16="http://schemas.microsoft.com/office/drawing/2014/main" id="{527F90F9-AA4F-741C-B633-46F663C2B56A}"/>
              </a:ext>
            </a:extLst>
          </p:cNvPr>
          <p:cNvSpPr>
            <a:spLocks noGrp="1"/>
          </p:cNvSpPr>
          <p:nvPr>
            <p:ph idx="1"/>
          </p:nvPr>
        </p:nvSpPr>
        <p:spPr/>
        <p:txBody>
          <a:bodyPr>
            <a:normAutofit/>
          </a:bodyPr>
          <a:lstStyle/>
          <a:p>
            <a:pPr marL="457200" indent="-457200">
              <a:buFont typeface="+mj-lt"/>
              <a:buAutoNum type="arabicPeriod"/>
            </a:pPr>
            <a:r>
              <a:rPr lang="en-US" sz="2800" dirty="0"/>
              <a:t>If the remaining examples are all positive (or all negative), then we are done: we can answer Yes or No. Figure 18.4(b) shows examples of this happening in the None and Some branches. </a:t>
            </a:r>
          </a:p>
          <a:p>
            <a:pPr marL="457200" indent="-457200">
              <a:buFont typeface="+mj-lt"/>
              <a:buAutoNum type="arabicPeriod"/>
            </a:pPr>
            <a:endParaRPr lang="en-US" sz="2800" dirty="0"/>
          </a:p>
          <a:p>
            <a:pPr marL="457200" indent="-457200">
              <a:buFont typeface="+mj-lt"/>
              <a:buAutoNum type="arabicPeriod"/>
            </a:pPr>
            <a:endParaRPr lang="en-US" sz="2800" dirty="0"/>
          </a:p>
          <a:p>
            <a:pPr marL="457200" indent="-457200">
              <a:buFont typeface="+mj-lt"/>
              <a:buAutoNum type="arabicPeriod"/>
            </a:pPr>
            <a:endParaRPr lang="en-US" sz="2800" dirty="0"/>
          </a:p>
          <a:p>
            <a:pPr marL="457200" indent="-457200">
              <a:buFont typeface="+mj-lt"/>
              <a:buAutoNum type="arabicPeriod"/>
            </a:pPr>
            <a:endParaRPr lang="en-US" sz="2800" dirty="0"/>
          </a:p>
        </p:txBody>
      </p:sp>
      <p:sp>
        <p:nvSpPr>
          <p:cNvPr id="4" name="Footer Placeholder 3">
            <a:extLst>
              <a:ext uri="{FF2B5EF4-FFF2-40B4-BE49-F238E27FC236}">
                <a16:creationId xmlns:a16="http://schemas.microsoft.com/office/drawing/2014/main" id="{D3BD3B1B-9728-C9F9-8402-FFD65F448678}"/>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CF6C0E1A-548E-69FF-5EA0-34325C9F2E83}"/>
              </a:ext>
            </a:extLst>
          </p:cNvPr>
          <p:cNvSpPr>
            <a:spLocks noGrp="1"/>
          </p:cNvSpPr>
          <p:nvPr>
            <p:ph type="sldNum" sz="quarter" idx="12"/>
          </p:nvPr>
        </p:nvSpPr>
        <p:spPr/>
        <p:txBody>
          <a:bodyPr/>
          <a:lstStyle/>
          <a:p>
            <a:fld id="{1E81A027-E3F7-4FC9-A752-E855AD4A687D}" type="slidenum">
              <a:rPr lang="en-IN" smtClean="0"/>
              <a:t>83</a:t>
            </a:fld>
            <a:endParaRPr lang="en-IN"/>
          </a:p>
        </p:txBody>
      </p:sp>
      <p:pic>
        <p:nvPicPr>
          <p:cNvPr id="7" name="Picture 6">
            <a:extLst>
              <a:ext uri="{FF2B5EF4-FFF2-40B4-BE49-F238E27FC236}">
                <a16:creationId xmlns:a16="http://schemas.microsoft.com/office/drawing/2014/main" id="{57B3CC4F-F3CC-5E81-E6A3-F91C91DFB662}"/>
              </a:ext>
            </a:extLst>
          </p:cNvPr>
          <p:cNvPicPr>
            <a:picLocks noChangeAspect="1"/>
          </p:cNvPicPr>
          <p:nvPr/>
        </p:nvPicPr>
        <p:blipFill>
          <a:blip r:embed="rId2"/>
          <a:stretch>
            <a:fillRect/>
          </a:stretch>
        </p:blipFill>
        <p:spPr>
          <a:xfrm>
            <a:off x="7040797" y="3233328"/>
            <a:ext cx="3515673" cy="3143737"/>
          </a:xfrm>
          <a:prstGeom prst="rect">
            <a:avLst/>
          </a:prstGeom>
        </p:spPr>
      </p:pic>
    </p:spTree>
    <p:extLst>
      <p:ext uri="{BB962C8B-B14F-4D97-AF65-F5344CB8AC3E}">
        <p14:creationId xmlns:p14="http://schemas.microsoft.com/office/powerpoint/2010/main" val="392989394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132C2-7E7A-A24C-3DF2-B58BAC9ED11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EBD7C91-B46A-1122-0BC6-A7B939751599}"/>
              </a:ext>
            </a:extLst>
          </p:cNvPr>
          <p:cNvSpPr>
            <a:spLocks noGrp="1"/>
          </p:cNvSpPr>
          <p:nvPr>
            <p:ph idx="1"/>
          </p:nvPr>
        </p:nvSpPr>
        <p:spPr/>
        <p:txBody>
          <a:bodyPr>
            <a:normAutofit/>
          </a:bodyPr>
          <a:lstStyle/>
          <a:p>
            <a:pPr marL="457200" indent="-457200">
              <a:buFont typeface="+mj-lt"/>
              <a:buAutoNum type="arabicPeriod" startAt="2"/>
            </a:pPr>
            <a:r>
              <a:rPr lang="en-US" sz="2800" dirty="0"/>
              <a:t>If there are some positive and some negative examples, then choose the best attribute to split them. Figure 18.4(b) shows Hungry being used to split the remaining examples</a:t>
            </a:r>
            <a:endParaRPr lang="en-IN" sz="2800" dirty="0"/>
          </a:p>
        </p:txBody>
      </p:sp>
      <p:sp>
        <p:nvSpPr>
          <p:cNvPr id="4" name="Footer Placeholder 3">
            <a:extLst>
              <a:ext uri="{FF2B5EF4-FFF2-40B4-BE49-F238E27FC236}">
                <a16:creationId xmlns:a16="http://schemas.microsoft.com/office/drawing/2014/main" id="{34F91F5A-53CA-5934-C1D1-4AE8947F4746}"/>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9816A0BA-5E57-758F-239E-CF1627E75EDF}"/>
              </a:ext>
            </a:extLst>
          </p:cNvPr>
          <p:cNvSpPr>
            <a:spLocks noGrp="1"/>
          </p:cNvSpPr>
          <p:nvPr>
            <p:ph type="sldNum" sz="quarter" idx="12"/>
          </p:nvPr>
        </p:nvSpPr>
        <p:spPr/>
        <p:txBody>
          <a:bodyPr/>
          <a:lstStyle/>
          <a:p>
            <a:fld id="{1E81A027-E3F7-4FC9-A752-E855AD4A687D}" type="slidenum">
              <a:rPr lang="en-IN" smtClean="0"/>
              <a:t>84</a:t>
            </a:fld>
            <a:endParaRPr lang="en-IN"/>
          </a:p>
        </p:txBody>
      </p:sp>
      <p:pic>
        <p:nvPicPr>
          <p:cNvPr id="6" name="Picture 5">
            <a:extLst>
              <a:ext uri="{FF2B5EF4-FFF2-40B4-BE49-F238E27FC236}">
                <a16:creationId xmlns:a16="http://schemas.microsoft.com/office/drawing/2014/main" id="{4DE2CB1E-28E8-6381-8DC4-4A06A1A07462}"/>
              </a:ext>
            </a:extLst>
          </p:cNvPr>
          <p:cNvPicPr>
            <a:picLocks noChangeAspect="1"/>
          </p:cNvPicPr>
          <p:nvPr/>
        </p:nvPicPr>
        <p:blipFill>
          <a:blip r:embed="rId2"/>
          <a:stretch>
            <a:fillRect/>
          </a:stretch>
        </p:blipFill>
        <p:spPr>
          <a:xfrm>
            <a:off x="4993316" y="3114008"/>
            <a:ext cx="3842774" cy="3436233"/>
          </a:xfrm>
          <a:prstGeom prst="rect">
            <a:avLst/>
          </a:prstGeom>
        </p:spPr>
      </p:pic>
    </p:spTree>
    <p:extLst>
      <p:ext uri="{BB962C8B-B14F-4D97-AF65-F5344CB8AC3E}">
        <p14:creationId xmlns:p14="http://schemas.microsoft.com/office/powerpoint/2010/main" val="30122145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8A338-7F18-0E26-804C-EE61CCB40AB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1A08A36-6990-96DA-B0C4-BFD38DCE2D0C}"/>
              </a:ext>
            </a:extLst>
          </p:cNvPr>
          <p:cNvSpPr>
            <a:spLocks noGrp="1"/>
          </p:cNvSpPr>
          <p:nvPr>
            <p:ph idx="1"/>
          </p:nvPr>
        </p:nvSpPr>
        <p:spPr/>
        <p:txBody>
          <a:bodyPr>
            <a:normAutofit fontScale="92500" lnSpcReduction="10000"/>
          </a:bodyPr>
          <a:lstStyle/>
          <a:p>
            <a:pPr marL="457200" indent="-457200">
              <a:buFont typeface="+mj-lt"/>
              <a:buAutoNum type="arabicPeriod" startAt="3"/>
            </a:pPr>
            <a:r>
              <a:rPr lang="en-US" sz="2800" dirty="0"/>
              <a:t>If there are </a:t>
            </a:r>
            <a:r>
              <a:rPr lang="en-US" sz="2800" dirty="0">
                <a:solidFill>
                  <a:srgbClr val="FF0000"/>
                </a:solidFill>
              </a:rPr>
              <a:t>no examples left</a:t>
            </a:r>
            <a:r>
              <a:rPr lang="en-US" sz="2800" dirty="0"/>
              <a:t>, it means that </a:t>
            </a:r>
            <a:r>
              <a:rPr lang="en-US" sz="2800" dirty="0">
                <a:solidFill>
                  <a:srgbClr val="FF0000"/>
                </a:solidFill>
              </a:rPr>
              <a:t>no example has been observed for this combination of attribute values</a:t>
            </a:r>
            <a:r>
              <a:rPr lang="en-US" sz="2800" dirty="0"/>
              <a:t>, </a:t>
            </a:r>
            <a:r>
              <a:rPr lang="en-US" sz="2800" dirty="0">
                <a:solidFill>
                  <a:srgbClr val="FF0000"/>
                </a:solidFill>
              </a:rPr>
              <a:t>and we return a default value calculated </a:t>
            </a:r>
            <a:r>
              <a:rPr lang="en-US" sz="2800" dirty="0"/>
              <a:t>from the plurality classification of all the examples that were used in constructing the node’s parent. </a:t>
            </a:r>
          </a:p>
          <a:p>
            <a:pPr marL="749808" lvl="1" indent="-457200">
              <a:buFont typeface="Wingdings" panose="05000000000000000000" pitchFamily="2" charset="2"/>
              <a:buChar char="Ø"/>
            </a:pPr>
            <a:r>
              <a:rPr lang="en-US" sz="2400" dirty="0"/>
              <a:t>These are passed along in the variable parent examples. </a:t>
            </a:r>
          </a:p>
          <a:p>
            <a:pPr marL="457200" indent="-457200">
              <a:buFont typeface="+mj-lt"/>
              <a:buAutoNum type="arabicPeriod" startAt="3"/>
            </a:pPr>
            <a:r>
              <a:rPr lang="en-US" sz="2800" dirty="0"/>
              <a:t>If there are </a:t>
            </a:r>
            <a:r>
              <a:rPr lang="en-US" sz="2800" dirty="0">
                <a:solidFill>
                  <a:srgbClr val="FF0000"/>
                </a:solidFill>
              </a:rPr>
              <a:t>no attributes left</a:t>
            </a:r>
            <a:r>
              <a:rPr lang="en-US" sz="2800" dirty="0"/>
              <a:t>, </a:t>
            </a:r>
            <a:r>
              <a:rPr lang="en-US" sz="2800" dirty="0">
                <a:solidFill>
                  <a:srgbClr val="FF0000"/>
                </a:solidFill>
              </a:rPr>
              <a:t>but both positive and negative examples</a:t>
            </a:r>
            <a:r>
              <a:rPr lang="en-US" sz="2800" dirty="0"/>
              <a:t>, </a:t>
            </a:r>
          </a:p>
          <a:p>
            <a:pPr marL="749808" lvl="1" indent="-457200">
              <a:buFont typeface="Wingdings" panose="05000000000000000000" pitchFamily="2" charset="2"/>
              <a:buChar char="Ø"/>
            </a:pPr>
            <a:r>
              <a:rPr lang="en-US" sz="2400" dirty="0"/>
              <a:t>it means that these examples have exactly the same description, but different classifications. </a:t>
            </a:r>
          </a:p>
          <a:p>
            <a:pPr marL="749808" lvl="1" indent="-457200">
              <a:buFont typeface="Wingdings" panose="05000000000000000000" pitchFamily="2" charset="2"/>
              <a:buChar char="Ø"/>
            </a:pPr>
            <a:r>
              <a:rPr lang="en-US" sz="2400" dirty="0"/>
              <a:t>This can NOISE happen because there is an error or noise in the data; because the domain is nondeterministic; or because we can’t observe an attribute that would distinguish the examples. </a:t>
            </a:r>
          </a:p>
          <a:p>
            <a:pPr marL="749808" lvl="1" indent="-457200">
              <a:buFont typeface="Wingdings" panose="05000000000000000000" pitchFamily="2" charset="2"/>
              <a:buChar char="Ø"/>
            </a:pPr>
            <a:r>
              <a:rPr lang="en-US" sz="2400" dirty="0"/>
              <a:t>The best we can do is return the plurality classification of the remaining examples.</a:t>
            </a:r>
            <a:endParaRPr lang="en-IN" sz="2400" dirty="0"/>
          </a:p>
        </p:txBody>
      </p:sp>
      <p:sp>
        <p:nvSpPr>
          <p:cNvPr id="4" name="Footer Placeholder 3">
            <a:extLst>
              <a:ext uri="{FF2B5EF4-FFF2-40B4-BE49-F238E27FC236}">
                <a16:creationId xmlns:a16="http://schemas.microsoft.com/office/drawing/2014/main" id="{D42AF76A-93DC-BE37-F83E-8318D7512CDE}"/>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2FECACB9-E154-641B-2B5B-6CFEBD63F59E}"/>
              </a:ext>
            </a:extLst>
          </p:cNvPr>
          <p:cNvSpPr>
            <a:spLocks noGrp="1"/>
          </p:cNvSpPr>
          <p:nvPr>
            <p:ph type="sldNum" sz="quarter" idx="12"/>
          </p:nvPr>
        </p:nvSpPr>
        <p:spPr/>
        <p:txBody>
          <a:bodyPr/>
          <a:lstStyle/>
          <a:p>
            <a:fld id="{1E81A027-E3F7-4FC9-A752-E855AD4A687D}" type="slidenum">
              <a:rPr lang="en-IN" smtClean="0"/>
              <a:t>85</a:t>
            </a:fld>
            <a:endParaRPr lang="en-IN"/>
          </a:p>
        </p:txBody>
      </p:sp>
    </p:spTree>
    <p:extLst>
      <p:ext uri="{BB962C8B-B14F-4D97-AF65-F5344CB8AC3E}">
        <p14:creationId xmlns:p14="http://schemas.microsoft.com/office/powerpoint/2010/main" val="350473118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067B8-2A57-3FAB-F0C7-190054E17E5D}"/>
              </a:ext>
            </a:extLst>
          </p:cNvPr>
          <p:cNvSpPr>
            <a:spLocks noGrp="1"/>
          </p:cNvSpPr>
          <p:nvPr>
            <p:ph type="title"/>
          </p:nvPr>
        </p:nvSpPr>
        <p:spPr/>
        <p:txBody>
          <a:bodyPr/>
          <a:lstStyle/>
          <a:p>
            <a:r>
              <a:rPr lang="en-IN" i="0" dirty="0">
                <a:solidFill>
                  <a:srgbClr val="232629"/>
                </a:solidFill>
                <a:effectLst/>
              </a:rPr>
              <a:t>plurality classification</a:t>
            </a:r>
            <a:endParaRPr lang="en-IN" dirty="0"/>
          </a:p>
        </p:txBody>
      </p:sp>
      <p:sp>
        <p:nvSpPr>
          <p:cNvPr id="3" name="Content Placeholder 2">
            <a:extLst>
              <a:ext uri="{FF2B5EF4-FFF2-40B4-BE49-F238E27FC236}">
                <a16:creationId xmlns:a16="http://schemas.microsoft.com/office/drawing/2014/main" id="{EFBCB5D1-8657-EA61-76B1-3A5D9E18FA91}"/>
              </a:ext>
            </a:extLst>
          </p:cNvPr>
          <p:cNvSpPr>
            <a:spLocks noGrp="1"/>
          </p:cNvSpPr>
          <p:nvPr>
            <p:ph idx="1"/>
          </p:nvPr>
        </p:nvSpPr>
        <p:spPr/>
        <p:txBody>
          <a:bodyPr>
            <a:normAutofit/>
          </a:bodyPr>
          <a:lstStyle/>
          <a:p>
            <a:r>
              <a:rPr lang="en-US" sz="2800" b="0" i="0" dirty="0">
                <a:solidFill>
                  <a:srgbClr val="232629"/>
                </a:solidFill>
                <a:effectLst/>
                <a:latin typeface="-apple-system"/>
              </a:rPr>
              <a:t>majority class if there were only two classes. </a:t>
            </a:r>
          </a:p>
          <a:p>
            <a:r>
              <a:rPr lang="en-US" sz="2800" b="0" i="0" dirty="0">
                <a:solidFill>
                  <a:srgbClr val="232629"/>
                </a:solidFill>
                <a:effectLst/>
                <a:latin typeface="-apple-system"/>
              </a:rPr>
              <a:t>Plurality is just the </a:t>
            </a:r>
            <a:r>
              <a:rPr lang="en-US" sz="2800" b="0" i="0" dirty="0">
                <a:solidFill>
                  <a:srgbClr val="FF0000"/>
                </a:solidFill>
                <a:effectLst/>
                <a:latin typeface="-apple-system"/>
              </a:rPr>
              <a:t>generalization of majority to more than 2 classes</a:t>
            </a:r>
            <a:r>
              <a:rPr lang="en-US" sz="2800" b="0" i="0" dirty="0">
                <a:solidFill>
                  <a:srgbClr val="232629"/>
                </a:solidFill>
                <a:effectLst/>
                <a:latin typeface="-apple-system"/>
              </a:rPr>
              <a:t>. </a:t>
            </a:r>
          </a:p>
          <a:p>
            <a:r>
              <a:rPr lang="en-US" sz="2800" b="0" i="0" dirty="0">
                <a:solidFill>
                  <a:srgbClr val="232629"/>
                </a:solidFill>
                <a:effectLst/>
                <a:latin typeface="-apple-system"/>
              </a:rPr>
              <a:t>It just means take the most frequent class in that leaf and return that as your prediction. </a:t>
            </a:r>
          </a:p>
          <a:p>
            <a:r>
              <a:rPr lang="en-US" sz="2800" b="0" i="0" dirty="0">
                <a:solidFill>
                  <a:srgbClr val="232629"/>
                </a:solidFill>
                <a:effectLst/>
                <a:latin typeface="-apple-system"/>
              </a:rPr>
              <a:t>For example, if you are classifying the colors of balls, and there are 3 blue balls, 2 red balls, and 2 white balls in a leaf, return blue as your prediction.</a:t>
            </a:r>
            <a:endParaRPr lang="en-IN" sz="2800" dirty="0"/>
          </a:p>
        </p:txBody>
      </p:sp>
      <p:sp>
        <p:nvSpPr>
          <p:cNvPr id="4" name="Footer Placeholder 3">
            <a:extLst>
              <a:ext uri="{FF2B5EF4-FFF2-40B4-BE49-F238E27FC236}">
                <a16:creationId xmlns:a16="http://schemas.microsoft.com/office/drawing/2014/main" id="{C56793C7-80AF-A0E5-C68A-2914828C444A}"/>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6AA76AC0-C5CA-AC68-4687-13174412DB38}"/>
              </a:ext>
            </a:extLst>
          </p:cNvPr>
          <p:cNvSpPr>
            <a:spLocks noGrp="1"/>
          </p:cNvSpPr>
          <p:nvPr>
            <p:ph type="sldNum" sz="quarter" idx="12"/>
          </p:nvPr>
        </p:nvSpPr>
        <p:spPr/>
        <p:txBody>
          <a:bodyPr/>
          <a:lstStyle/>
          <a:p>
            <a:fld id="{1E81A027-E3F7-4FC9-A752-E855AD4A687D}" type="slidenum">
              <a:rPr lang="en-IN" smtClean="0"/>
              <a:t>86</a:t>
            </a:fld>
            <a:endParaRPr lang="en-IN"/>
          </a:p>
        </p:txBody>
      </p:sp>
    </p:spTree>
    <p:extLst>
      <p:ext uri="{BB962C8B-B14F-4D97-AF65-F5344CB8AC3E}">
        <p14:creationId xmlns:p14="http://schemas.microsoft.com/office/powerpoint/2010/main" val="10402148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2DC7A-B029-2B28-0BE8-767B1A20A8DC}"/>
              </a:ext>
            </a:extLst>
          </p:cNvPr>
          <p:cNvSpPr>
            <a:spLocks noGrp="1"/>
          </p:cNvSpPr>
          <p:nvPr>
            <p:ph type="title"/>
          </p:nvPr>
        </p:nvSpPr>
        <p:spPr/>
        <p:txBody>
          <a:bodyPr/>
          <a:lstStyle/>
          <a:p>
            <a:r>
              <a:rPr lang="en-IN" dirty="0"/>
              <a:t>DECISION-TREE-LEARNING algorithm</a:t>
            </a:r>
          </a:p>
        </p:txBody>
      </p:sp>
      <p:pic>
        <p:nvPicPr>
          <p:cNvPr id="7" name="Content Placeholder 6">
            <a:extLst>
              <a:ext uri="{FF2B5EF4-FFF2-40B4-BE49-F238E27FC236}">
                <a16:creationId xmlns:a16="http://schemas.microsoft.com/office/drawing/2014/main" id="{A9FCA821-1F4A-102B-EA59-98A11CB6A8F3}"/>
              </a:ext>
            </a:extLst>
          </p:cNvPr>
          <p:cNvPicPr>
            <a:picLocks noGrp="1" noChangeAspect="1"/>
          </p:cNvPicPr>
          <p:nvPr>
            <p:ph idx="1"/>
          </p:nvPr>
        </p:nvPicPr>
        <p:blipFill>
          <a:blip r:embed="rId2"/>
          <a:stretch>
            <a:fillRect/>
          </a:stretch>
        </p:blipFill>
        <p:spPr>
          <a:xfrm>
            <a:off x="1664220" y="1737360"/>
            <a:ext cx="8524807" cy="4923897"/>
          </a:xfrm>
        </p:spPr>
      </p:pic>
      <p:sp>
        <p:nvSpPr>
          <p:cNvPr id="4" name="Footer Placeholder 3">
            <a:extLst>
              <a:ext uri="{FF2B5EF4-FFF2-40B4-BE49-F238E27FC236}">
                <a16:creationId xmlns:a16="http://schemas.microsoft.com/office/drawing/2014/main" id="{F04FF105-DBE0-FAD9-247C-4DD3C23E64BC}"/>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B543126B-83C1-524E-4F91-F36EA7FD2375}"/>
              </a:ext>
            </a:extLst>
          </p:cNvPr>
          <p:cNvSpPr>
            <a:spLocks noGrp="1"/>
          </p:cNvSpPr>
          <p:nvPr>
            <p:ph type="sldNum" sz="quarter" idx="12"/>
          </p:nvPr>
        </p:nvSpPr>
        <p:spPr/>
        <p:txBody>
          <a:bodyPr/>
          <a:lstStyle/>
          <a:p>
            <a:fld id="{1E81A027-E3F7-4FC9-A752-E855AD4A687D}" type="slidenum">
              <a:rPr lang="en-IN" smtClean="0"/>
              <a:t>87</a:t>
            </a:fld>
            <a:endParaRPr lang="en-IN"/>
          </a:p>
        </p:txBody>
      </p:sp>
    </p:spTree>
    <p:extLst>
      <p:ext uri="{BB962C8B-B14F-4D97-AF65-F5344CB8AC3E}">
        <p14:creationId xmlns:p14="http://schemas.microsoft.com/office/powerpoint/2010/main" val="15758473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B4EBB-D0A5-9082-746F-5C771CF8A5E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389636F-4D8A-245D-6AE5-F32A05027107}"/>
              </a:ext>
            </a:extLst>
          </p:cNvPr>
          <p:cNvSpPr>
            <a:spLocks noGrp="1"/>
          </p:cNvSpPr>
          <p:nvPr>
            <p:ph idx="1"/>
          </p:nvPr>
        </p:nvSpPr>
        <p:spPr/>
        <p:txBody>
          <a:bodyPr>
            <a:normAutofit/>
          </a:bodyPr>
          <a:lstStyle/>
          <a:p>
            <a:r>
              <a:rPr lang="en-US" sz="2800" dirty="0"/>
              <a:t>the set of examples is crucial for constructing the tree, but nowhere do the examples appear in the tree itself. </a:t>
            </a:r>
          </a:p>
          <a:p>
            <a:r>
              <a:rPr lang="en-US" sz="2800" dirty="0"/>
              <a:t>A tree consists of just tests on attributes in the interior nodes, values of attributes on the branches, and output values on the leaf nodes</a:t>
            </a:r>
            <a:endParaRPr lang="en-IN" sz="2800" dirty="0"/>
          </a:p>
        </p:txBody>
      </p:sp>
      <p:sp>
        <p:nvSpPr>
          <p:cNvPr id="4" name="Footer Placeholder 3">
            <a:extLst>
              <a:ext uri="{FF2B5EF4-FFF2-40B4-BE49-F238E27FC236}">
                <a16:creationId xmlns:a16="http://schemas.microsoft.com/office/drawing/2014/main" id="{C425EC7F-ABFB-9EAA-3D94-66BB3B06269B}"/>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C2078914-40B5-A308-81C5-171E980AA52A}"/>
              </a:ext>
            </a:extLst>
          </p:cNvPr>
          <p:cNvSpPr>
            <a:spLocks noGrp="1"/>
          </p:cNvSpPr>
          <p:nvPr>
            <p:ph type="sldNum" sz="quarter" idx="12"/>
          </p:nvPr>
        </p:nvSpPr>
        <p:spPr/>
        <p:txBody>
          <a:bodyPr/>
          <a:lstStyle/>
          <a:p>
            <a:fld id="{1E81A027-E3F7-4FC9-A752-E855AD4A687D}" type="slidenum">
              <a:rPr lang="en-IN" smtClean="0"/>
              <a:t>88</a:t>
            </a:fld>
            <a:endParaRPr lang="en-IN"/>
          </a:p>
        </p:txBody>
      </p:sp>
    </p:spTree>
    <p:extLst>
      <p:ext uri="{BB962C8B-B14F-4D97-AF65-F5344CB8AC3E}">
        <p14:creationId xmlns:p14="http://schemas.microsoft.com/office/powerpoint/2010/main" val="388333863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89D057-C992-B031-6D10-5C00A8259D70}"/>
              </a:ext>
            </a:extLst>
          </p:cNvPr>
          <p:cNvSpPr>
            <a:spLocks noGrp="1"/>
          </p:cNvSpPr>
          <p:nvPr>
            <p:ph idx="1"/>
          </p:nvPr>
        </p:nvSpPr>
        <p:spPr>
          <a:xfrm>
            <a:off x="1097280" y="121298"/>
            <a:ext cx="10058400" cy="5747796"/>
          </a:xfrm>
        </p:spPr>
        <p:txBody>
          <a:bodyPr>
            <a:normAutofit/>
          </a:bodyPr>
          <a:lstStyle/>
          <a:p>
            <a:r>
              <a:rPr lang="en-US" sz="2800" dirty="0"/>
              <a:t>A training set of 12 examples is shown below</a:t>
            </a:r>
            <a:endParaRPr lang="en-IN" sz="2800" dirty="0"/>
          </a:p>
        </p:txBody>
      </p:sp>
      <p:sp>
        <p:nvSpPr>
          <p:cNvPr id="4" name="Footer Placeholder 3">
            <a:extLst>
              <a:ext uri="{FF2B5EF4-FFF2-40B4-BE49-F238E27FC236}">
                <a16:creationId xmlns:a16="http://schemas.microsoft.com/office/drawing/2014/main" id="{D879595F-382E-826E-629D-0F9FA24B81F7}"/>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F19D46FA-7B6A-6187-EF14-BA4EBB28B7EB}"/>
              </a:ext>
            </a:extLst>
          </p:cNvPr>
          <p:cNvSpPr>
            <a:spLocks noGrp="1"/>
          </p:cNvSpPr>
          <p:nvPr>
            <p:ph type="sldNum" sz="quarter" idx="12"/>
          </p:nvPr>
        </p:nvSpPr>
        <p:spPr/>
        <p:txBody>
          <a:bodyPr/>
          <a:lstStyle/>
          <a:p>
            <a:fld id="{1E81A027-E3F7-4FC9-A752-E855AD4A687D}" type="slidenum">
              <a:rPr lang="en-IN" smtClean="0"/>
              <a:t>89</a:t>
            </a:fld>
            <a:endParaRPr lang="en-IN"/>
          </a:p>
        </p:txBody>
      </p:sp>
      <p:pic>
        <p:nvPicPr>
          <p:cNvPr id="6" name="Picture 5">
            <a:extLst>
              <a:ext uri="{FF2B5EF4-FFF2-40B4-BE49-F238E27FC236}">
                <a16:creationId xmlns:a16="http://schemas.microsoft.com/office/drawing/2014/main" id="{14D20DA4-8D56-FC3C-04F2-065C8F5EF7E1}"/>
              </a:ext>
            </a:extLst>
          </p:cNvPr>
          <p:cNvPicPr>
            <a:picLocks noChangeAspect="1"/>
          </p:cNvPicPr>
          <p:nvPr/>
        </p:nvPicPr>
        <p:blipFill>
          <a:blip r:embed="rId2"/>
          <a:stretch>
            <a:fillRect/>
          </a:stretch>
        </p:blipFill>
        <p:spPr>
          <a:xfrm>
            <a:off x="476017" y="566660"/>
            <a:ext cx="10080453" cy="5302434"/>
          </a:xfrm>
          <a:prstGeom prst="rect">
            <a:avLst/>
          </a:prstGeom>
        </p:spPr>
      </p:pic>
    </p:spTree>
    <p:extLst>
      <p:ext uri="{BB962C8B-B14F-4D97-AF65-F5344CB8AC3E}">
        <p14:creationId xmlns:p14="http://schemas.microsoft.com/office/powerpoint/2010/main" val="95002076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F27AD-5A17-A86F-6ECB-EC2462E0D6A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CA796A3-9633-F2F9-76EF-E583DD886535}"/>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4FC90A91-6879-43BB-F328-4CCF203D8536}"/>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3BB44B7F-64C5-FF53-2BB2-F0E0E25BC953}"/>
              </a:ext>
            </a:extLst>
          </p:cNvPr>
          <p:cNvSpPr>
            <a:spLocks noGrp="1"/>
          </p:cNvSpPr>
          <p:nvPr>
            <p:ph type="sldNum" sz="quarter" idx="12"/>
          </p:nvPr>
        </p:nvSpPr>
        <p:spPr/>
        <p:txBody>
          <a:bodyPr/>
          <a:lstStyle/>
          <a:p>
            <a:fld id="{1E81A027-E3F7-4FC9-A752-E855AD4A687D}" type="slidenum">
              <a:rPr lang="en-IN" smtClean="0"/>
              <a:t>90</a:t>
            </a:fld>
            <a:endParaRPr lang="en-IN"/>
          </a:p>
        </p:txBody>
      </p:sp>
      <p:pic>
        <p:nvPicPr>
          <p:cNvPr id="7" name="Picture 6">
            <a:extLst>
              <a:ext uri="{FF2B5EF4-FFF2-40B4-BE49-F238E27FC236}">
                <a16:creationId xmlns:a16="http://schemas.microsoft.com/office/drawing/2014/main" id="{B5B7BF27-834A-ACA4-98F6-993C872D61BB}"/>
              </a:ext>
            </a:extLst>
          </p:cNvPr>
          <p:cNvPicPr>
            <a:picLocks noChangeAspect="1"/>
          </p:cNvPicPr>
          <p:nvPr/>
        </p:nvPicPr>
        <p:blipFill>
          <a:blip r:embed="rId2"/>
          <a:stretch>
            <a:fillRect/>
          </a:stretch>
        </p:blipFill>
        <p:spPr>
          <a:xfrm>
            <a:off x="-139470" y="0"/>
            <a:ext cx="12331470" cy="6208256"/>
          </a:xfrm>
          <a:prstGeom prst="rect">
            <a:avLst/>
          </a:prstGeom>
        </p:spPr>
      </p:pic>
    </p:spTree>
    <p:extLst>
      <p:ext uri="{BB962C8B-B14F-4D97-AF65-F5344CB8AC3E}">
        <p14:creationId xmlns:p14="http://schemas.microsoft.com/office/powerpoint/2010/main" val="228313574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8A82A-835C-296D-FEA7-4AE68B6FEE85}"/>
              </a:ext>
            </a:extLst>
          </p:cNvPr>
          <p:cNvSpPr>
            <a:spLocks noGrp="1"/>
          </p:cNvSpPr>
          <p:nvPr>
            <p:ph type="title"/>
          </p:nvPr>
        </p:nvSpPr>
        <p:spPr/>
        <p:txBody>
          <a:bodyPr/>
          <a:lstStyle/>
          <a:p>
            <a:r>
              <a:rPr lang="en-IN" dirty="0"/>
              <a:t>Three step process to solve a problem using decision tree</a:t>
            </a:r>
          </a:p>
        </p:txBody>
      </p:sp>
      <p:sp>
        <p:nvSpPr>
          <p:cNvPr id="3" name="Content Placeholder 2">
            <a:extLst>
              <a:ext uri="{FF2B5EF4-FFF2-40B4-BE49-F238E27FC236}">
                <a16:creationId xmlns:a16="http://schemas.microsoft.com/office/drawing/2014/main" id="{FDB7A8A9-719C-A3DA-10C4-A3ACC65A28D0}"/>
              </a:ext>
            </a:extLst>
          </p:cNvPr>
          <p:cNvSpPr>
            <a:spLocks noGrp="1"/>
          </p:cNvSpPr>
          <p:nvPr>
            <p:ph idx="1"/>
          </p:nvPr>
        </p:nvSpPr>
        <p:spPr/>
        <p:txBody>
          <a:bodyPr/>
          <a:lstStyle/>
          <a:p>
            <a:pPr marL="457200" indent="-457200">
              <a:buFont typeface="+mj-lt"/>
              <a:buAutoNum type="arabicPeriod"/>
            </a:pPr>
            <a:r>
              <a:rPr lang="en-IN" dirty="0"/>
              <a:t>Position the best attribute of the dataset at the root of the tree</a:t>
            </a:r>
          </a:p>
          <a:p>
            <a:pPr marL="457200" indent="-457200">
              <a:buFont typeface="+mj-lt"/>
              <a:buAutoNum type="arabicPeriod"/>
            </a:pPr>
            <a:r>
              <a:rPr lang="en-IN" dirty="0"/>
              <a:t>Split the dataset or training set into subsets such that each subset contains the homogenous data in other words it contains data having some value for an attribute </a:t>
            </a:r>
          </a:p>
          <a:p>
            <a:pPr marL="457200" indent="-457200">
              <a:buFont typeface="+mj-lt"/>
              <a:buAutoNum type="arabicPeriod"/>
            </a:pPr>
            <a:r>
              <a:rPr lang="en-IN" dirty="0"/>
              <a:t>Repeat step 1 and step 2 on each subset until we find leaf node in all the branch of tree</a:t>
            </a:r>
          </a:p>
          <a:p>
            <a:pPr marL="0" indent="0">
              <a:buNone/>
            </a:pPr>
            <a:endParaRPr lang="en-IN" dirty="0"/>
          </a:p>
        </p:txBody>
      </p:sp>
      <p:sp>
        <p:nvSpPr>
          <p:cNvPr id="4" name="Footer Placeholder 3">
            <a:extLst>
              <a:ext uri="{FF2B5EF4-FFF2-40B4-BE49-F238E27FC236}">
                <a16:creationId xmlns:a16="http://schemas.microsoft.com/office/drawing/2014/main" id="{281C0BEF-D5D0-E9FC-1576-5CFE3FFF7FB0}"/>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9021A48A-6D6B-75F9-7D77-EB326F452EC8}"/>
              </a:ext>
            </a:extLst>
          </p:cNvPr>
          <p:cNvSpPr>
            <a:spLocks noGrp="1"/>
          </p:cNvSpPr>
          <p:nvPr>
            <p:ph type="sldNum" sz="quarter" idx="12"/>
          </p:nvPr>
        </p:nvSpPr>
        <p:spPr/>
        <p:txBody>
          <a:bodyPr/>
          <a:lstStyle/>
          <a:p>
            <a:fld id="{1E81A027-E3F7-4FC9-A752-E855AD4A687D}" type="slidenum">
              <a:rPr lang="en-IN" smtClean="0"/>
              <a:t>91</a:t>
            </a:fld>
            <a:endParaRPr lang="en-IN"/>
          </a:p>
        </p:txBody>
      </p:sp>
    </p:spTree>
    <p:extLst>
      <p:ext uri="{BB962C8B-B14F-4D97-AF65-F5344CB8AC3E}">
        <p14:creationId xmlns:p14="http://schemas.microsoft.com/office/powerpoint/2010/main" val="429456169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DD64F-1AD6-48B1-75AF-0D62075C410E}"/>
              </a:ext>
            </a:extLst>
          </p:cNvPr>
          <p:cNvSpPr>
            <a:spLocks noGrp="1"/>
          </p:cNvSpPr>
          <p:nvPr>
            <p:ph type="title"/>
          </p:nvPr>
        </p:nvSpPr>
        <p:spPr/>
        <p:txBody>
          <a:bodyPr/>
          <a:lstStyle/>
          <a:p>
            <a:r>
              <a:rPr lang="en-IN" dirty="0"/>
              <a:t>Various Decision Tree Algorithms</a:t>
            </a:r>
          </a:p>
        </p:txBody>
      </p:sp>
      <p:sp>
        <p:nvSpPr>
          <p:cNvPr id="3" name="Content Placeholder 2">
            <a:extLst>
              <a:ext uri="{FF2B5EF4-FFF2-40B4-BE49-F238E27FC236}">
                <a16:creationId xmlns:a16="http://schemas.microsoft.com/office/drawing/2014/main" id="{A846E91F-AD41-A768-0143-A90D36F18FCB}"/>
              </a:ext>
            </a:extLst>
          </p:cNvPr>
          <p:cNvSpPr>
            <a:spLocks noGrp="1"/>
          </p:cNvSpPr>
          <p:nvPr>
            <p:ph idx="1"/>
          </p:nvPr>
        </p:nvSpPr>
        <p:spPr/>
        <p:txBody>
          <a:bodyPr/>
          <a:lstStyle/>
          <a:p>
            <a:r>
              <a:rPr lang="en-IN" dirty="0">
                <a:solidFill>
                  <a:srgbClr val="FF0000"/>
                </a:solidFill>
              </a:rPr>
              <a:t>ID3(Iterative </a:t>
            </a:r>
            <a:r>
              <a:rPr lang="en-IN" dirty="0" err="1">
                <a:solidFill>
                  <a:srgbClr val="FF0000"/>
                </a:solidFill>
              </a:rPr>
              <a:t>Dichotomiser</a:t>
            </a:r>
            <a:r>
              <a:rPr lang="en-IN" dirty="0">
                <a:solidFill>
                  <a:srgbClr val="FF0000"/>
                </a:solidFill>
              </a:rPr>
              <a:t> 3)</a:t>
            </a:r>
          </a:p>
          <a:p>
            <a:r>
              <a:rPr lang="en-IN" dirty="0"/>
              <a:t>C4.5</a:t>
            </a:r>
          </a:p>
          <a:p>
            <a:r>
              <a:rPr lang="en-IN" dirty="0"/>
              <a:t>C5.0</a:t>
            </a:r>
          </a:p>
          <a:p>
            <a:r>
              <a:rPr lang="en-IN" dirty="0">
                <a:solidFill>
                  <a:srgbClr val="FF0000"/>
                </a:solidFill>
              </a:rPr>
              <a:t>CART(Classification and Regression Tree)</a:t>
            </a:r>
          </a:p>
          <a:p>
            <a:r>
              <a:rPr lang="en-IN" dirty="0"/>
              <a:t>1R(One Rule)</a:t>
            </a:r>
          </a:p>
          <a:p>
            <a:r>
              <a:rPr lang="en-IN" dirty="0"/>
              <a:t>RIPPER(Repeated Incremented Pruning to Produce Error Reduction)</a:t>
            </a:r>
          </a:p>
          <a:p>
            <a:endParaRPr lang="en-IN" dirty="0"/>
          </a:p>
        </p:txBody>
      </p:sp>
      <p:sp>
        <p:nvSpPr>
          <p:cNvPr id="4" name="Footer Placeholder 3">
            <a:extLst>
              <a:ext uri="{FF2B5EF4-FFF2-40B4-BE49-F238E27FC236}">
                <a16:creationId xmlns:a16="http://schemas.microsoft.com/office/drawing/2014/main" id="{FBB42E8B-9D8E-C07F-7A5F-10395231002D}"/>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4594F7B9-CDAE-2BFE-D664-DE17536B9618}"/>
              </a:ext>
            </a:extLst>
          </p:cNvPr>
          <p:cNvSpPr>
            <a:spLocks noGrp="1"/>
          </p:cNvSpPr>
          <p:nvPr>
            <p:ph type="sldNum" sz="quarter" idx="12"/>
          </p:nvPr>
        </p:nvSpPr>
        <p:spPr/>
        <p:txBody>
          <a:bodyPr/>
          <a:lstStyle/>
          <a:p>
            <a:fld id="{1E81A027-E3F7-4FC9-A752-E855AD4A687D}" type="slidenum">
              <a:rPr lang="en-IN" smtClean="0"/>
              <a:t>92</a:t>
            </a:fld>
            <a:endParaRPr lang="en-IN"/>
          </a:p>
        </p:txBody>
      </p:sp>
    </p:spTree>
    <p:extLst>
      <p:ext uri="{BB962C8B-B14F-4D97-AF65-F5344CB8AC3E}">
        <p14:creationId xmlns:p14="http://schemas.microsoft.com/office/powerpoint/2010/main" val="158890978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75303-0FF8-9C74-F1A0-D331E96439AD}"/>
              </a:ext>
            </a:extLst>
          </p:cNvPr>
          <p:cNvSpPr>
            <a:spLocks noGrp="1"/>
          </p:cNvSpPr>
          <p:nvPr>
            <p:ph type="title"/>
          </p:nvPr>
        </p:nvSpPr>
        <p:spPr>
          <a:xfrm>
            <a:off x="9843654" y="286603"/>
            <a:ext cx="2246212" cy="1355585"/>
          </a:xfrm>
        </p:spPr>
        <p:txBody>
          <a:bodyPr/>
          <a:lstStyle/>
          <a:p>
            <a:r>
              <a:rPr lang="en-IN" dirty="0"/>
              <a:t>Dataset S</a:t>
            </a:r>
          </a:p>
        </p:txBody>
      </p:sp>
      <p:graphicFrame>
        <p:nvGraphicFramePr>
          <p:cNvPr id="7" name="Table 7">
            <a:extLst>
              <a:ext uri="{FF2B5EF4-FFF2-40B4-BE49-F238E27FC236}">
                <a16:creationId xmlns:a16="http://schemas.microsoft.com/office/drawing/2014/main" id="{547A0181-6774-86D0-170E-FB52C89D22FB}"/>
              </a:ext>
            </a:extLst>
          </p:cNvPr>
          <p:cNvGraphicFramePr>
            <a:graphicFrameLocks noGrp="1"/>
          </p:cNvGraphicFramePr>
          <p:nvPr>
            <p:ph idx="1"/>
            <p:extLst>
              <p:ext uri="{D42A27DB-BD31-4B8C-83A1-F6EECF244321}">
                <p14:modId xmlns:p14="http://schemas.microsoft.com/office/powerpoint/2010/main" val="3129712126"/>
              </p:ext>
            </p:extLst>
          </p:nvPr>
        </p:nvGraphicFramePr>
        <p:xfrm>
          <a:off x="102134" y="175670"/>
          <a:ext cx="9726548" cy="6132375"/>
        </p:xfrm>
        <a:graphic>
          <a:graphicData uri="http://schemas.openxmlformats.org/drawingml/2006/table">
            <a:tbl>
              <a:tblPr firstRow="1" bandRow="1">
                <a:tableStyleId>{5C22544A-7EE6-4342-B048-85BDC9FD1C3A}</a:tableStyleId>
              </a:tblPr>
              <a:tblGrid>
                <a:gridCol w="718415">
                  <a:extLst>
                    <a:ext uri="{9D8B030D-6E8A-4147-A177-3AD203B41FA5}">
                      <a16:colId xmlns:a16="http://schemas.microsoft.com/office/drawing/2014/main" val="1729248985"/>
                    </a:ext>
                  </a:extLst>
                </a:gridCol>
                <a:gridCol w="1906588">
                  <a:extLst>
                    <a:ext uri="{9D8B030D-6E8A-4147-A177-3AD203B41FA5}">
                      <a16:colId xmlns:a16="http://schemas.microsoft.com/office/drawing/2014/main" val="3648181975"/>
                    </a:ext>
                  </a:extLst>
                </a:gridCol>
                <a:gridCol w="1865235">
                  <a:extLst>
                    <a:ext uri="{9D8B030D-6E8A-4147-A177-3AD203B41FA5}">
                      <a16:colId xmlns:a16="http://schemas.microsoft.com/office/drawing/2014/main" val="2416713795"/>
                    </a:ext>
                  </a:extLst>
                </a:gridCol>
                <a:gridCol w="1840766">
                  <a:extLst>
                    <a:ext uri="{9D8B030D-6E8A-4147-A177-3AD203B41FA5}">
                      <a16:colId xmlns:a16="http://schemas.microsoft.com/office/drawing/2014/main" val="3659454016"/>
                    </a:ext>
                  </a:extLst>
                </a:gridCol>
                <a:gridCol w="1697772">
                  <a:extLst>
                    <a:ext uri="{9D8B030D-6E8A-4147-A177-3AD203B41FA5}">
                      <a16:colId xmlns:a16="http://schemas.microsoft.com/office/drawing/2014/main" val="2007697066"/>
                    </a:ext>
                  </a:extLst>
                </a:gridCol>
                <a:gridCol w="1697772">
                  <a:extLst>
                    <a:ext uri="{9D8B030D-6E8A-4147-A177-3AD203B41FA5}">
                      <a16:colId xmlns:a16="http://schemas.microsoft.com/office/drawing/2014/main" val="2014123878"/>
                    </a:ext>
                  </a:extLst>
                </a:gridCol>
              </a:tblGrid>
              <a:tr h="408825">
                <a:tc>
                  <a:txBody>
                    <a:bodyPr/>
                    <a:lstStyle/>
                    <a:p>
                      <a:r>
                        <a:rPr lang="en-IN" dirty="0"/>
                        <a:t>Day</a:t>
                      </a:r>
                    </a:p>
                  </a:txBody>
                  <a:tcPr/>
                </a:tc>
                <a:tc>
                  <a:txBody>
                    <a:bodyPr/>
                    <a:lstStyle/>
                    <a:p>
                      <a:r>
                        <a:rPr lang="en-IN" dirty="0"/>
                        <a:t>Outlook</a:t>
                      </a:r>
                    </a:p>
                  </a:txBody>
                  <a:tcPr/>
                </a:tc>
                <a:tc>
                  <a:txBody>
                    <a:bodyPr/>
                    <a:lstStyle/>
                    <a:p>
                      <a:r>
                        <a:rPr lang="en-IN" dirty="0"/>
                        <a:t>Temperature</a:t>
                      </a:r>
                    </a:p>
                  </a:txBody>
                  <a:tcPr/>
                </a:tc>
                <a:tc>
                  <a:txBody>
                    <a:bodyPr/>
                    <a:lstStyle/>
                    <a:p>
                      <a:r>
                        <a:rPr lang="en-IN" dirty="0"/>
                        <a:t>Humidity</a:t>
                      </a:r>
                    </a:p>
                  </a:txBody>
                  <a:tcPr/>
                </a:tc>
                <a:tc>
                  <a:txBody>
                    <a:bodyPr/>
                    <a:lstStyle/>
                    <a:p>
                      <a:r>
                        <a:rPr lang="en-IN" dirty="0"/>
                        <a:t>Wind</a:t>
                      </a:r>
                    </a:p>
                  </a:txBody>
                  <a:tcPr/>
                </a:tc>
                <a:tc>
                  <a:txBody>
                    <a:bodyPr/>
                    <a:lstStyle/>
                    <a:p>
                      <a:r>
                        <a:rPr lang="en-IN" dirty="0"/>
                        <a:t>Play Tennis</a:t>
                      </a:r>
                    </a:p>
                  </a:txBody>
                  <a:tcPr/>
                </a:tc>
                <a:extLst>
                  <a:ext uri="{0D108BD9-81ED-4DB2-BD59-A6C34878D82A}">
                    <a16:rowId xmlns:a16="http://schemas.microsoft.com/office/drawing/2014/main" val="4191208930"/>
                  </a:ext>
                </a:extLst>
              </a:tr>
              <a:tr h="408825">
                <a:tc>
                  <a:txBody>
                    <a:bodyPr/>
                    <a:lstStyle/>
                    <a:p>
                      <a:r>
                        <a:rPr lang="en-IN" dirty="0"/>
                        <a:t>D1</a:t>
                      </a:r>
                    </a:p>
                  </a:txBody>
                  <a:tcPr/>
                </a:tc>
                <a:tc>
                  <a:txBody>
                    <a:bodyPr/>
                    <a:lstStyle/>
                    <a:p>
                      <a:r>
                        <a:rPr lang="en-IN" dirty="0"/>
                        <a:t>SUNNY</a:t>
                      </a:r>
                    </a:p>
                  </a:txBody>
                  <a:tcPr/>
                </a:tc>
                <a:tc>
                  <a:txBody>
                    <a:bodyPr/>
                    <a:lstStyle/>
                    <a:p>
                      <a:r>
                        <a:rPr lang="en-IN" dirty="0"/>
                        <a:t>HOT</a:t>
                      </a:r>
                    </a:p>
                  </a:txBody>
                  <a:tcPr/>
                </a:tc>
                <a:tc>
                  <a:txBody>
                    <a:bodyPr/>
                    <a:lstStyle/>
                    <a:p>
                      <a:r>
                        <a:rPr lang="en-IN" dirty="0"/>
                        <a:t>HIGH</a:t>
                      </a:r>
                    </a:p>
                  </a:txBody>
                  <a:tcPr/>
                </a:tc>
                <a:tc>
                  <a:txBody>
                    <a:bodyPr/>
                    <a:lstStyle/>
                    <a:p>
                      <a:r>
                        <a:rPr lang="en-IN" dirty="0"/>
                        <a:t>WEAK</a:t>
                      </a:r>
                    </a:p>
                  </a:txBody>
                  <a:tcPr/>
                </a:tc>
                <a:tc>
                  <a:txBody>
                    <a:bodyPr/>
                    <a:lstStyle/>
                    <a:p>
                      <a:r>
                        <a:rPr lang="en-IN" dirty="0"/>
                        <a:t>No</a:t>
                      </a:r>
                    </a:p>
                  </a:txBody>
                  <a:tcPr/>
                </a:tc>
                <a:extLst>
                  <a:ext uri="{0D108BD9-81ED-4DB2-BD59-A6C34878D82A}">
                    <a16:rowId xmlns:a16="http://schemas.microsoft.com/office/drawing/2014/main" val="1418444999"/>
                  </a:ext>
                </a:extLst>
              </a:tr>
              <a:tr h="408825">
                <a:tc>
                  <a:txBody>
                    <a:bodyPr/>
                    <a:lstStyle/>
                    <a:p>
                      <a:r>
                        <a:rPr lang="en-IN" dirty="0"/>
                        <a:t>D2</a:t>
                      </a:r>
                    </a:p>
                  </a:txBody>
                  <a:tcPr/>
                </a:tc>
                <a:tc>
                  <a:txBody>
                    <a:bodyPr/>
                    <a:lstStyle/>
                    <a:p>
                      <a:r>
                        <a:rPr lang="en-IN" dirty="0"/>
                        <a:t>SUNNY</a:t>
                      </a:r>
                    </a:p>
                  </a:txBody>
                  <a:tcPr/>
                </a:tc>
                <a:tc>
                  <a:txBody>
                    <a:bodyPr/>
                    <a:lstStyle/>
                    <a:p>
                      <a:r>
                        <a:rPr lang="en-IN" dirty="0"/>
                        <a:t>HOT</a:t>
                      </a:r>
                    </a:p>
                  </a:txBody>
                  <a:tcPr/>
                </a:tc>
                <a:tc>
                  <a:txBody>
                    <a:bodyPr/>
                    <a:lstStyle/>
                    <a:p>
                      <a:r>
                        <a:rPr lang="en-IN" dirty="0"/>
                        <a:t>HIGH</a:t>
                      </a:r>
                    </a:p>
                  </a:txBody>
                  <a:tcPr/>
                </a:tc>
                <a:tc>
                  <a:txBody>
                    <a:bodyPr/>
                    <a:lstStyle/>
                    <a:p>
                      <a:r>
                        <a:rPr lang="en-IN" dirty="0"/>
                        <a:t>STRONG</a:t>
                      </a:r>
                    </a:p>
                  </a:txBody>
                  <a:tcPr/>
                </a:tc>
                <a:tc>
                  <a:txBody>
                    <a:bodyPr/>
                    <a:lstStyle/>
                    <a:p>
                      <a:r>
                        <a:rPr lang="en-IN" dirty="0"/>
                        <a:t>No</a:t>
                      </a:r>
                    </a:p>
                  </a:txBody>
                  <a:tcPr/>
                </a:tc>
                <a:extLst>
                  <a:ext uri="{0D108BD9-81ED-4DB2-BD59-A6C34878D82A}">
                    <a16:rowId xmlns:a16="http://schemas.microsoft.com/office/drawing/2014/main" val="3042429449"/>
                  </a:ext>
                </a:extLst>
              </a:tr>
              <a:tr h="408825">
                <a:tc>
                  <a:txBody>
                    <a:bodyPr/>
                    <a:lstStyle/>
                    <a:p>
                      <a:r>
                        <a:rPr lang="en-IN" dirty="0"/>
                        <a:t>D3</a:t>
                      </a:r>
                    </a:p>
                  </a:txBody>
                  <a:tcPr/>
                </a:tc>
                <a:tc>
                  <a:txBody>
                    <a:bodyPr/>
                    <a:lstStyle/>
                    <a:p>
                      <a:r>
                        <a:rPr lang="en-IN" dirty="0"/>
                        <a:t>OVERCAST</a:t>
                      </a:r>
                    </a:p>
                  </a:txBody>
                  <a:tcPr/>
                </a:tc>
                <a:tc>
                  <a:txBody>
                    <a:bodyPr/>
                    <a:lstStyle/>
                    <a:p>
                      <a:r>
                        <a:rPr lang="en-IN" dirty="0"/>
                        <a:t>HOT</a:t>
                      </a:r>
                    </a:p>
                  </a:txBody>
                  <a:tcPr/>
                </a:tc>
                <a:tc>
                  <a:txBody>
                    <a:bodyPr/>
                    <a:lstStyle/>
                    <a:p>
                      <a:r>
                        <a:rPr lang="en-IN" dirty="0"/>
                        <a:t>HIGH</a:t>
                      </a:r>
                    </a:p>
                  </a:txBody>
                  <a:tcPr/>
                </a:tc>
                <a:tc>
                  <a:txBody>
                    <a:bodyPr/>
                    <a:lstStyle/>
                    <a:p>
                      <a:r>
                        <a:rPr lang="en-IN" dirty="0"/>
                        <a:t>WEAK</a:t>
                      </a:r>
                    </a:p>
                  </a:txBody>
                  <a:tcPr/>
                </a:tc>
                <a:tc>
                  <a:txBody>
                    <a:bodyPr/>
                    <a:lstStyle/>
                    <a:p>
                      <a:r>
                        <a:rPr lang="en-IN" dirty="0"/>
                        <a:t>Yes</a:t>
                      </a:r>
                    </a:p>
                  </a:txBody>
                  <a:tcPr/>
                </a:tc>
                <a:extLst>
                  <a:ext uri="{0D108BD9-81ED-4DB2-BD59-A6C34878D82A}">
                    <a16:rowId xmlns:a16="http://schemas.microsoft.com/office/drawing/2014/main" val="2237381877"/>
                  </a:ext>
                </a:extLst>
              </a:tr>
              <a:tr h="408825">
                <a:tc>
                  <a:txBody>
                    <a:bodyPr/>
                    <a:lstStyle/>
                    <a:p>
                      <a:r>
                        <a:rPr lang="en-IN" dirty="0"/>
                        <a:t>D4</a:t>
                      </a:r>
                    </a:p>
                  </a:txBody>
                  <a:tcPr/>
                </a:tc>
                <a:tc>
                  <a:txBody>
                    <a:bodyPr/>
                    <a:lstStyle/>
                    <a:p>
                      <a:r>
                        <a:rPr lang="en-IN" dirty="0"/>
                        <a:t>RAIN</a:t>
                      </a:r>
                    </a:p>
                  </a:txBody>
                  <a:tcPr/>
                </a:tc>
                <a:tc>
                  <a:txBody>
                    <a:bodyPr/>
                    <a:lstStyle/>
                    <a:p>
                      <a:r>
                        <a:rPr lang="en-IN" dirty="0"/>
                        <a:t>MILD</a:t>
                      </a:r>
                    </a:p>
                  </a:txBody>
                  <a:tcPr/>
                </a:tc>
                <a:tc>
                  <a:txBody>
                    <a:bodyPr/>
                    <a:lstStyle/>
                    <a:p>
                      <a:r>
                        <a:rPr lang="en-IN" dirty="0"/>
                        <a:t>HIGH</a:t>
                      </a:r>
                    </a:p>
                  </a:txBody>
                  <a:tcPr/>
                </a:tc>
                <a:tc>
                  <a:txBody>
                    <a:bodyPr/>
                    <a:lstStyle/>
                    <a:p>
                      <a:r>
                        <a:rPr lang="en-IN" dirty="0"/>
                        <a:t>WEAK</a:t>
                      </a:r>
                    </a:p>
                  </a:txBody>
                  <a:tcPr/>
                </a:tc>
                <a:tc>
                  <a:txBody>
                    <a:bodyPr/>
                    <a:lstStyle/>
                    <a:p>
                      <a:r>
                        <a:rPr lang="en-IN" dirty="0"/>
                        <a:t>Yes</a:t>
                      </a:r>
                    </a:p>
                  </a:txBody>
                  <a:tcPr/>
                </a:tc>
                <a:extLst>
                  <a:ext uri="{0D108BD9-81ED-4DB2-BD59-A6C34878D82A}">
                    <a16:rowId xmlns:a16="http://schemas.microsoft.com/office/drawing/2014/main" val="1303468142"/>
                  </a:ext>
                </a:extLst>
              </a:tr>
              <a:tr h="408825">
                <a:tc>
                  <a:txBody>
                    <a:bodyPr/>
                    <a:lstStyle/>
                    <a:p>
                      <a:r>
                        <a:rPr lang="en-IN" dirty="0"/>
                        <a:t>D5</a:t>
                      </a:r>
                    </a:p>
                  </a:txBody>
                  <a:tcPr/>
                </a:tc>
                <a:tc>
                  <a:txBody>
                    <a:bodyPr/>
                    <a:lstStyle/>
                    <a:p>
                      <a:r>
                        <a:rPr lang="en-IN" dirty="0"/>
                        <a:t>RAIN</a:t>
                      </a:r>
                    </a:p>
                  </a:txBody>
                  <a:tcPr/>
                </a:tc>
                <a:tc>
                  <a:txBody>
                    <a:bodyPr/>
                    <a:lstStyle/>
                    <a:p>
                      <a:r>
                        <a:rPr lang="en-IN" dirty="0"/>
                        <a:t>COOL</a:t>
                      </a:r>
                    </a:p>
                  </a:txBody>
                  <a:tcPr/>
                </a:tc>
                <a:tc>
                  <a:txBody>
                    <a:bodyPr/>
                    <a:lstStyle/>
                    <a:p>
                      <a:r>
                        <a:rPr lang="en-IN" dirty="0"/>
                        <a:t>NORMAL</a:t>
                      </a:r>
                    </a:p>
                  </a:txBody>
                  <a:tcPr/>
                </a:tc>
                <a:tc>
                  <a:txBody>
                    <a:bodyPr/>
                    <a:lstStyle/>
                    <a:p>
                      <a:r>
                        <a:rPr lang="en-IN" dirty="0"/>
                        <a:t>WEAK</a:t>
                      </a:r>
                    </a:p>
                  </a:txBody>
                  <a:tcPr/>
                </a:tc>
                <a:tc>
                  <a:txBody>
                    <a:bodyPr/>
                    <a:lstStyle/>
                    <a:p>
                      <a:r>
                        <a:rPr lang="en-IN" dirty="0"/>
                        <a:t>Yes</a:t>
                      </a:r>
                    </a:p>
                  </a:txBody>
                  <a:tcPr/>
                </a:tc>
                <a:extLst>
                  <a:ext uri="{0D108BD9-81ED-4DB2-BD59-A6C34878D82A}">
                    <a16:rowId xmlns:a16="http://schemas.microsoft.com/office/drawing/2014/main" val="417486894"/>
                  </a:ext>
                </a:extLst>
              </a:tr>
              <a:tr h="408825">
                <a:tc>
                  <a:txBody>
                    <a:bodyPr/>
                    <a:lstStyle/>
                    <a:p>
                      <a:r>
                        <a:rPr lang="en-IN" dirty="0"/>
                        <a:t>D6</a:t>
                      </a:r>
                    </a:p>
                  </a:txBody>
                  <a:tcPr/>
                </a:tc>
                <a:tc>
                  <a:txBody>
                    <a:bodyPr/>
                    <a:lstStyle/>
                    <a:p>
                      <a:r>
                        <a:rPr lang="en-IN" dirty="0"/>
                        <a:t>RAIN</a:t>
                      </a:r>
                    </a:p>
                  </a:txBody>
                  <a:tcPr/>
                </a:tc>
                <a:tc>
                  <a:txBody>
                    <a:bodyPr/>
                    <a:lstStyle/>
                    <a:p>
                      <a:r>
                        <a:rPr lang="en-IN" dirty="0"/>
                        <a:t>COOL</a:t>
                      </a:r>
                    </a:p>
                  </a:txBody>
                  <a:tcPr/>
                </a:tc>
                <a:tc>
                  <a:txBody>
                    <a:bodyPr/>
                    <a:lstStyle/>
                    <a:p>
                      <a:r>
                        <a:rPr lang="en-IN" dirty="0"/>
                        <a:t>NORMAL</a:t>
                      </a:r>
                    </a:p>
                  </a:txBody>
                  <a:tcPr/>
                </a:tc>
                <a:tc>
                  <a:txBody>
                    <a:bodyPr/>
                    <a:lstStyle/>
                    <a:p>
                      <a:r>
                        <a:rPr lang="en-IN" dirty="0"/>
                        <a:t>STRONG</a:t>
                      </a:r>
                    </a:p>
                  </a:txBody>
                  <a:tcPr/>
                </a:tc>
                <a:tc>
                  <a:txBody>
                    <a:bodyPr/>
                    <a:lstStyle/>
                    <a:p>
                      <a:r>
                        <a:rPr lang="en-IN" dirty="0"/>
                        <a:t>No</a:t>
                      </a:r>
                    </a:p>
                  </a:txBody>
                  <a:tcPr/>
                </a:tc>
                <a:extLst>
                  <a:ext uri="{0D108BD9-81ED-4DB2-BD59-A6C34878D82A}">
                    <a16:rowId xmlns:a16="http://schemas.microsoft.com/office/drawing/2014/main" val="1557699268"/>
                  </a:ext>
                </a:extLst>
              </a:tr>
              <a:tr h="408825">
                <a:tc>
                  <a:txBody>
                    <a:bodyPr/>
                    <a:lstStyle/>
                    <a:p>
                      <a:r>
                        <a:rPr lang="en-IN" dirty="0"/>
                        <a:t>D7</a:t>
                      </a:r>
                    </a:p>
                  </a:txBody>
                  <a:tcPr/>
                </a:tc>
                <a:tc>
                  <a:txBody>
                    <a:bodyPr/>
                    <a:lstStyle/>
                    <a:p>
                      <a:r>
                        <a:rPr lang="en-IN" dirty="0"/>
                        <a:t>OVERCAST</a:t>
                      </a:r>
                    </a:p>
                  </a:txBody>
                  <a:tcPr/>
                </a:tc>
                <a:tc>
                  <a:txBody>
                    <a:bodyPr/>
                    <a:lstStyle/>
                    <a:p>
                      <a:r>
                        <a:rPr lang="en-IN" dirty="0"/>
                        <a:t>COOL</a:t>
                      </a:r>
                    </a:p>
                  </a:txBody>
                  <a:tcPr/>
                </a:tc>
                <a:tc>
                  <a:txBody>
                    <a:bodyPr/>
                    <a:lstStyle/>
                    <a:p>
                      <a:r>
                        <a:rPr lang="en-IN" dirty="0"/>
                        <a:t>NORMAL</a:t>
                      </a:r>
                    </a:p>
                  </a:txBody>
                  <a:tcPr/>
                </a:tc>
                <a:tc>
                  <a:txBody>
                    <a:bodyPr/>
                    <a:lstStyle/>
                    <a:p>
                      <a:r>
                        <a:rPr lang="en-IN" dirty="0"/>
                        <a:t>STRONG </a:t>
                      </a:r>
                    </a:p>
                  </a:txBody>
                  <a:tcPr/>
                </a:tc>
                <a:tc>
                  <a:txBody>
                    <a:bodyPr/>
                    <a:lstStyle/>
                    <a:p>
                      <a:r>
                        <a:rPr lang="en-IN" dirty="0"/>
                        <a:t>Yes</a:t>
                      </a:r>
                    </a:p>
                  </a:txBody>
                  <a:tcPr/>
                </a:tc>
                <a:extLst>
                  <a:ext uri="{0D108BD9-81ED-4DB2-BD59-A6C34878D82A}">
                    <a16:rowId xmlns:a16="http://schemas.microsoft.com/office/drawing/2014/main" val="661909874"/>
                  </a:ext>
                </a:extLst>
              </a:tr>
              <a:tr h="408825">
                <a:tc>
                  <a:txBody>
                    <a:bodyPr/>
                    <a:lstStyle/>
                    <a:p>
                      <a:r>
                        <a:rPr lang="en-IN" dirty="0"/>
                        <a:t>D8</a:t>
                      </a:r>
                    </a:p>
                  </a:txBody>
                  <a:tcPr/>
                </a:tc>
                <a:tc>
                  <a:txBody>
                    <a:bodyPr/>
                    <a:lstStyle/>
                    <a:p>
                      <a:r>
                        <a:rPr lang="en-IN" dirty="0"/>
                        <a:t>SUNNY</a:t>
                      </a:r>
                    </a:p>
                  </a:txBody>
                  <a:tcPr/>
                </a:tc>
                <a:tc>
                  <a:txBody>
                    <a:bodyPr/>
                    <a:lstStyle/>
                    <a:p>
                      <a:r>
                        <a:rPr lang="en-IN" dirty="0"/>
                        <a:t>MILD</a:t>
                      </a:r>
                    </a:p>
                  </a:txBody>
                  <a:tcPr/>
                </a:tc>
                <a:tc>
                  <a:txBody>
                    <a:bodyPr/>
                    <a:lstStyle/>
                    <a:p>
                      <a:r>
                        <a:rPr lang="en-IN" dirty="0"/>
                        <a:t>HIGH</a:t>
                      </a:r>
                    </a:p>
                  </a:txBody>
                  <a:tcPr/>
                </a:tc>
                <a:tc>
                  <a:txBody>
                    <a:bodyPr/>
                    <a:lstStyle/>
                    <a:p>
                      <a:r>
                        <a:rPr lang="en-IN" dirty="0"/>
                        <a:t>WEAK</a:t>
                      </a:r>
                    </a:p>
                  </a:txBody>
                  <a:tcPr/>
                </a:tc>
                <a:tc>
                  <a:txBody>
                    <a:bodyPr/>
                    <a:lstStyle/>
                    <a:p>
                      <a:r>
                        <a:rPr lang="en-IN" dirty="0"/>
                        <a:t>No</a:t>
                      </a:r>
                    </a:p>
                  </a:txBody>
                  <a:tcPr/>
                </a:tc>
                <a:extLst>
                  <a:ext uri="{0D108BD9-81ED-4DB2-BD59-A6C34878D82A}">
                    <a16:rowId xmlns:a16="http://schemas.microsoft.com/office/drawing/2014/main" val="1092365102"/>
                  </a:ext>
                </a:extLst>
              </a:tr>
              <a:tr h="408825">
                <a:tc>
                  <a:txBody>
                    <a:bodyPr/>
                    <a:lstStyle/>
                    <a:p>
                      <a:r>
                        <a:rPr lang="en-IN" dirty="0"/>
                        <a:t>D9</a:t>
                      </a:r>
                    </a:p>
                  </a:txBody>
                  <a:tcPr/>
                </a:tc>
                <a:tc>
                  <a:txBody>
                    <a:bodyPr/>
                    <a:lstStyle/>
                    <a:p>
                      <a:r>
                        <a:rPr lang="en-IN" dirty="0"/>
                        <a:t>SUNNY</a:t>
                      </a:r>
                    </a:p>
                  </a:txBody>
                  <a:tcPr/>
                </a:tc>
                <a:tc>
                  <a:txBody>
                    <a:bodyPr/>
                    <a:lstStyle/>
                    <a:p>
                      <a:r>
                        <a:rPr lang="en-IN" dirty="0"/>
                        <a:t>COOL</a:t>
                      </a:r>
                    </a:p>
                  </a:txBody>
                  <a:tcPr/>
                </a:tc>
                <a:tc>
                  <a:txBody>
                    <a:bodyPr/>
                    <a:lstStyle/>
                    <a:p>
                      <a:r>
                        <a:rPr lang="en-IN" dirty="0"/>
                        <a:t>NORMAL</a:t>
                      </a:r>
                    </a:p>
                  </a:txBody>
                  <a:tcPr/>
                </a:tc>
                <a:tc>
                  <a:txBody>
                    <a:bodyPr/>
                    <a:lstStyle/>
                    <a:p>
                      <a:r>
                        <a:rPr lang="en-IN" dirty="0"/>
                        <a:t>WEAK</a:t>
                      </a:r>
                    </a:p>
                  </a:txBody>
                  <a:tcPr/>
                </a:tc>
                <a:tc>
                  <a:txBody>
                    <a:bodyPr/>
                    <a:lstStyle/>
                    <a:p>
                      <a:r>
                        <a:rPr lang="en-IN" dirty="0"/>
                        <a:t>Yes</a:t>
                      </a:r>
                    </a:p>
                  </a:txBody>
                  <a:tcPr/>
                </a:tc>
                <a:extLst>
                  <a:ext uri="{0D108BD9-81ED-4DB2-BD59-A6C34878D82A}">
                    <a16:rowId xmlns:a16="http://schemas.microsoft.com/office/drawing/2014/main" val="3639979694"/>
                  </a:ext>
                </a:extLst>
              </a:tr>
              <a:tr h="408825">
                <a:tc>
                  <a:txBody>
                    <a:bodyPr/>
                    <a:lstStyle/>
                    <a:p>
                      <a:r>
                        <a:rPr lang="en-IN" dirty="0"/>
                        <a:t>D10</a:t>
                      </a:r>
                    </a:p>
                  </a:txBody>
                  <a:tcPr/>
                </a:tc>
                <a:tc>
                  <a:txBody>
                    <a:bodyPr/>
                    <a:lstStyle/>
                    <a:p>
                      <a:r>
                        <a:rPr lang="en-IN" dirty="0"/>
                        <a:t>RAIN</a:t>
                      </a:r>
                    </a:p>
                  </a:txBody>
                  <a:tcPr/>
                </a:tc>
                <a:tc>
                  <a:txBody>
                    <a:bodyPr/>
                    <a:lstStyle/>
                    <a:p>
                      <a:r>
                        <a:rPr lang="en-IN" dirty="0"/>
                        <a:t>MILD</a:t>
                      </a:r>
                    </a:p>
                  </a:txBody>
                  <a:tcPr/>
                </a:tc>
                <a:tc>
                  <a:txBody>
                    <a:bodyPr/>
                    <a:lstStyle/>
                    <a:p>
                      <a:r>
                        <a:rPr lang="en-IN" dirty="0"/>
                        <a:t>NORMAL</a:t>
                      </a:r>
                    </a:p>
                  </a:txBody>
                  <a:tcPr/>
                </a:tc>
                <a:tc>
                  <a:txBody>
                    <a:bodyPr/>
                    <a:lstStyle/>
                    <a:p>
                      <a:r>
                        <a:rPr lang="en-IN" dirty="0"/>
                        <a:t>WEAK</a:t>
                      </a:r>
                    </a:p>
                  </a:txBody>
                  <a:tcPr/>
                </a:tc>
                <a:tc>
                  <a:txBody>
                    <a:bodyPr/>
                    <a:lstStyle/>
                    <a:p>
                      <a:r>
                        <a:rPr lang="en-IN" dirty="0"/>
                        <a:t>Yes</a:t>
                      </a:r>
                    </a:p>
                  </a:txBody>
                  <a:tcPr/>
                </a:tc>
                <a:extLst>
                  <a:ext uri="{0D108BD9-81ED-4DB2-BD59-A6C34878D82A}">
                    <a16:rowId xmlns:a16="http://schemas.microsoft.com/office/drawing/2014/main" val="2187714685"/>
                  </a:ext>
                </a:extLst>
              </a:tr>
              <a:tr h="408825">
                <a:tc>
                  <a:txBody>
                    <a:bodyPr/>
                    <a:lstStyle/>
                    <a:p>
                      <a:r>
                        <a:rPr lang="en-IN" dirty="0"/>
                        <a:t>D11</a:t>
                      </a:r>
                    </a:p>
                  </a:txBody>
                  <a:tcPr/>
                </a:tc>
                <a:tc>
                  <a:txBody>
                    <a:bodyPr/>
                    <a:lstStyle/>
                    <a:p>
                      <a:r>
                        <a:rPr lang="en-IN" dirty="0"/>
                        <a:t>SUNNY</a:t>
                      </a:r>
                    </a:p>
                  </a:txBody>
                  <a:tcPr/>
                </a:tc>
                <a:tc>
                  <a:txBody>
                    <a:bodyPr/>
                    <a:lstStyle/>
                    <a:p>
                      <a:r>
                        <a:rPr lang="en-IN" dirty="0"/>
                        <a:t>MILD</a:t>
                      </a:r>
                    </a:p>
                  </a:txBody>
                  <a:tcPr/>
                </a:tc>
                <a:tc>
                  <a:txBody>
                    <a:bodyPr/>
                    <a:lstStyle/>
                    <a:p>
                      <a:r>
                        <a:rPr lang="en-IN" dirty="0"/>
                        <a:t>NORMAL</a:t>
                      </a:r>
                    </a:p>
                  </a:txBody>
                  <a:tcPr/>
                </a:tc>
                <a:tc>
                  <a:txBody>
                    <a:bodyPr/>
                    <a:lstStyle/>
                    <a:p>
                      <a:r>
                        <a:rPr lang="en-IN" dirty="0"/>
                        <a:t>STRONG</a:t>
                      </a:r>
                    </a:p>
                  </a:txBody>
                  <a:tcPr/>
                </a:tc>
                <a:tc>
                  <a:txBody>
                    <a:bodyPr/>
                    <a:lstStyle/>
                    <a:p>
                      <a:r>
                        <a:rPr lang="en-IN" dirty="0"/>
                        <a:t>Yes</a:t>
                      </a:r>
                    </a:p>
                  </a:txBody>
                  <a:tcPr/>
                </a:tc>
                <a:extLst>
                  <a:ext uri="{0D108BD9-81ED-4DB2-BD59-A6C34878D82A}">
                    <a16:rowId xmlns:a16="http://schemas.microsoft.com/office/drawing/2014/main" val="517640641"/>
                  </a:ext>
                </a:extLst>
              </a:tr>
              <a:tr h="408825">
                <a:tc>
                  <a:txBody>
                    <a:bodyPr/>
                    <a:lstStyle/>
                    <a:p>
                      <a:r>
                        <a:rPr lang="en-IN" dirty="0"/>
                        <a:t>D12</a:t>
                      </a:r>
                    </a:p>
                  </a:txBody>
                  <a:tcPr/>
                </a:tc>
                <a:tc>
                  <a:txBody>
                    <a:bodyPr/>
                    <a:lstStyle/>
                    <a:p>
                      <a:r>
                        <a:rPr lang="en-IN" dirty="0"/>
                        <a:t>OVERCAST</a:t>
                      </a:r>
                    </a:p>
                  </a:txBody>
                  <a:tcPr/>
                </a:tc>
                <a:tc>
                  <a:txBody>
                    <a:bodyPr/>
                    <a:lstStyle/>
                    <a:p>
                      <a:r>
                        <a:rPr lang="en-IN" dirty="0"/>
                        <a:t>MILD</a:t>
                      </a:r>
                    </a:p>
                  </a:txBody>
                  <a:tcPr/>
                </a:tc>
                <a:tc>
                  <a:txBody>
                    <a:bodyPr/>
                    <a:lstStyle/>
                    <a:p>
                      <a:r>
                        <a:rPr lang="en-IN" dirty="0"/>
                        <a:t>HIGH</a:t>
                      </a:r>
                    </a:p>
                  </a:txBody>
                  <a:tcPr/>
                </a:tc>
                <a:tc>
                  <a:txBody>
                    <a:bodyPr/>
                    <a:lstStyle/>
                    <a:p>
                      <a:r>
                        <a:rPr lang="en-IN" dirty="0"/>
                        <a:t>STRONG</a:t>
                      </a:r>
                    </a:p>
                  </a:txBody>
                  <a:tcPr/>
                </a:tc>
                <a:tc>
                  <a:txBody>
                    <a:bodyPr/>
                    <a:lstStyle/>
                    <a:p>
                      <a:r>
                        <a:rPr lang="en-IN" dirty="0"/>
                        <a:t>Yes</a:t>
                      </a:r>
                    </a:p>
                  </a:txBody>
                  <a:tcPr/>
                </a:tc>
                <a:extLst>
                  <a:ext uri="{0D108BD9-81ED-4DB2-BD59-A6C34878D82A}">
                    <a16:rowId xmlns:a16="http://schemas.microsoft.com/office/drawing/2014/main" val="2198090517"/>
                  </a:ext>
                </a:extLst>
              </a:tr>
              <a:tr h="408825">
                <a:tc>
                  <a:txBody>
                    <a:bodyPr/>
                    <a:lstStyle/>
                    <a:p>
                      <a:r>
                        <a:rPr lang="en-IN" dirty="0"/>
                        <a:t>D13</a:t>
                      </a:r>
                    </a:p>
                  </a:txBody>
                  <a:tcPr/>
                </a:tc>
                <a:tc>
                  <a:txBody>
                    <a:bodyPr/>
                    <a:lstStyle/>
                    <a:p>
                      <a:r>
                        <a:rPr lang="en-IN" dirty="0"/>
                        <a:t>OVERCAST</a:t>
                      </a:r>
                    </a:p>
                  </a:txBody>
                  <a:tcPr/>
                </a:tc>
                <a:tc>
                  <a:txBody>
                    <a:bodyPr/>
                    <a:lstStyle/>
                    <a:p>
                      <a:r>
                        <a:rPr lang="en-IN" dirty="0"/>
                        <a:t>HOT</a:t>
                      </a:r>
                    </a:p>
                  </a:txBody>
                  <a:tcPr/>
                </a:tc>
                <a:tc>
                  <a:txBody>
                    <a:bodyPr/>
                    <a:lstStyle/>
                    <a:p>
                      <a:r>
                        <a:rPr lang="en-IN" dirty="0"/>
                        <a:t>NORMAL</a:t>
                      </a:r>
                    </a:p>
                  </a:txBody>
                  <a:tcPr/>
                </a:tc>
                <a:tc>
                  <a:txBody>
                    <a:bodyPr/>
                    <a:lstStyle/>
                    <a:p>
                      <a:r>
                        <a:rPr lang="en-IN" dirty="0"/>
                        <a:t>WEAK</a:t>
                      </a:r>
                    </a:p>
                  </a:txBody>
                  <a:tcPr/>
                </a:tc>
                <a:tc>
                  <a:txBody>
                    <a:bodyPr/>
                    <a:lstStyle/>
                    <a:p>
                      <a:r>
                        <a:rPr lang="en-IN" dirty="0"/>
                        <a:t>Yes</a:t>
                      </a:r>
                    </a:p>
                  </a:txBody>
                  <a:tcPr/>
                </a:tc>
                <a:extLst>
                  <a:ext uri="{0D108BD9-81ED-4DB2-BD59-A6C34878D82A}">
                    <a16:rowId xmlns:a16="http://schemas.microsoft.com/office/drawing/2014/main" val="2757028090"/>
                  </a:ext>
                </a:extLst>
              </a:tr>
              <a:tr h="408825">
                <a:tc>
                  <a:txBody>
                    <a:bodyPr/>
                    <a:lstStyle/>
                    <a:p>
                      <a:r>
                        <a:rPr lang="en-IN" dirty="0"/>
                        <a:t>D14</a:t>
                      </a:r>
                    </a:p>
                  </a:txBody>
                  <a:tcPr/>
                </a:tc>
                <a:tc>
                  <a:txBody>
                    <a:bodyPr/>
                    <a:lstStyle/>
                    <a:p>
                      <a:r>
                        <a:rPr lang="en-IN" dirty="0"/>
                        <a:t>RAIN</a:t>
                      </a:r>
                    </a:p>
                  </a:txBody>
                  <a:tcPr/>
                </a:tc>
                <a:tc>
                  <a:txBody>
                    <a:bodyPr/>
                    <a:lstStyle/>
                    <a:p>
                      <a:r>
                        <a:rPr lang="en-IN" dirty="0"/>
                        <a:t>MILD</a:t>
                      </a:r>
                    </a:p>
                  </a:txBody>
                  <a:tcPr/>
                </a:tc>
                <a:tc>
                  <a:txBody>
                    <a:bodyPr/>
                    <a:lstStyle/>
                    <a:p>
                      <a:r>
                        <a:rPr lang="en-IN" dirty="0"/>
                        <a:t>HIGH</a:t>
                      </a:r>
                    </a:p>
                  </a:txBody>
                  <a:tcPr/>
                </a:tc>
                <a:tc>
                  <a:txBody>
                    <a:bodyPr/>
                    <a:lstStyle/>
                    <a:p>
                      <a:r>
                        <a:rPr lang="en-IN" dirty="0"/>
                        <a:t>STRONG</a:t>
                      </a:r>
                    </a:p>
                  </a:txBody>
                  <a:tcPr/>
                </a:tc>
                <a:tc>
                  <a:txBody>
                    <a:bodyPr/>
                    <a:lstStyle/>
                    <a:p>
                      <a:r>
                        <a:rPr lang="en-IN" dirty="0"/>
                        <a:t>No</a:t>
                      </a:r>
                    </a:p>
                  </a:txBody>
                  <a:tcPr/>
                </a:tc>
                <a:extLst>
                  <a:ext uri="{0D108BD9-81ED-4DB2-BD59-A6C34878D82A}">
                    <a16:rowId xmlns:a16="http://schemas.microsoft.com/office/drawing/2014/main" val="4280424043"/>
                  </a:ext>
                </a:extLst>
              </a:tr>
            </a:tbl>
          </a:graphicData>
        </a:graphic>
      </p:graphicFrame>
      <p:sp>
        <p:nvSpPr>
          <p:cNvPr id="4" name="Footer Placeholder 3">
            <a:extLst>
              <a:ext uri="{FF2B5EF4-FFF2-40B4-BE49-F238E27FC236}">
                <a16:creationId xmlns:a16="http://schemas.microsoft.com/office/drawing/2014/main" id="{F0FD3208-2318-405F-1D19-DD2E0187955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F099E952-779A-07E4-B7F7-2551A591BC20}"/>
              </a:ext>
            </a:extLst>
          </p:cNvPr>
          <p:cNvSpPr>
            <a:spLocks noGrp="1"/>
          </p:cNvSpPr>
          <p:nvPr>
            <p:ph type="sldNum" sz="quarter" idx="12"/>
          </p:nvPr>
        </p:nvSpPr>
        <p:spPr/>
        <p:txBody>
          <a:bodyPr/>
          <a:lstStyle/>
          <a:p>
            <a:fld id="{1E81A027-E3F7-4FC9-A752-E855AD4A687D}" type="slidenum">
              <a:rPr lang="en-IN" smtClean="0"/>
              <a:t>93</a:t>
            </a:fld>
            <a:endParaRPr lang="en-IN"/>
          </a:p>
        </p:txBody>
      </p:sp>
    </p:spTree>
    <p:extLst>
      <p:ext uri="{BB962C8B-B14F-4D97-AF65-F5344CB8AC3E}">
        <p14:creationId xmlns:p14="http://schemas.microsoft.com/office/powerpoint/2010/main" val="150506017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D811A-EE44-3555-A390-0FDBBFB98FB3}"/>
              </a:ext>
            </a:extLst>
          </p:cNvPr>
          <p:cNvSpPr>
            <a:spLocks noGrp="1"/>
          </p:cNvSpPr>
          <p:nvPr>
            <p:ph type="title"/>
          </p:nvPr>
        </p:nvSpPr>
        <p:spPr/>
        <p:txBody>
          <a:bodyPr/>
          <a:lstStyle/>
          <a:p>
            <a:r>
              <a:rPr lang="en-IN" dirty="0"/>
              <a:t>Step 1: Calculate Entropy</a:t>
            </a:r>
          </a:p>
        </p:txBody>
      </p:sp>
      <p:sp>
        <p:nvSpPr>
          <p:cNvPr id="4" name="Footer Placeholder 3">
            <a:extLst>
              <a:ext uri="{FF2B5EF4-FFF2-40B4-BE49-F238E27FC236}">
                <a16:creationId xmlns:a16="http://schemas.microsoft.com/office/drawing/2014/main" id="{2F4FC637-AB89-334A-C655-0C220AECEA49}"/>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7642C9CA-8BD2-DFB3-D107-D80F47E57912}"/>
              </a:ext>
            </a:extLst>
          </p:cNvPr>
          <p:cNvSpPr>
            <a:spLocks noGrp="1"/>
          </p:cNvSpPr>
          <p:nvPr>
            <p:ph type="sldNum" sz="quarter" idx="12"/>
          </p:nvPr>
        </p:nvSpPr>
        <p:spPr/>
        <p:txBody>
          <a:bodyPr/>
          <a:lstStyle/>
          <a:p>
            <a:fld id="{1E81A027-E3F7-4FC9-A752-E855AD4A687D}" type="slidenum">
              <a:rPr lang="en-IN" smtClean="0"/>
              <a:t>94</a:t>
            </a:fld>
            <a:endParaRPr lang="en-IN"/>
          </a:p>
        </p:txBody>
      </p:sp>
      <mc:AlternateContent xmlns:mc="http://schemas.openxmlformats.org/markup-compatibility/2006">
        <mc:Choice xmlns:a14="http://schemas.microsoft.com/office/drawing/2010/main" Requires="a14">
          <p:sp>
            <p:nvSpPr>
              <p:cNvPr id="16" name="Content Placeholder 15">
                <a:extLst>
                  <a:ext uri="{FF2B5EF4-FFF2-40B4-BE49-F238E27FC236}">
                    <a16:creationId xmlns:a16="http://schemas.microsoft.com/office/drawing/2014/main" id="{1A8CE728-AE4D-CF28-8624-3CD3B7848707}"/>
                  </a:ext>
                </a:extLst>
              </p:cNvPr>
              <p:cNvSpPr>
                <a:spLocks noGrp="1"/>
              </p:cNvSpPr>
              <p:nvPr>
                <p:ph idx="1"/>
              </p:nvPr>
            </p:nvSpPr>
            <p:spPr/>
            <p:txBody>
              <a:bodyPr>
                <a:normAutofit/>
              </a:bodyPr>
              <a:lstStyle/>
              <a:p>
                <a:r>
                  <a:rPr lang="en-IN" sz="3200" dirty="0"/>
                  <a:t>Entropy(S)=</a:t>
                </a:r>
                <a14:m>
                  <m:oMath xmlns:m="http://schemas.openxmlformats.org/officeDocument/2006/math">
                    <m:r>
                      <a:rPr lang="en-IN" sz="3200" b="0" i="1" smtClean="0">
                        <a:latin typeface="Cambria Math" panose="02040503050406030204" pitchFamily="18" charset="0"/>
                      </a:rPr>
                      <m:t>−</m:t>
                    </m:r>
                    <m:sSub>
                      <m:sSubPr>
                        <m:ctrlPr>
                          <a:rPr lang="en-IN" sz="3200" b="0" i="1" smtClean="0">
                            <a:latin typeface="Cambria Math" panose="02040503050406030204" pitchFamily="18" charset="0"/>
                          </a:rPr>
                        </m:ctrlPr>
                      </m:sSubPr>
                      <m:e>
                        <m:r>
                          <a:rPr lang="en-IN" sz="3200" b="0" i="1" smtClean="0">
                            <a:latin typeface="Cambria Math" panose="02040503050406030204" pitchFamily="18" charset="0"/>
                          </a:rPr>
                          <m:t>𝑝</m:t>
                        </m:r>
                      </m:e>
                      <m:sub>
                        <m:d>
                          <m:dPr>
                            <m:ctrlPr>
                              <a:rPr lang="en-IN" sz="3200" b="0" i="1" smtClean="0">
                                <a:latin typeface="Cambria Math" panose="02040503050406030204" pitchFamily="18" charset="0"/>
                              </a:rPr>
                            </m:ctrlPr>
                          </m:dPr>
                          <m:e>
                            <m:r>
                              <a:rPr lang="en-IN" sz="3200" b="0" i="1" smtClean="0">
                                <a:latin typeface="Cambria Math" panose="02040503050406030204" pitchFamily="18" charset="0"/>
                              </a:rPr>
                              <m:t>+</m:t>
                            </m:r>
                          </m:e>
                        </m:d>
                      </m:sub>
                    </m:sSub>
                    <m:sSub>
                      <m:sSubPr>
                        <m:ctrlPr>
                          <a:rPr lang="en-IN" sz="3200" b="0" i="1" smtClean="0">
                            <a:latin typeface="Cambria Math" panose="02040503050406030204" pitchFamily="18" charset="0"/>
                          </a:rPr>
                        </m:ctrlPr>
                      </m:sSubPr>
                      <m:e>
                        <m:r>
                          <a:rPr lang="en-IN" sz="3200" b="0" i="1" smtClean="0">
                            <a:latin typeface="Cambria Math" panose="02040503050406030204" pitchFamily="18" charset="0"/>
                          </a:rPr>
                          <m:t>𝑙𝑜𝑔</m:t>
                        </m:r>
                      </m:e>
                      <m:sub>
                        <m:r>
                          <a:rPr lang="en-IN" sz="3200" b="0" i="1" smtClean="0">
                            <a:latin typeface="Cambria Math" panose="02040503050406030204" pitchFamily="18" charset="0"/>
                          </a:rPr>
                          <m:t>2</m:t>
                        </m:r>
                      </m:sub>
                    </m:sSub>
                    <m:sSub>
                      <m:sSubPr>
                        <m:ctrlPr>
                          <a:rPr lang="en-IN" sz="3200" b="0" i="1" smtClean="0">
                            <a:latin typeface="Cambria Math" panose="02040503050406030204" pitchFamily="18" charset="0"/>
                          </a:rPr>
                        </m:ctrlPr>
                      </m:sSubPr>
                      <m:e>
                        <m:r>
                          <a:rPr lang="en-IN" sz="3200" b="0" i="1" smtClean="0">
                            <a:latin typeface="Cambria Math" panose="02040503050406030204" pitchFamily="18" charset="0"/>
                          </a:rPr>
                          <m:t>𝑝</m:t>
                        </m:r>
                      </m:e>
                      <m:sub>
                        <m:d>
                          <m:dPr>
                            <m:ctrlPr>
                              <a:rPr lang="en-IN" sz="3200" b="0" i="1" smtClean="0">
                                <a:latin typeface="Cambria Math" panose="02040503050406030204" pitchFamily="18" charset="0"/>
                              </a:rPr>
                            </m:ctrlPr>
                          </m:dPr>
                          <m:e>
                            <m:r>
                              <a:rPr lang="en-IN" sz="3200" b="0" i="1" smtClean="0">
                                <a:latin typeface="Cambria Math" panose="02040503050406030204" pitchFamily="18" charset="0"/>
                              </a:rPr>
                              <m:t>+</m:t>
                            </m:r>
                          </m:e>
                        </m:d>
                      </m:sub>
                    </m:sSub>
                    <m:r>
                      <a:rPr lang="en-IN" sz="3200" b="0" i="1" smtClean="0">
                        <a:latin typeface="Cambria Math" panose="02040503050406030204" pitchFamily="18" charset="0"/>
                      </a:rPr>
                      <m:t>  − </m:t>
                    </m:r>
                    <m:sSub>
                      <m:sSubPr>
                        <m:ctrlPr>
                          <a:rPr lang="en-IN" sz="3200" b="0" i="1" smtClean="0">
                            <a:latin typeface="Cambria Math" panose="02040503050406030204" pitchFamily="18" charset="0"/>
                          </a:rPr>
                        </m:ctrlPr>
                      </m:sSubPr>
                      <m:e>
                        <m:r>
                          <a:rPr lang="en-IN" sz="3200" b="0" i="1" smtClean="0">
                            <a:latin typeface="Cambria Math" panose="02040503050406030204" pitchFamily="18" charset="0"/>
                          </a:rPr>
                          <m:t>𝑝</m:t>
                        </m:r>
                      </m:e>
                      <m:sub>
                        <m:d>
                          <m:dPr>
                            <m:ctrlPr>
                              <a:rPr lang="en-IN" sz="3200" b="0" i="1" smtClean="0">
                                <a:latin typeface="Cambria Math" panose="02040503050406030204" pitchFamily="18" charset="0"/>
                              </a:rPr>
                            </m:ctrlPr>
                          </m:dPr>
                          <m:e>
                            <m:r>
                              <a:rPr lang="en-IN" sz="3200" b="0" i="1" smtClean="0">
                                <a:latin typeface="Cambria Math" panose="02040503050406030204" pitchFamily="18" charset="0"/>
                              </a:rPr>
                              <m:t>−</m:t>
                            </m:r>
                          </m:e>
                        </m:d>
                      </m:sub>
                    </m:sSub>
                    <m:sSub>
                      <m:sSubPr>
                        <m:ctrlPr>
                          <a:rPr lang="en-IN" sz="3200" b="0" i="1" smtClean="0">
                            <a:latin typeface="Cambria Math" panose="02040503050406030204" pitchFamily="18" charset="0"/>
                          </a:rPr>
                        </m:ctrlPr>
                      </m:sSubPr>
                      <m:e>
                        <m:r>
                          <a:rPr lang="en-IN" sz="3200" b="0" i="1" smtClean="0">
                            <a:latin typeface="Cambria Math" panose="02040503050406030204" pitchFamily="18" charset="0"/>
                          </a:rPr>
                          <m:t>𝑙𝑜𝑔</m:t>
                        </m:r>
                      </m:e>
                      <m:sub>
                        <m:r>
                          <a:rPr lang="en-IN" sz="3200" b="0" i="1" smtClean="0">
                            <a:latin typeface="Cambria Math" panose="02040503050406030204" pitchFamily="18" charset="0"/>
                          </a:rPr>
                          <m:t>2</m:t>
                        </m:r>
                      </m:sub>
                    </m:sSub>
                    <m:sSub>
                      <m:sSubPr>
                        <m:ctrlPr>
                          <a:rPr lang="en-IN" sz="3200" b="0" i="1" smtClean="0">
                            <a:latin typeface="Cambria Math" panose="02040503050406030204" pitchFamily="18" charset="0"/>
                          </a:rPr>
                        </m:ctrlPr>
                      </m:sSubPr>
                      <m:e>
                        <m:r>
                          <a:rPr lang="en-IN" sz="3200" b="0" i="1" smtClean="0">
                            <a:latin typeface="Cambria Math" panose="02040503050406030204" pitchFamily="18" charset="0"/>
                          </a:rPr>
                          <m:t>𝑝</m:t>
                        </m:r>
                      </m:e>
                      <m:sub>
                        <m:d>
                          <m:dPr>
                            <m:ctrlPr>
                              <a:rPr lang="en-IN" sz="3200" b="0" i="1" smtClean="0">
                                <a:latin typeface="Cambria Math" panose="02040503050406030204" pitchFamily="18" charset="0"/>
                              </a:rPr>
                            </m:ctrlPr>
                          </m:dPr>
                          <m:e>
                            <m:r>
                              <a:rPr lang="en-IN" sz="3200" b="0" i="1" smtClean="0">
                                <a:latin typeface="Cambria Math" panose="02040503050406030204" pitchFamily="18" charset="0"/>
                              </a:rPr>
                              <m:t>−</m:t>
                            </m:r>
                          </m:e>
                        </m:d>
                      </m:sub>
                    </m:sSub>
                  </m:oMath>
                </a14:m>
                <a:endParaRPr lang="en-IN" sz="3200" b="0" dirty="0"/>
              </a:p>
              <a:p>
                <a:endParaRPr lang="en-IN" sz="3200" dirty="0"/>
              </a:p>
            </p:txBody>
          </p:sp>
        </mc:Choice>
        <mc:Fallback>
          <p:sp>
            <p:nvSpPr>
              <p:cNvPr id="16" name="Content Placeholder 15">
                <a:extLst>
                  <a:ext uri="{FF2B5EF4-FFF2-40B4-BE49-F238E27FC236}">
                    <a16:creationId xmlns:a16="http://schemas.microsoft.com/office/drawing/2014/main" id="{1A8CE728-AE4D-CF28-8624-3CD3B7848707}"/>
                  </a:ext>
                </a:extLst>
              </p:cNvPr>
              <p:cNvSpPr>
                <a:spLocks noGrp="1" noRot="1" noChangeAspect="1" noMove="1" noResize="1" noEditPoints="1" noAdjustHandles="1" noChangeArrowheads="1" noChangeShapeType="1" noTextEdit="1"/>
              </p:cNvSpPr>
              <p:nvPr>
                <p:ph idx="1"/>
              </p:nvPr>
            </p:nvSpPr>
            <p:spPr>
              <a:blipFill>
                <a:blip r:embed="rId2"/>
                <a:stretch>
                  <a:fillRect l="-1515" t="-2727"/>
                </a:stretch>
              </a:blipFill>
            </p:spPr>
            <p:txBody>
              <a:bodyPr/>
              <a:lstStyle/>
              <a:p>
                <a:r>
                  <a:rPr lang="en-IN">
                    <a:noFill/>
                  </a:rPr>
                  <a:t> </a:t>
                </a:r>
              </a:p>
            </p:txBody>
          </p:sp>
        </mc:Fallback>
      </mc:AlternateContent>
      <p:pic>
        <p:nvPicPr>
          <p:cNvPr id="17" name="Picture 16">
            <a:extLst>
              <a:ext uri="{FF2B5EF4-FFF2-40B4-BE49-F238E27FC236}">
                <a16:creationId xmlns:a16="http://schemas.microsoft.com/office/drawing/2014/main" id="{D7D297AE-777D-6645-2A3D-73399292299A}"/>
              </a:ext>
            </a:extLst>
          </p:cNvPr>
          <p:cNvPicPr>
            <a:picLocks noChangeAspect="1"/>
          </p:cNvPicPr>
          <p:nvPr/>
        </p:nvPicPr>
        <p:blipFill rotWithShape="1">
          <a:blip r:embed="rId3"/>
          <a:srcRect t="42063"/>
          <a:stretch/>
        </p:blipFill>
        <p:spPr>
          <a:xfrm>
            <a:off x="1036320" y="2435289"/>
            <a:ext cx="9437148" cy="1768472"/>
          </a:xfrm>
          <a:prstGeom prst="rect">
            <a:avLst/>
          </a:prstGeom>
        </p:spPr>
      </p:pic>
    </p:spTree>
    <p:extLst>
      <p:ext uri="{BB962C8B-B14F-4D97-AF65-F5344CB8AC3E}">
        <p14:creationId xmlns:p14="http://schemas.microsoft.com/office/powerpoint/2010/main" val="317874591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8CD4B-40E8-3464-2CD2-74412384378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9AD36F4-F73A-F66E-3107-EFC88C875987}"/>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3FA83641-0062-37FF-E1C6-9B6290D01F8C}"/>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id="{282887BB-3FBE-5264-BB10-E5869D8DFF5C}"/>
              </a:ext>
            </a:extLst>
          </p:cNvPr>
          <p:cNvSpPr>
            <a:spLocks noGrp="1"/>
          </p:cNvSpPr>
          <p:nvPr>
            <p:ph type="sldNum" sz="quarter" idx="12"/>
          </p:nvPr>
        </p:nvSpPr>
        <p:spPr/>
        <p:txBody>
          <a:bodyPr/>
          <a:lstStyle/>
          <a:p>
            <a:fld id="{1E81A027-E3F7-4FC9-A752-E855AD4A687D}" type="slidenum">
              <a:rPr lang="en-IN" smtClean="0"/>
              <a:t>95</a:t>
            </a:fld>
            <a:endParaRPr lang="en-IN"/>
          </a:p>
        </p:txBody>
      </p:sp>
    </p:spTree>
    <p:extLst>
      <p:ext uri="{BB962C8B-B14F-4D97-AF65-F5344CB8AC3E}">
        <p14:creationId xmlns:p14="http://schemas.microsoft.com/office/powerpoint/2010/main" val="25809273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E4A41C-86DE-0655-E022-DF55585CE72A}"/>
              </a:ext>
            </a:extLst>
          </p:cNvPr>
          <p:cNvSpPr>
            <a:spLocks noGrp="1"/>
          </p:cNvSpPr>
          <p:nvPr>
            <p:ph type="title"/>
          </p:nvPr>
        </p:nvSpPr>
        <p:spPr/>
        <p:txBody>
          <a:bodyPr/>
          <a:lstStyle/>
          <a:p>
            <a:r>
              <a:rPr lang="en-IN" dirty="0"/>
              <a:t>MODULE 3 ENDS</a:t>
            </a:r>
          </a:p>
        </p:txBody>
      </p:sp>
      <p:pic>
        <p:nvPicPr>
          <p:cNvPr id="8" name="Picture Placeholder 7">
            <a:extLst>
              <a:ext uri="{FF2B5EF4-FFF2-40B4-BE49-F238E27FC236}">
                <a16:creationId xmlns:a16="http://schemas.microsoft.com/office/drawing/2014/main" id="{1AF3E5C3-E5C2-1DC4-D51C-10DE9090ABCA}"/>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12619" b="12619"/>
          <a:stretch>
            <a:fillRect/>
          </a:stretch>
        </p:blipFill>
        <p:spPr/>
      </p:pic>
      <p:sp>
        <p:nvSpPr>
          <p:cNvPr id="6" name="Text Placeholder 5">
            <a:extLst>
              <a:ext uri="{FF2B5EF4-FFF2-40B4-BE49-F238E27FC236}">
                <a16:creationId xmlns:a16="http://schemas.microsoft.com/office/drawing/2014/main" id="{F71D5B66-25F1-5C18-2943-5D65CE235FAD}"/>
              </a:ext>
            </a:extLst>
          </p:cNvPr>
          <p:cNvSpPr>
            <a:spLocks noGrp="1"/>
          </p:cNvSpPr>
          <p:nvPr>
            <p:ph type="body" sz="half" idx="2"/>
          </p:nvPr>
        </p:nvSpPr>
        <p:spPr/>
        <p:txBody>
          <a:bodyPr/>
          <a:lstStyle/>
          <a:p>
            <a:r>
              <a:rPr lang="en-IN" dirty="0"/>
              <a:t>THANK YOU</a:t>
            </a:r>
          </a:p>
        </p:txBody>
      </p:sp>
      <p:sp>
        <p:nvSpPr>
          <p:cNvPr id="2" name="Footer Placeholder 1">
            <a:extLst>
              <a:ext uri="{FF2B5EF4-FFF2-40B4-BE49-F238E27FC236}">
                <a16:creationId xmlns:a16="http://schemas.microsoft.com/office/drawing/2014/main" id="{91D75CBE-9604-EFE1-6786-F021C73CEFBC}"/>
              </a:ext>
            </a:extLst>
          </p:cNvPr>
          <p:cNvSpPr>
            <a:spLocks noGrp="1"/>
          </p:cNvSpPr>
          <p:nvPr>
            <p:ph type="ftr" sz="quarter" idx="11"/>
          </p:nvPr>
        </p:nvSpPr>
        <p:spPr/>
        <p:txBody>
          <a:bodyPr/>
          <a:lstStyle/>
          <a:p>
            <a:r>
              <a:rPr lang="en-IN"/>
              <a:t>DEPARTMENT OF CSE SNGCE</a:t>
            </a:r>
          </a:p>
        </p:txBody>
      </p:sp>
      <p:sp>
        <p:nvSpPr>
          <p:cNvPr id="3" name="Slide Number Placeholder 2">
            <a:extLst>
              <a:ext uri="{FF2B5EF4-FFF2-40B4-BE49-F238E27FC236}">
                <a16:creationId xmlns:a16="http://schemas.microsoft.com/office/drawing/2014/main" id="{6AB27D69-DA00-861F-9665-9E52552C3CB3}"/>
              </a:ext>
            </a:extLst>
          </p:cNvPr>
          <p:cNvSpPr>
            <a:spLocks noGrp="1"/>
          </p:cNvSpPr>
          <p:nvPr>
            <p:ph type="sldNum" sz="quarter" idx="12"/>
          </p:nvPr>
        </p:nvSpPr>
        <p:spPr/>
        <p:txBody>
          <a:bodyPr/>
          <a:lstStyle/>
          <a:p>
            <a:fld id="{1E81A027-E3F7-4FC9-A752-E855AD4A687D}" type="slidenum">
              <a:rPr lang="en-IN" smtClean="0"/>
              <a:t>96</a:t>
            </a:fld>
            <a:endParaRPr lang="en-IN"/>
          </a:p>
        </p:txBody>
      </p:sp>
    </p:spTree>
    <p:extLst>
      <p:ext uri="{BB962C8B-B14F-4D97-AF65-F5344CB8AC3E}">
        <p14:creationId xmlns:p14="http://schemas.microsoft.com/office/powerpoint/2010/main" val="231053229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6188</TotalTime>
  <Words>5219</Words>
  <Application>Microsoft Office PowerPoint</Application>
  <PresentationFormat>Widescreen</PresentationFormat>
  <Paragraphs>597</Paragraphs>
  <Slides>96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96</vt:i4>
      </vt:variant>
    </vt:vector>
  </HeadingPairs>
  <TitlesOfParts>
    <vt:vector size="105" baseType="lpstr">
      <vt:lpstr>-apple-system</vt:lpstr>
      <vt:lpstr>Calibri</vt:lpstr>
      <vt:lpstr>Calibri Light</vt:lpstr>
      <vt:lpstr>Cambria Math</vt:lpstr>
      <vt:lpstr>IBM Plex Sans</vt:lpstr>
      <vt:lpstr>Lato</vt:lpstr>
      <vt:lpstr>Symbol</vt:lpstr>
      <vt:lpstr>Wingdings</vt:lpstr>
      <vt:lpstr>Retrospect</vt:lpstr>
      <vt:lpstr>CST401 ARTIFICIAL INTELLIGENCE</vt:lpstr>
      <vt:lpstr>Course Outcome</vt:lpstr>
      <vt:lpstr>Mapping of course outcomes with program outcomes</vt:lpstr>
      <vt:lpstr>Abstract POs defined by National Board of Accreditation</vt:lpstr>
      <vt:lpstr>Assessment Pattern </vt:lpstr>
      <vt:lpstr>Mark Distribution</vt:lpstr>
      <vt:lpstr>Textbook</vt:lpstr>
      <vt:lpstr>SYLLABUS- Machine Learning</vt:lpstr>
      <vt:lpstr>Learning From Example</vt:lpstr>
      <vt:lpstr>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Machine Learning</vt:lpstr>
      <vt:lpstr>Forms of Learning</vt:lpstr>
      <vt:lpstr>Components to be learned</vt:lpstr>
      <vt:lpstr>example</vt:lpstr>
      <vt:lpstr>PowerPoint Presentation</vt:lpstr>
      <vt:lpstr>supervised learning</vt:lpstr>
      <vt:lpstr>Classification</vt:lpstr>
      <vt:lpstr>Classification example</vt:lpstr>
      <vt:lpstr>Regression </vt:lpstr>
      <vt:lpstr>Regression example</vt:lpstr>
      <vt:lpstr>Regression Applications</vt:lpstr>
      <vt:lpstr>Unsupervised Learning</vt:lpstr>
      <vt:lpstr>PowerPoint Presentation</vt:lpstr>
      <vt:lpstr>Clustering </vt:lpstr>
      <vt:lpstr>PowerPoint Presentation</vt:lpstr>
      <vt:lpstr>Dimensionality Reduction</vt:lpstr>
      <vt:lpstr>PowerPoint Presentation</vt:lpstr>
      <vt:lpstr>Association </vt:lpstr>
      <vt:lpstr>REINFORCEMENT LEARNING</vt:lpstr>
      <vt:lpstr>PowerPoint Presentation</vt:lpstr>
      <vt:lpstr>semi-supervised learning</vt:lpstr>
      <vt:lpstr>SUPERVISED LEARNING </vt:lpstr>
      <vt:lpstr>PowerPoint Presentation</vt:lpstr>
      <vt:lpstr>CLASSIFICATION AND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Learning Decision Tree</vt:lpstr>
      <vt:lpstr>What is a decision tree?</vt:lpstr>
      <vt:lpstr>Terminologies</vt:lpstr>
      <vt:lpstr>Example of a decision tree</vt:lpstr>
      <vt:lpstr>PowerPoint Presentation</vt:lpstr>
      <vt:lpstr>PowerPoint Presentation</vt:lpstr>
      <vt:lpstr>PowerPoint Presentation</vt:lpstr>
      <vt:lpstr>Entropy</vt:lpstr>
      <vt:lpstr>PowerPoint Presentation</vt:lpstr>
      <vt:lpstr>How do Decision Trees use Entropy?</vt:lpstr>
      <vt:lpstr>PowerPoint Presentation</vt:lpstr>
      <vt:lpstr>PowerPoint Presentation</vt:lpstr>
      <vt:lpstr>Information Gain</vt:lpstr>
      <vt:lpstr>Example</vt:lpstr>
      <vt:lpstr>PowerPoint Presentation</vt:lpstr>
      <vt:lpstr>PowerPoint Presentation</vt:lpstr>
      <vt:lpstr>PowerPoint Presentation</vt:lpstr>
      <vt:lpstr>PowerPoint Presentation</vt:lpstr>
      <vt:lpstr>PowerPoint Presentation</vt:lpstr>
      <vt:lpstr>PowerPoint Presentation</vt:lpstr>
      <vt:lpstr>The decision tree representation</vt:lpstr>
      <vt:lpstr>PowerPoint Presentation</vt:lpstr>
      <vt:lpstr>Example</vt:lpstr>
      <vt:lpstr>PowerPoint Presentation</vt:lpstr>
      <vt:lpstr>PowerPoint Presentation</vt:lpstr>
      <vt:lpstr>Expressiveness of decision trees</vt:lpstr>
      <vt:lpstr>Inducing decision trees from examples</vt:lpstr>
      <vt:lpstr>PowerPoint Presentation</vt:lpstr>
      <vt:lpstr>PowerPoint Presentation</vt:lpstr>
      <vt:lpstr>PowerPoint Presentation</vt:lpstr>
      <vt:lpstr>PowerPoint Presentation</vt:lpstr>
      <vt:lpstr>There are four cases to consider for these recursive problems:</vt:lpstr>
      <vt:lpstr>PowerPoint Presentation</vt:lpstr>
      <vt:lpstr>PowerPoint Presentation</vt:lpstr>
      <vt:lpstr>plurality classification</vt:lpstr>
      <vt:lpstr>DECISION-TREE-LEARNING algorithm</vt:lpstr>
      <vt:lpstr>PowerPoint Presentation</vt:lpstr>
      <vt:lpstr>PowerPoint Presentation</vt:lpstr>
      <vt:lpstr>PowerPoint Presentation</vt:lpstr>
      <vt:lpstr>Three step process to solve a problem using decision tree</vt:lpstr>
      <vt:lpstr>Various Decision Tree Algorithms</vt:lpstr>
      <vt:lpstr>Dataset S</vt:lpstr>
      <vt:lpstr>Step 1: Calculate Entropy</vt:lpstr>
      <vt:lpstr>PowerPoint Presentation</vt:lpstr>
      <vt:lpstr>MODULE 3 ENDS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CST401 ARTIFICIAL INTELLIGENCE</dc:title>
  <dc:creator>sharika t r</dc:creator>
  <cp:lastModifiedBy>sharika t r</cp:lastModifiedBy>
  <cp:revision>164</cp:revision>
  <dcterms:created xsi:type="dcterms:W3CDTF">2022-08-29T06:19:30Z</dcterms:created>
  <dcterms:modified xsi:type="dcterms:W3CDTF">2022-12-14T08:13:05Z</dcterms:modified>
</cp:coreProperties>
</file>